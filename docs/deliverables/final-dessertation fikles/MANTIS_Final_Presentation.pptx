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52ced588214f6c" /><Relationship Type="http://schemas.openxmlformats.org/officeDocument/2006/relationships/extended-properties" Target="/docProps/app.xml" Id="R052cd97786a141b1" /><Relationship Type="http://schemas.openxmlformats.org/officeDocument/2006/relationships/officeDocument" Target="/ppt/presentation.xml" Id="R01aa9ab87d85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c8831a36f4169"/>
  </p:sldMasterIdLst>
  <p:notesMasterIdLst>
    <p:notesMasterId xmlns:r="http://schemas.openxmlformats.org/officeDocument/2006/relationships" r:id="R23b0d45bb2f745e7"/>
  </p:notesMasterIdLst>
  <p:sldIdLst>
    <p:sldId xmlns:r="http://schemas.openxmlformats.org/officeDocument/2006/relationships" id="256" r:id="Rdbaa4afd739d493f"/>
    <p:sldId xmlns:r="http://schemas.openxmlformats.org/officeDocument/2006/relationships" id="257" r:id="R9504e71a2c0c451d"/>
    <p:sldId xmlns:r="http://schemas.openxmlformats.org/officeDocument/2006/relationships" id="258" r:id="Rb729916449fe427c"/>
    <p:sldId xmlns:r="http://schemas.openxmlformats.org/officeDocument/2006/relationships" id="259" r:id="R973b2e8838d94872"/>
    <p:sldId xmlns:r="http://schemas.openxmlformats.org/officeDocument/2006/relationships" id="260" r:id="R0ace264dbbfd4cb4"/>
    <p:sldId xmlns:r="http://schemas.openxmlformats.org/officeDocument/2006/relationships" id="261" r:id="R8f7353b852f84600"/>
    <p:sldId xmlns:r="http://schemas.openxmlformats.org/officeDocument/2006/relationships" id="262" r:id="Rb622b0c1cd4c41b9"/>
    <p:sldId xmlns:r="http://schemas.openxmlformats.org/officeDocument/2006/relationships" id="263" r:id="R08c8ea2f81da4179"/>
    <p:sldId xmlns:r="http://schemas.openxmlformats.org/officeDocument/2006/relationships" id="264" r:id="R580aa318678546cf"/>
    <p:sldId xmlns:r="http://schemas.openxmlformats.org/officeDocument/2006/relationships" id="265" r:id="R79d80d5d0f76437c"/>
    <p:sldId xmlns:r="http://schemas.openxmlformats.org/officeDocument/2006/relationships" id="266" r:id="Rb351c48f33f946a1"/>
    <p:sldId xmlns:r="http://schemas.openxmlformats.org/officeDocument/2006/relationships" id="267" r:id="R2696fec0a4e84b61"/>
    <p:sldId xmlns:r="http://schemas.openxmlformats.org/officeDocument/2006/relationships" id="268" r:id="R4e214244a5234c30"/>
    <p:sldId xmlns:r="http://schemas.openxmlformats.org/officeDocument/2006/relationships" id="269" r:id="R32099d2a91fb4d3a"/>
    <p:sldId xmlns:r="http://schemas.openxmlformats.org/officeDocument/2006/relationships" id="270" r:id="R7123dfdac0ca452c"/>
    <p:sldId xmlns:r="http://schemas.openxmlformats.org/officeDocument/2006/relationships" id="271" r:id="R365a383b6dc949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8c933a28b348f8" /><Relationship Type="http://schemas.openxmlformats.org/officeDocument/2006/relationships/slideMaster" Target="/ppt/slideMasters/slideMaster1.xml" Id="Ra55c8831a36f4169" /><Relationship Type="http://schemas.openxmlformats.org/officeDocument/2006/relationships/notesMaster" Target="/ppt/notesMasters/notesMaster1.xml" Id="R23b0d45bb2f745e7" /><Relationship Type="http://schemas.openxmlformats.org/officeDocument/2006/relationships/presProps" Target="/ppt/presProps.xml" Id="Rc4fdd4d2d84b4990" /><Relationship Type="http://schemas.openxmlformats.org/officeDocument/2006/relationships/viewProps" Target="/ppt/viewProps.xml" Id="R4361dc1291274445" /><Relationship Type="http://schemas.openxmlformats.org/officeDocument/2006/relationships/tableStyles" Target="/ppt/tableStyles.xml" Id="R97265f306d564fa6" /><Relationship Type="http://schemas.openxmlformats.org/officeDocument/2006/relationships/slide" Target="/ppt/slides/slide1.xml" Id="Rdbaa4afd739d493f" /><Relationship Type="http://schemas.openxmlformats.org/officeDocument/2006/relationships/slide" Target="/ppt/slides/slide2.xml" Id="R9504e71a2c0c451d" /><Relationship Type="http://schemas.openxmlformats.org/officeDocument/2006/relationships/slide" Target="/ppt/slides/slide3.xml" Id="Rb729916449fe427c" /><Relationship Type="http://schemas.openxmlformats.org/officeDocument/2006/relationships/slide" Target="/ppt/slides/slide4.xml" Id="R973b2e8838d94872" /><Relationship Type="http://schemas.openxmlformats.org/officeDocument/2006/relationships/slide" Target="/ppt/slides/slide5.xml" Id="R0ace264dbbfd4cb4" /><Relationship Type="http://schemas.openxmlformats.org/officeDocument/2006/relationships/slide" Target="/ppt/slides/slide6.xml" Id="R8f7353b852f84600" /><Relationship Type="http://schemas.openxmlformats.org/officeDocument/2006/relationships/slide" Target="/ppt/slides/slide7.xml" Id="Rb622b0c1cd4c41b9" /><Relationship Type="http://schemas.openxmlformats.org/officeDocument/2006/relationships/slide" Target="/ppt/slides/slide8.xml" Id="R08c8ea2f81da4179" /><Relationship Type="http://schemas.openxmlformats.org/officeDocument/2006/relationships/slide" Target="/ppt/slides/slide9.xml" Id="R580aa318678546cf" /><Relationship Type="http://schemas.openxmlformats.org/officeDocument/2006/relationships/slide" Target="/ppt/slides/slide10.xml" Id="R79d80d5d0f76437c" /><Relationship Type="http://schemas.openxmlformats.org/officeDocument/2006/relationships/slide" Target="/ppt/slides/slide11.xml" Id="Rb351c48f33f946a1" /><Relationship Type="http://schemas.openxmlformats.org/officeDocument/2006/relationships/slide" Target="/ppt/slides/slide12.xml" Id="R2696fec0a4e84b61" /><Relationship Type="http://schemas.openxmlformats.org/officeDocument/2006/relationships/slide" Target="/ppt/slides/slide13.xml" Id="R4e214244a5234c30" /><Relationship Type="http://schemas.openxmlformats.org/officeDocument/2006/relationships/slide" Target="/ppt/slides/slide14.xml" Id="R32099d2a91fb4d3a" /><Relationship Type="http://schemas.openxmlformats.org/officeDocument/2006/relationships/slide" Target="/ppt/slides/slide15.xml" Id="R7123dfdac0ca452c" /><Relationship Type="http://schemas.openxmlformats.org/officeDocument/2006/relationships/slide" Target="/ppt/slides/slide16.xml" Id="R365a383b6dc9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185452e1d04a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30f0c708464907" /><Relationship Type="http://schemas.openxmlformats.org/officeDocument/2006/relationships/notesMaster" Target="/ppt/notesMasters/notesMaster1.xml" Id="Rf5aad3ebeb4345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cf3837802547ea" /><Relationship Type="http://schemas.openxmlformats.org/officeDocument/2006/relationships/notesMaster" Target="/ppt/notesMasters/notesMaster1.xml" Id="Rb3e66ac799e248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2082f2f5f34255" /><Relationship Type="http://schemas.openxmlformats.org/officeDocument/2006/relationships/notesMaster" Target="/ppt/notesMasters/notesMaster1.xml" Id="Ra5b0ae4fcbfc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cd29c7ea14bf3" /><Relationship Type="http://schemas.openxmlformats.org/officeDocument/2006/relationships/notesMaster" Target="/ppt/notesMasters/notesMaster1.xml" Id="R01db5304a68f44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19f010dc78443a" /><Relationship Type="http://schemas.openxmlformats.org/officeDocument/2006/relationships/notesMaster" Target="/ppt/notesMasters/notesMaster1.xml" Id="Re5f59963c0244a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713d8a603c4592" /><Relationship Type="http://schemas.openxmlformats.org/officeDocument/2006/relationships/notesMaster" Target="/ppt/notesMasters/notesMaster1.xml" Id="Rf3633aa7002044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69a9b054344667" /><Relationship Type="http://schemas.openxmlformats.org/officeDocument/2006/relationships/notesMaster" Target="/ppt/notesMasters/notesMaster1.xml" Id="Rd33fbb20979c46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78d6ae5dd64df8" /><Relationship Type="http://schemas.openxmlformats.org/officeDocument/2006/relationships/notesMaster" Target="/ppt/notesMasters/notesMaster1.xml" Id="R4ac97e96703c43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bb2e8a4a4404b" /><Relationship Type="http://schemas.openxmlformats.org/officeDocument/2006/relationships/notesMaster" Target="/ppt/notesMasters/notesMaster1.xml" Id="Rb5d6a985e6394a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17515b52f8485f" /><Relationship Type="http://schemas.openxmlformats.org/officeDocument/2006/relationships/notesMaster" Target="/ppt/notesMasters/notesMaster1.xml" Id="Rcdc8a35b4f1048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698144f4ae4dde" /><Relationship Type="http://schemas.openxmlformats.org/officeDocument/2006/relationships/notesMaster" Target="/ppt/notesMasters/notesMaster1.xml" Id="Rfe7500ec6a234d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097bca58814449" /><Relationship Type="http://schemas.openxmlformats.org/officeDocument/2006/relationships/notesMaster" Target="/ppt/notesMasters/notesMaster1.xml" Id="R0528c429d11a48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21d746657049ac" /><Relationship Type="http://schemas.openxmlformats.org/officeDocument/2006/relationships/notesMaster" Target="/ppt/notesMasters/notesMaster1.xml" Id="R4e051345955e48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0c94748d414415" /><Relationship Type="http://schemas.openxmlformats.org/officeDocument/2006/relationships/notesMaster" Target="/ppt/notesMasters/notesMaster1.xml" Id="Rd1292fbd53cc48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62241d7bea4128" /><Relationship Type="http://schemas.openxmlformats.org/officeDocument/2006/relationships/notesMaster" Target="/ppt/notesMasters/notesMaster1.xml" Id="R1a31b15051b34a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052b71a15e4064" /><Relationship Type="http://schemas.openxmlformats.org/officeDocument/2006/relationships/notesMaster" Target="/ppt/notesMasters/notesMaster1.xml" Id="R7b90c21da4484f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cover page and Chapter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Sections 1.1 and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Sections 1.2 and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problem domain, proposed solution and alternative solutions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functional and non-functional requirements tables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Chapter 2 Literature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methodology section</a:t>
            </a:r>
          </a:p>
          <a:p xmlns:a="http://schemas.openxmlformats.org/drawingml/2006/main">
            <a:r>
              <a:t>- MANTIS methodology-based Gantt chart, March to August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methodology and system build chapters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detection algorithm definitions and implementation sections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Chapter 3</a:t>
            </a:r>
          </a:p>
          <a:p xmlns:a="http://schemas.openxmlformats.org/drawingml/2006/main">
            <a:r>
              <a:t>- Existing workflow image retained from the source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Sections 5.1 and 5.3, Tables 5.1, 5.3 and 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testing definitions and representative test cases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 5.2 Algorithm 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controlled algorithm-test discussion preceding Table 5.2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Table 5.2 and external CIC-IoT2023 evaluation discussion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Chapter 7 Conclusion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53d038ce542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da77ec8db4c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dd1701ea04e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4ba97461a4c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b322ef24a40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16521917c4e9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cafc1481640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b858e6194494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5a4bff95f427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8890db8584ec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faf7b8342484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5A9371-C2FF-419E-8B46-2AD58293DCB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3136477-A819-45F7-AC72-8E5BCD1D3F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140FC0-7DE8-4371-92C3-44D7631C7B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36A02E-0394-4245-B078-D9C7DBA374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78225F-6DAA-49E8-BF4B-2D4851FC2F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450A2B-AFB5-4EB6-B9D6-695DBAAC3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DC8538-9521-400F-9FE6-1FA8BE346B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F6C426-242A-4C52-8BB1-03B3210114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C91172-5A4F-4D6D-ABA4-B8DC1A281C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0E0597-F1A7-406D-B3DD-5E8859FB72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F2C0D5-7525-4A58-9924-60B91081B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5A89A2-A6DF-4DB1-830A-920667B724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DF33E9-5EE3-45B6-A98D-4756B46431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4EC7C3-9B88-4926-A59D-0CA5329DF8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9BB727-5AC7-4E67-A165-8E540EE2C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9E3E72-40B3-40B8-BC37-EF4C54956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A494FB-DAE1-4FB7-950E-A02F1CF666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41E811C-1D30-4904-9DE5-7C93E20EC16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FFF7B4-BCC2-4432-BE17-21BF5E99A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C9BB9F-B542-46A9-94FB-89BB6E0BA8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EB43B0-2472-40AD-A2D1-E1546A5781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EAF2E5-EA35-4C4C-95F8-837151983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BBC892-6CE7-4D1E-8F03-69DEA15FA2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129FB15-FDD7-423B-862F-47A6F45C23D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53B5F4-23B1-4DCA-BBEE-A0522394344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38069D-2DAC-4610-919A-03AD83FF9B7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E25348F-8370-4B49-9EC0-F2878B40BA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E6CE011-26E6-44D7-8DA4-E209A6248D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B283587-64C6-4FEE-983A-746EDAD802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E7F82C-6330-459F-9EA0-0C1965741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459AFE7-3F9E-4694-B656-3C0445D514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8840EB6-8F2E-4193-A66E-3DAF4F047C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264E400-61C9-4F40-A4A5-CC80C39972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F32891A-4171-4F46-B0B5-3BFDCE1176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D906A36-EAEC-4584-9271-080F4F7EA7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33C47FA-2177-49F9-BBDF-3591A92119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FB6411-5683-4722-8BE5-82777BA56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08FA6F-DE85-4EB5-B5B3-D7043108D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42168C5-A0A1-4A85-9367-F9A3BA62F7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02749A-CC6F-4817-845A-7CAADA274C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F167449-7F47-4061-AEA5-A3E715BD53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7D6AB4-6B50-430E-A003-84DF031A26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B268EE-A212-43AC-AC86-1812A9438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FF1F7C3-4F2D-4E4C-97F7-DFE5B4B951B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2E0141E-BDC1-48BB-BDFA-9ED760D0C2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FB0BEB2-5BD3-4AFB-B997-5ECE6E36FD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7702B6B-F68F-4781-A50D-CEA402641C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C8851F-1B1D-4FD1-B72B-BB00217496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A11370-0E69-46F5-BBFF-15082E53FC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1F5740-6C81-4C88-99DA-B37E38AA76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4EA6C0-3D2C-4BC2-9638-AEDBBC85E0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B4B0C9-9330-4404-9022-CC4637F56C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C505B5-E117-4BC8-8F94-17CB45C699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FA6D1A-4AA0-48B8-BFFA-97E9B1723E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EF0F5E-BACA-4028-8BA5-FBCC19DD59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8C0147-3117-4B7A-85E9-FD8D04B2E3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FC43C8-6FAA-4BA4-B388-510728E240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BE9819-CCF0-4861-AD22-36420ABB9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a1b345ae43497c" /><Relationship Type="http://schemas.openxmlformats.org/officeDocument/2006/relationships/slideLayout" Target="/ppt/slideLayouts/slideLayout1.xml" Id="Rcce5a2078d674921" /><Relationship Type="http://schemas.openxmlformats.org/officeDocument/2006/relationships/slideLayout" Target="/ppt/slideLayouts/slideLayout2.xml" Id="R351f06663a64420e" /><Relationship Type="http://schemas.openxmlformats.org/officeDocument/2006/relationships/slideLayout" Target="/ppt/slideLayouts/slideLayout3.xml" Id="R1210b62d43fa4130" /><Relationship Type="http://schemas.openxmlformats.org/officeDocument/2006/relationships/slideLayout" Target="/ppt/slideLayouts/slideLayout4.xml" Id="R8b1ee33d1f7c4b22" /><Relationship Type="http://schemas.openxmlformats.org/officeDocument/2006/relationships/slideLayout" Target="/ppt/slideLayouts/slideLayout5.xml" Id="Rcbc0fc38d926425b" /><Relationship Type="http://schemas.openxmlformats.org/officeDocument/2006/relationships/slideLayout" Target="/ppt/slideLayouts/slideLayout6.xml" Id="R7d813ac5a57f4258" /><Relationship Type="http://schemas.openxmlformats.org/officeDocument/2006/relationships/slideLayout" Target="/ppt/slideLayouts/slideLayout7.xml" Id="R0b16c001867b4db6" /><Relationship Type="http://schemas.openxmlformats.org/officeDocument/2006/relationships/slideLayout" Target="/ppt/slideLayouts/slideLayout8.xml" Id="Rcd65230d8bd34d1a" /><Relationship Type="http://schemas.openxmlformats.org/officeDocument/2006/relationships/slideLayout" Target="/ppt/slideLayouts/slideLayout9.xml" Id="R4d1d0f1e32e044cf" /><Relationship Type="http://schemas.openxmlformats.org/officeDocument/2006/relationships/slideLayout" Target="/ppt/slideLayouts/slideLayout10.xml" Id="Rf90cce650ace4fa5" /><Relationship Type="http://schemas.openxmlformats.org/officeDocument/2006/relationships/slideLayout" Target="/ppt/slideLayouts/slideLayout11.xml" Id="R4cdcaf1664fd49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9F24BAA-AAFA-46F2-9155-DBDD20F6C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C9401F-A3D4-4360-A6EA-D6062FDB74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9D4E00-1CD7-4A29-A86D-F3D067EFBB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9F3F65-2FCD-49C1-B97F-75F62958DB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7CF6E1-9EE3-4CBD-89B9-48F2AF11B9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5a2078d674921"/>
    <p:sldLayoutId xmlns:r="http://schemas.openxmlformats.org/officeDocument/2006/relationships" id="2147483650" r:id="R351f06663a64420e"/>
    <p:sldLayoutId xmlns:r="http://schemas.openxmlformats.org/officeDocument/2006/relationships" id="2147483651" r:id="R1210b62d43fa4130"/>
    <p:sldLayoutId xmlns:r="http://schemas.openxmlformats.org/officeDocument/2006/relationships" id="2147483652" r:id="R8b1ee33d1f7c4b22"/>
    <p:sldLayoutId xmlns:r="http://schemas.openxmlformats.org/officeDocument/2006/relationships" id="2147483653" r:id="Rcbc0fc38d926425b"/>
    <p:sldLayoutId xmlns:r="http://schemas.openxmlformats.org/officeDocument/2006/relationships" id="2147483654" r:id="R7d813ac5a57f4258"/>
    <p:sldLayoutId xmlns:r="http://schemas.openxmlformats.org/officeDocument/2006/relationships" id="2147483655" r:id="R0b16c001867b4db6"/>
    <p:sldLayoutId xmlns:r="http://schemas.openxmlformats.org/officeDocument/2006/relationships" id="2147483656" r:id="Rcd65230d8bd34d1a"/>
    <p:sldLayoutId xmlns:r="http://schemas.openxmlformats.org/officeDocument/2006/relationships" id="2147483657" r:id="R4d1d0f1e32e044cf"/>
    <p:sldLayoutId xmlns:r="http://schemas.openxmlformats.org/officeDocument/2006/relationships" id="2147483658" r:id="Rf90cce650ace4fa5"/>
    <p:sldLayoutId xmlns:r="http://schemas.openxmlformats.org/officeDocument/2006/relationships" id="2147483659" r:id="R4cdcaf1664fd493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2bf83b2b154a64" /><Relationship Type="http://schemas.openxmlformats.org/officeDocument/2006/relationships/notesSlide" Target="/ppt/notesSlides/notesSlide1.xml" Id="R44e0544ae3bd4b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569658547849fd" /><Relationship Type="http://schemas.openxmlformats.org/officeDocument/2006/relationships/notesSlide" Target="/ppt/notesSlides/notesSlide2.xml" Id="R7fa1d0663e774f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d7e31f956c4e9f" /><Relationship Type="http://schemas.openxmlformats.org/officeDocument/2006/relationships/notesSlide" Target="/ppt/notesSlides/notesSlide3.xml" Id="R7062ee32c1754b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0391dfb800487f" /><Relationship Type="http://schemas.openxmlformats.org/officeDocument/2006/relationships/notesSlide" Target="/ppt/notesSlides/notesSlide4.xml" Id="R3bf434d1b61448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40ee5f1d3f4762" /><Relationship Type="http://schemas.openxmlformats.org/officeDocument/2006/relationships/notesSlide" Target="/ppt/notesSlides/notesSlide5.xml" Id="R103276ad1efe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5c199006134771" /><Relationship Type="http://schemas.openxmlformats.org/officeDocument/2006/relationships/notesSlide" Target="/ppt/notesSlides/notesSlide6.xml" Id="R3f42ef3fd4544c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5fcdc2f6c64dcd" /><Relationship Type="http://schemas.openxmlformats.org/officeDocument/2006/relationships/notesSlide" Target="/ppt/notesSlides/notesSlide7.xml" Id="R5befa1a6571144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258d8e10c04b17" /><Relationship Type="http://schemas.openxmlformats.org/officeDocument/2006/relationships/notesSlide" Target="/ppt/notesSlides/notesSlide8.xml" Id="R6f0b6da3dfef48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0c11205b87408b" /><Relationship Type="http://schemas.openxmlformats.org/officeDocument/2006/relationships/notesSlide" Target="/ppt/notesSlides/notesSlide9.xml" Id="R32ede573748845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68a372019c470d" /><Relationship Type="http://schemas.openxmlformats.org/officeDocument/2006/relationships/image" Target="/ppt/media/image.png" Id="Rfcd62cf8b82c4845" /><Relationship Type="http://schemas.openxmlformats.org/officeDocument/2006/relationships/notesSlide" Target="/ppt/notesSlides/notesSlide10.xml" Id="R9fb4806e44ef43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f4bc39749e4b87" /><Relationship Type="http://schemas.openxmlformats.org/officeDocument/2006/relationships/notesSlide" Target="/ppt/notesSlides/notesSlide11.xml" Id="R7efa9579950c4b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def46e35724f43" /><Relationship Type="http://schemas.openxmlformats.org/officeDocument/2006/relationships/notesSlide" Target="/ppt/notesSlides/notesSlide12.xml" Id="Rc45a9af64b814f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ac10f4187a43d7" /><Relationship Type="http://schemas.openxmlformats.org/officeDocument/2006/relationships/notesSlide" Target="/ppt/notesSlides/notesSlide13.xml" Id="Re170366b49e245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9fa10456d04d79" /><Relationship Type="http://schemas.openxmlformats.org/officeDocument/2006/relationships/notesSlide" Target="/ppt/notesSlides/notesSlide14.xml" Id="Rc2464417be2347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c5d9cec4a742df" /><Relationship Type="http://schemas.openxmlformats.org/officeDocument/2006/relationships/notesSlide" Target="/ppt/notesSlides/notesSlide15.xml" Id="R690624bfc25142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9404e4178940ce" /><Relationship Type="http://schemas.openxmlformats.org/officeDocument/2006/relationships/notesSlide" Target="/ppt/notesSlides/notesSlide16.xml" Id="Rc4e4c4e6d23a4c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14BDAA7-53F7-4E6D-9278-DD7314A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8F41D3-282B-4DEB-AD31-39871B9C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56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6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MANTIS</a:t>
            </a:r>
          </a:p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BFD5E8"/>
                </a:solidFill>
                <a:latin typeface="Calibri"/>
                <a:ea typeface="Calibri"/>
                <a:cs typeface="Calibri"/>
              </a:rPr>
              <a:t>Minimalist Alert Network for Threat Intelligence System</a:t>
            </a:r>
          </a:p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9FB8D0"/>
                </a:solidFill>
                <a:latin typeface="Calibri"/>
                <a:ea typeface="Calibri"/>
                <a:cs typeface="Calibri"/>
              </a:rPr>
              <a:t>Final Dissertation Presentation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14073F6-87B2-4FDD-819E-3123351A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105156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Dissertation  |  CSY4022</a:t>
            </a:r>
          </a:p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Anuskar Sigdel  |  24812606</a:t>
            </a:r>
          </a:p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BFD5E8"/>
                </a:solidFill>
                <a:latin typeface="Calibri"/>
                <a:ea typeface="Calibri"/>
                <a:cs typeface="Calibri"/>
              </a:rPr>
              <a:t>Supervisor: Nischal Khadka  |  University of Northampton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75452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F50956-1EF9-4295-A875-E5D2E3B0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Introduction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Background and rationale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2B5974-4AFB-4591-946B-BC745E3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33DE02-B80B-4C55-8C31-36697922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Small networks face scans, floods, malicious payloads and known-bad sources, but enterprise IDS platforms are costly to configure.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Existing tools often hide detection logic behind large rule sets or external packages.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provides a transparent host-based NIDS using Python Standard Library components.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One inspectable pipeline connects capture, detection, evidence and optional response.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Scope: Linux live capture, offline PCAP replay, five engines and operator-facing reporting.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AB9F6D9-E5DA-41D8-8D06-F02B1366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580164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FC4A7B-BD1B-466A-9D13-636969D5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1.2 Aim and Objectives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the project set out to deliver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1000CD3-106C-43A0-8A07-FC3A6D12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210ACB9-6DF9-4C39-8A22-3835E043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Aim: design, implement and evaluate a lightweight host-based NIDS using only the Python standard library.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Capture live Ethernet traffic and support reproducible offline PCAP replay.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Implement five transparent engines for flood, scan, payload, novelty and reputation detection.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Train from labelled data and persist compatible engine state as portable JSON.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Provide CLI, dashboard, SIEM and forensic-report evidence paths.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Test the complete system and keep active defence explicitly policy-gated.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A1CD030-412E-479F-A984-66C7A5DF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57530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F50956-1EF9-4295-A875-E5D2E3B0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Requirements Engineering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domain, proposed solution and alternatives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2B5974-4AFB-4591-946B-BC745E3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33DE02-B80B-4C55-8C31-36697922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Problem domain: constrained Linux hosts need observable intrusion detection without enterprise infrastructure.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Proposed solution: combine packet capture, five readable engines, evidence outputs and optional response in MANTIS.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Snort and Suricata are mature, but require rule management, tuning and external installation.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Zeek provides rich analysis, but introduces a scripting and deployment learning curve.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Wazuh provides broad SIEM capability, but adds multiple services and management overhead.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Decision: build a dependency-free research prototype where every detection path can be inspected.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AB9F6D9-E5DA-41D8-8D06-F02B1366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580164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D647F3-00A6-4425-AE80-AD548418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2.1 Requirement Specification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Functional and non-functional requirements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0B1FC13-0BCD-411E-81C3-A4168B80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5E499A-1614-4572-BCA5-A1580332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Functional: capture, parse, detect, train, persist, alert, export evidence and replay PCAP files.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Functional: publish dashboard and SIEM data, with optional iptables response controlled by policy.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Non-functional: transparent and auditable logic with portable state and bounded storage.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Non-functional: privacy redaction, safe defaults and no blocking unless explicitly enabled.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Traceability links every requirement to an implemented component and test evidence.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4AFCBC-A73A-4A24-9CB1-D453D347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1260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29A1B1-33BB-467E-B3DF-567875D2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Literature Review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7017F8-157D-4521-9801-16CF7896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1D942D-82CA-46A5-9992-8CD77DA0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02067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E4F1A5-ADDB-498E-8EEA-AADBEADB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Methodology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Constructive research with Agile and Scrum principles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12D0E66-7AF5-4190-9753-B8862B19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F6AC2CC-F309-4C66-B03D-6598FCB6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Constructive research defined the problem, built the MANTIS artefact, evaluated it and critiqued its limitations.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Agile and Scrum principles supported short cycles, a prioritised backlog, review and adaptation.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 Kanban board made work visible across requirements, design, construction, testing and documentation.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V-model traceability linked requirements to unit, integration, system and evaluation evidence.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Safety controls used offline datasets, loopback services, privacy redaction and policy-gated response.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EBD7EA-3BD8-467F-B0FC-0BCD59BE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711999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3C1C05-5B97-4B6B-A4AE-5BF759FD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4.1 Methodology in Practice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the process was implemented in MANTIS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95F0C7-1D0B-40A7-ACAE-3A9B616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74F183-0272-4391-8F17-D54EE3EC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Problem and requirements: define behaviours, constraints, evidence and safety boundaries.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Analysis and design: use case, class, activity, sequence and end-to-end workflow models.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Construction: capture and parser first, then engines, persistence, dispatcher and operator interfaces.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Verification: run unit, integration and system tests during each iteration.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Evaluation: controlled engine checks followed by a 63-file CIC-IoT2023 stress test.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Review: feed defects and evidence limits into corrections, future scope and the dissertation.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A166273-BB97-4625-8D33-3DCBDBC0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697014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5A18B7-2396-4C3A-A3EF-5E35E619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Detection Algorithms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Definition, use and implementation in the system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8B613D-45B8-4E91-8201-4D1F399B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502920" y="1371600"/>
          <a:ext xmlns:a="http://schemas.openxmlformats.org/drawingml/2006/main" cx="11155680" cy="42062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2377440"/>
                <a:gridCol w="5120640"/>
              </a:tblGrid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Algorithm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Definition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Used for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System implementation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Z-Score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Deviation from a running mean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Flood anomaly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Welford statistics, warm-up, z &gt; 3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Vote among nearest scaled samples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Port scan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Unique ports and packet count against labelled neighbours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Class probability over tokens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Malicious payload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Tokenisation and smoothed token likelihoods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K-Means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Distance from learned centroids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Novel behaviour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Online centroids; anomalies do not update the model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Bloom filter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Probabilistic set membership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Known-bad 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Fixed bit array and multiple hashes loaded from a feed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FCE59B-85F1-49DF-BAD2-322C6952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All engines emit one Verdict contract, separating detection from alerting and firewall policy.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718626-880A-49CC-81C0-3616593E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33946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0E3C52-12A1-4BF9-B127-0D21ABF9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System Analysis and Design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implementation view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DB5D0AD-A848-4CBF-B41E-781946E3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62cf8b82c4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7639" y="1143000"/>
            <a:ext cx="3414889" cy="553212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4E42C21-12A0-41EC-AC6B-CC2267A9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329184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Actors: administrator, host operating system and external SIEM or browser.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SensorNode owns capture, parser, five engines and the dispatcher.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PacketParser validates Ethernet, VLAN, IPv4, TCP, UDP and ICMP fields.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Dispatcher persists evidence and publishes qualifying alerts.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ActiveDefense is optional; shutdown exports engine state and the forensic report.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2C2FDF-7683-41DE-9684-323EE750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98580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F83DFC-4C06-4133-B56F-60D5703D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7. Testing Strategy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testing was planned and conducted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451C47-A86C-41F5-A41F-E0DA5CE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B54A86-7BC2-41A4-9194-3F481D9C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Verify specified software behaviour first, then evaluate detection effectiveness separately.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All 116 automated tests passed on 20 August 2026 in 4.642 seconds.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Twenty-eight representative cases document expected and actual outcomes with terminal evidence.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Positive, negative, boundary, malformed-input and regression cases were included.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Controlled frames, PCAP replay and loopback services avoided attacks on external systems.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UDP ResourceWarnings are disclosed as test-harness cleanup, not hidden.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F9E7BC-838A-4C4E-BC4B-BF36D52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3499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F83DFC-4C06-4133-B56F-60D5703D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7.1 Unit and Integration Testing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White-box and black-box coverage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451C47-A86C-41F5-A41F-E0DA5CE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B54A86-7BC2-41A4-9194-3F481D9C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White-box unit tests checked Z-Score mathematics, KNN scaling, Bayes probabilities, K-Means warm-up and Bloom membership.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White-box module tests checked parser bounds, privacy redaction, configuration, risk mapping and packet storage.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Integration tests followed parser-to-engine flow, dispatcher fan-out, state round trips and duplicate suppression.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Black-box system tests exercised UDP and HTTP SIEM endpoints, filtering, malformed datagrams and PCAP export.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Actual outcomes matched the expected outcomes for cases TC-01 to TC-28.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F9E7BC-838A-4C4E-BC4B-BF36D52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3499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F83DFC-4C06-4133-B56F-60D5703D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7.2 Algorithm-Specific Testing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algorithm requires its own decision checks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451C47-A86C-41F5-A41F-E0DA5CE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B54A86-7BC2-41A4-9194-3F481D9C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Z-Score: warm-up, spike threshold, sustained flood and baseline-poisoning protection.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KNN: scaled features, normal browsing, flood-versus-scan separation and low-volume scans.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Naive Bayes: benign HTTP, malicious tokens and an obfuscated payload case.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K-Means: warm-up, familiar points, novelty distance and protection from centroid poisoning.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Bloom filter: feed loading, membership, saturation and no false negatives for inserted indicators.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suite tests each decision rule directly instead of applying one generic accuracy script.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F9E7BC-838A-4C4E-BC4B-BF36D52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3499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2B6F83-FF47-4E95-91A3-DFFE9F12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8. Results and Findings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Controlled checks verified implementation, not field accuracy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850133-40CA-4B38-B69E-570A64A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731520" y="1371600"/>
          <a:ext xmlns:a="http://schemas.openxmlformats.org/drawingml/2006/main" cx="1069848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Limit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KNN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Port scan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Small 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Payload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 .9167; F1 .9565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 miss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Metric check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Z-Score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Flood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Constructed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K-Means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Novelty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Small vectors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Bloom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Bad 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Inserted found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Property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Set check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2DB6B0A-AAD1-44A1-921A-14DB6882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Small engine-specific samples verify code paths and expected decisions.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Perfect values on matched constructed sets are not presented as deployment performance.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E83A56-E05C-423B-8882-2087CD43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0684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2B6F83-FF47-4E95-91A3-DFFE9F12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8.1 External Dataset Evaluation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CIC-IoT2023: 63 files, 45,018,252 rows, 9.30 GB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850133-40CA-4B38-B69E-570A64A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731520" y="1371600"/>
          <a:ext xmlns:a="http://schemas.openxmlformats.org/drawingml/2006/main" cx="1069848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Evaluation 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MCC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All merged files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45,018,252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.997417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.043619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.083582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.029049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Benign + DoS/DDoS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41,333,350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.997302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.045574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.087165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.031179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Always-positive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45,018,252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.976647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.988186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0.000000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Missed attack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42,049,152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95.64% missed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Compatible feature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Rate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2DB6B0A-AAD1-44A1-921A-14DB6882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Only Rate matched the external files, so this is a Z-Score transfer stress test, not a five-engine benchmark.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High precision concealed very low recall; the fixed three-sigma rule did not transfer to heavy-tailed flow data.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E83A56-E05C-423B-8882-2087CD43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80684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E372D1-96A9-4C0A-A890-D7347556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9. Conclusion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A2F31F7-C67B-40A7-ADE5-447A06B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80B15D-12C9-490F-9844-744B4E5D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meets its aim as an inspectable lightweight research prototype.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Five engines integrate with live capture, replay, persistence, SIEM, dashboard and policy-gated response.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Evidence includes 116 tests, 28 traced cases and a 45-million-row external stress test.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main finding is that sound software behaviour does not guarantee field accuracy without calibration and domain-matched temporal data.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is a transparent baseline for constrained hosts and teaching, not an enterprise IDS replacement.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94BBE0E-2356-4ECB-87B0-3FF08BAE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23560"/>
            <a:ext cx="11155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sz="225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Transparent implementation, honest evidence, clear next steps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CBABFD6-FCCF-432B-8611-CC2C0625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750638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2026-08-22T11:28:59.3510000Z</dcterms:created>
  <dcterms:modified xsi:type="dcterms:W3CDTF">2026-08-22T11:28:59.3510000Z</dcterms:modified>
</coreProperties>
</file>