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5dcfc652e24081" /><Relationship Type="http://schemas.openxmlformats.org/officeDocument/2006/relationships/extended-properties" Target="/docProps/app.xml" Id="Rb4d33fc28a0540b1" /><Relationship Type="http://schemas.openxmlformats.org/officeDocument/2006/relationships/officeDocument" Target="/ppt/presentation.xml" Id="Rafd8732e5e454f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8223ec56cb4b17"/>
  </p:sldMasterIdLst>
  <p:notesMasterIdLst>
    <p:notesMasterId xmlns:r="http://schemas.openxmlformats.org/officeDocument/2006/relationships" r:id="R036ce74fce2f43ef"/>
  </p:notesMasterIdLst>
  <p:sldIdLst>
    <p:sldId xmlns:r="http://schemas.openxmlformats.org/officeDocument/2006/relationships" id="256" r:id="Re47e8da1e4b84737"/>
    <p:sldId xmlns:r="http://schemas.openxmlformats.org/officeDocument/2006/relationships" id="257" r:id="Rc10bf53388674775"/>
    <p:sldId xmlns:r="http://schemas.openxmlformats.org/officeDocument/2006/relationships" id="258" r:id="R365e645cef814860"/>
    <p:sldId xmlns:r="http://schemas.openxmlformats.org/officeDocument/2006/relationships" id="259" r:id="Rec73ab11dbb34888"/>
    <p:sldId xmlns:r="http://schemas.openxmlformats.org/officeDocument/2006/relationships" id="260" r:id="R46fad511620e4482"/>
    <p:sldId xmlns:r="http://schemas.openxmlformats.org/officeDocument/2006/relationships" id="261" r:id="R0424bb0a732c4fe6"/>
    <p:sldId xmlns:r="http://schemas.openxmlformats.org/officeDocument/2006/relationships" id="262" r:id="R828fbe04b089461e"/>
    <p:sldId xmlns:r="http://schemas.openxmlformats.org/officeDocument/2006/relationships" id="263" r:id="Reee7c7a70ad3481d"/>
    <p:sldId xmlns:r="http://schemas.openxmlformats.org/officeDocument/2006/relationships" id="264" r:id="R9d5bfb25d62c427f"/>
    <p:sldId xmlns:r="http://schemas.openxmlformats.org/officeDocument/2006/relationships" id="265" r:id="Rae080e8934c44e39"/>
    <p:sldId xmlns:r="http://schemas.openxmlformats.org/officeDocument/2006/relationships" id="266" r:id="Refe025bdc1a84911"/>
    <p:sldId xmlns:r="http://schemas.openxmlformats.org/officeDocument/2006/relationships" id="267" r:id="Rcfbbdea57d2a4ea1"/>
    <p:sldId xmlns:r="http://schemas.openxmlformats.org/officeDocument/2006/relationships" id="268" r:id="Ra7364bf87d1f4693"/>
    <p:sldId xmlns:r="http://schemas.openxmlformats.org/officeDocument/2006/relationships" id="269" r:id="Re2cbbad0df454cfa"/>
    <p:sldId xmlns:r="http://schemas.openxmlformats.org/officeDocument/2006/relationships" id="270" r:id="Rcdbbb54901544bb6"/>
    <p:sldId xmlns:r="http://schemas.openxmlformats.org/officeDocument/2006/relationships" id="271" r:id="Rc9eb06598ebf4d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0622b4dd634dd0" /><Relationship Type="http://schemas.openxmlformats.org/officeDocument/2006/relationships/slideMaster" Target="/ppt/slideMasters/slideMaster1.xml" Id="Rc08223ec56cb4b17" /><Relationship Type="http://schemas.openxmlformats.org/officeDocument/2006/relationships/notesMaster" Target="/ppt/notesMasters/notesMaster1.xml" Id="R036ce74fce2f43ef" /><Relationship Type="http://schemas.openxmlformats.org/officeDocument/2006/relationships/presProps" Target="/ppt/presProps.xml" Id="Rd8cc07d4937d4daa" /><Relationship Type="http://schemas.openxmlformats.org/officeDocument/2006/relationships/viewProps" Target="/ppt/viewProps.xml" Id="R22bd1472cc884253" /><Relationship Type="http://schemas.openxmlformats.org/officeDocument/2006/relationships/tableStyles" Target="/ppt/tableStyles.xml" Id="R89de42b9c2a04b74" /><Relationship Type="http://schemas.openxmlformats.org/officeDocument/2006/relationships/slide" Target="/ppt/slides/slide1.xml" Id="Re47e8da1e4b84737" /><Relationship Type="http://schemas.openxmlformats.org/officeDocument/2006/relationships/slide" Target="/ppt/slides/slide2.xml" Id="Rc10bf53388674775" /><Relationship Type="http://schemas.openxmlformats.org/officeDocument/2006/relationships/slide" Target="/ppt/slides/slide3.xml" Id="R365e645cef814860" /><Relationship Type="http://schemas.openxmlformats.org/officeDocument/2006/relationships/slide" Target="/ppt/slides/slide4.xml" Id="Rec73ab11dbb34888" /><Relationship Type="http://schemas.openxmlformats.org/officeDocument/2006/relationships/slide" Target="/ppt/slides/slide5.xml" Id="R46fad511620e4482" /><Relationship Type="http://schemas.openxmlformats.org/officeDocument/2006/relationships/slide" Target="/ppt/slides/slide6.xml" Id="R0424bb0a732c4fe6" /><Relationship Type="http://schemas.openxmlformats.org/officeDocument/2006/relationships/slide" Target="/ppt/slides/slide7.xml" Id="R828fbe04b089461e" /><Relationship Type="http://schemas.openxmlformats.org/officeDocument/2006/relationships/slide" Target="/ppt/slides/slide8.xml" Id="Reee7c7a70ad3481d" /><Relationship Type="http://schemas.openxmlformats.org/officeDocument/2006/relationships/slide" Target="/ppt/slides/slide9.xml" Id="R9d5bfb25d62c427f" /><Relationship Type="http://schemas.openxmlformats.org/officeDocument/2006/relationships/slide" Target="/ppt/slides/slide10.xml" Id="Rae080e8934c44e39" /><Relationship Type="http://schemas.openxmlformats.org/officeDocument/2006/relationships/slide" Target="/ppt/slides/slide11.xml" Id="Refe025bdc1a84911" /><Relationship Type="http://schemas.openxmlformats.org/officeDocument/2006/relationships/slide" Target="/ppt/slides/slide12.xml" Id="Rcfbbdea57d2a4ea1" /><Relationship Type="http://schemas.openxmlformats.org/officeDocument/2006/relationships/slide" Target="/ppt/slides/slide13.xml" Id="Ra7364bf87d1f4693" /><Relationship Type="http://schemas.openxmlformats.org/officeDocument/2006/relationships/slide" Target="/ppt/slides/slide14.xml" Id="Re2cbbad0df454cfa" /><Relationship Type="http://schemas.openxmlformats.org/officeDocument/2006/relationships/slide" Target="/ppt/slides/slide15.xml" Id="Rcdbbb54901544bb6" /><Relationship Type="http://schemas.openxmlformats.org/officeDocument/2006/relationships/slide" Target="/ppt/slides/slide16.xml" Id="Rc9eb06598ebf4d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e1a2708ee848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bf2881a5db40e0" /><Relationship Type="http://schemas.openxmlformats.org/officeDocument/2006/relationships/notesMaster" Target="/ppt/notesMasters/notesMaster1.xml" Id="R864792fb1dd941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9963b541a54bd5" /><Relationship Type="http://schemas.openxmlformats.org/officeDocument/2006/relationships/notesMaster" Target="/ppt/notesMasters/notesMaster1.xml" Id="Raf7c9113509643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751f6f383f4102" /><Relationship Type="http://schemas.openxmlformats.org/officeDocument/2006/relationships/notesMaster" Target="/ppt/notesMasters/notesMaster1.xml" Id="R548d5e7ee7304a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1e57c28a5440c3" /><Relationship Type="http://schemas.openxmlformats.org/officeDocument/2006/relationships/notesMaster" Target="/ppt/notesMasters/notesMaster1.xml" Id="R3e1811ce0b2c45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d5ee04477248f9" /><Relationship Type="http://schemas.openxmlformats.org/officeDocument/2006/relationships/notesMaster" Target="/ppt/notesMasters/notesMaster1.xml" Id="R67cf65bdfbba4d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d5a747e3b741f9" /><Relationship Type="http://schemas.openxmlformats.org/officeDocument/2006/relationships/notesMaster" Target="/ppt/notesMasters/notesMaster1.xml" Id="R92f73c12d9594c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b3cb1a09fa4fb3" /><Relationship Type="http://schemas.openxmlformats.org/officeDocument/2006/relationships/notesMaster" Target="/ppt/notesMasters/notesMaster1.xml" Id="R5e74d63a634f4a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9a4435e31b4e63" /><Relationship Type="http://schemas.openxmlformats.org/officeDocument/2006/relationships/notesMaster" Target="/ppt/notesMasters/notesMaster1.xml" Id="Rcd275bc92ab440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154b2b1b864140" /><Relationship Type="http://schemas.openxmlformats.org/officeDocument/2006/relationships/notesMaster" Target="/ppt/notesMasters/notesMaster1.xml" Id="Rce4761c4359247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9424a4c5ed4484" /><Relationship Type="http://schemas.openxmlformats.org/officeDocument/2006/relationships/notesMaster" Target="/ppt/notesMasters/notesMaster1.xml" Id="Ra66c734164ab46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1f9e90ca064062" /><Relationship Type="http://schemas.openxmlformats.org/officeDocument/2006/relationships/notesMaster" Target="/ppt/notesMasters/notesMaster1.xml" Id="Rbad62882abce40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eb7b037bf84b85" /><Relationship Type="http://schemas.openxmlformats.org/officeDocument/2006/relationships/notesMaster" Target="/ppt/notesMasters/notesMaster1.xml" Id="R60e1093136524f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383e32b4514b4f" /><Relationship Type="http://schemas.openxmlformats.org/officeDocument/2006/relationships/notesMaster" Target="/ppt/notesMasters/notesMaster1.xml" Id="R4568d381c01641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b3a36a99c3485d" /><Relationship Type="http://schemas.openxmlformats.org/officeDocument/2006/relationships/notesMaster" Target="/ppt/notesMasters/notesMaster1.xml" Id="Ra593c1e9797d4c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e2cab17d054d0a" /><Relationship Type="http://schemas.openxmlformats.org/officeDocument/2006/relationships/notesMaster" Target="/ppt/notesMasters/notesMaster1.xml" Id="R65e526c1fa4e4b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771d3be1cd4eed" /><Relationship Type="http://schemas.openxmlformats.org/officeDocument/2006/relationships/notesMaster" Target="/ppt/notesMasters/notesMaster1.xml" Id="Rc4d9e995c4674f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cover page and Chapter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Sections 1.1, 1.2 and 2.8.1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Section 1.3 and Table 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Chapter 2 literature review and comparable-system synthesis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Section 2.2 and Table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Sections 1.4 and 2.3 to 2.7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Section 2.8 and Table 2.6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Figure 2.8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Figure 3.1b and Tables 3.1 to 3.2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Figure 3.3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Sections 2.9 and 3.6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Chapter 4 and Table 4.1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Chapter 5 and Tables 5.1, 5.3 and 5.4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controlled engine checks in Chapter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Table 5.2 and the external CIC-IoT2023 evaluation discussion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MANTIS_Final_Dissertation_FINAL.docx, Chapters 6 and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fa3eb92f549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d35a5d67f4c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c887869644b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fab0b50ec45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c3c2df0c942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dc110cf8349f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ee011588b4a4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f69233280d4a9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cef0489574f1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15f3736772473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f49206fb94d9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4655FF-DD96-4A7A-AD19-6DE55273F3A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3F6608A-96EA-4877-AF8D-4F6C580F74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CC7F86-388B-4EE2-9D57-78F37914D0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09C0929-1A61-45AD-A523-71FA64313F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03F982-885F-44B5-B4B4-3DEB3C34B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FE6FE4-73AA-4131-BC50-98D8AA85EB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B2E083-7397-4A05-A945-0CD8B658E83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0B0893-69E5-42BA-B37C-F60FE5EB9C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494CB6D-2055-4BF1-9E86-5272C612CE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ECE348-E737-42ED-A518-2D0CE3CE4F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3752D3-92F2-42CB-9833-44F9D6CB74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01398E-E0E7-4880-A62D-06B245C379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AB78146-BF43-42DE-B3EF-D9FFDF91D4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0BC6037-37B9-45B4-A2B7-71590D8065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CD44C2-303F-44C8-A713-0C5C36F322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8B6CA1-7C0D-48A8-A3C6-F428A3AE7D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667DA48-2684-4ADA-807B-43894B64259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4129E44-9CCF-4C59-A520-F9C5CAB2555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AF673A8-8993-47C0-A03A-BBFF060F50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0D5894-A50E-4269-BE14-D94F409B9F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25434B0-655F-4BB9-9B82-08C716FB5D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805A9F-9754-4C9C-81FF-785922B526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5632722-021A-4880-9383-ADD410A539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717F386-8791-41E4-BA20-41D630B8DB0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52DA92C-76E4-409E-BFE4-AB5A072BC8B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9F933D9-ED8C-4BCC-B8D5-F4EF17F9A4D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27DCD60-F530-49EA-9BEC-DC1895D4F2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1FFFAC6-C501-43ED-B13A-1665BF972C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0C011E5-D5FC-452F-8F69-1D698949FE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407ABA-584F-4584-8633-83424A4DC6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50F327B-D612-41F5-9002-E510520335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3C77C5D-2E9A-4E9B-9F44-74E0C26001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3BB2DEB-E585-49C3-9AD8-1BFE30FB8F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2EA657B-B50E-4F18-9C55-87ACF21230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3DA61C8-392F-4A31-AFE4-4C4724D956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BE08675-7EBA-4A73-96BD-5CB828BEA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7426CC-7D81-4F23-810C-9F02F2E691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98903A-BF64-4886-888A-80939291D2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F3C4F33-7909-4EE0-8603-9B9D9D70B9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379ACF0-8CEA-4B89-B33B-16C641CE56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ACA4E1F-E2C3-43D3-8A24-ED9F933188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D00A2A2-6542-497B-9877-3A4E366ADF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F6BDD6-0E17-451C-85E2-F8533050D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4F54DBB-F978-42BA-A451-467B18F0E45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CF65CCB-B5D6-41D8-9B76-96539D81B8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040A631-1660-4678-BC40-1156911FCA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BD88E99-0F4E-48D5-A32C-35114658E6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C9982A8-145B-43BF-9566-E1ADF39D77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7E0251-1C4F-4048-8F56-20B48BC5E9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1CA3262-DE46-4723-9137-3721516D08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F13240-0AEE-4704-A1E9-B27B3561FF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DB9D468-44A2-4D79-AC65-AFE9AB3CA9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1EA359-452D-41D7-86AC-5750B296A6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3B77726-3B3D-4214-B523-95096C07D7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8C211B-0D26-4524-9502-6C58DAA555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296FC1-666E-4B69-A46C-33833492A6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026160-AFA4-40A3-B763-FA0BEE07C1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906B8E-9F73-4A7F-A26B-543D483EC3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ef223083ed4bf4" /><Relationship Type="http://schemas.openxmlformats.org/officeDocument/2006/relationships/slideLayout" Target="/ppt/slideLayouts/slideLayout1.xml" Id="R8e8818f271c44b67" /><Relationship Type="http://schemas.openxmlformats.org/officeDocument/2006/relationships/slideLayout" Target="/ppt/slideLayouts/slideLayout2.xml" Id="R8ebcecb63b364f8e" /><Relationship Type="http://schemas.openxmlformats.org/officeDocument/2006/relationships/slideLayout" Target="/ppt/slideLayouts/slideLayout3.xml" Id="Rb71b826aecda4dfe" /><Relationship Type="http://schemas.openxmlformats.org/officeDocument/2006/relationships/slideLayout" Target="/ppt/slideLayouts/slideLayout4.xml" Id="Rf05c312344ca4b1d" /><Relationship Type="http://schemas.openxmlformats.org/officeDocument/2006/relationships/slideLayout" Target="/ppt/slideLayouts/slideLayout5.xml" Id="Rd24615f173ab4e33" /><Relationship Type="http://schemas.openxmlformats.org/officeDocument/2006/relationships/slideLayout" Target="/ppt/slideLayouts/slideLayout6.xml" Id="R4baf7fc260dc4598" /><Relationship Type="http://schemas.openxmlformats.org/officeDocument/2006/relationships/slideLayout" Target="/ppt/slideLayouts/slideLayout7.xml" Id="Rc25f712efff84cd3" /><Relationship Type="http://schemas.openxmlformats.org/officeDocument/2006/relationships/slideLayout" Target="/ppt/slideLayouts/slideLayout8.xml" Id="R59a73de5d33e4109" /><Relationship Type="http://schemas.openxmlformats.org/officeDocument/2006/relationships/slideLayout" Target="/ppt/slideLayouts/slideLayout9.xml" Id="Ref6326590c5b4cee" /><Relationship Type="http://schemas.openxmlformats.org/officeDocument/2006/relationships/slideLayout" Target="/ppt/slideLayouts/slideLayout10.xml" Id="Rd3287eae76f44f6c" /><Relationship Type="http://schemas.openxmlformats.org/officeDocument/2006/relationships/slideLayout" Target="/ppt/slideLayouts/slideLayout11.xml" Id="R734835f5bd27425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5965B3A-1CE1-4F61-B7F0-E44A226E9B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DC76CD-AD5D-45CC-86B3-080BDDFDA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E815AA-94B4-4E21-A5C9-E11681DACAF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8/21/2026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79748B-6FE3-4FE0-8C5B-0A098FF2656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15761C-5435-48A5-977C-60A1905D3BF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8818f271c44b67"/>
    <p:sldLayoutId xmlns:r="http://schemas.openxmlformats.org/officeDocument/2006/relationships" id="2147483650" r:id="R8ebcecb63b364f8e"/>
    <p:sldLayoutId xmlns:r="http://schemas.openxmlformats.org/officeDocument/2006/relationships" id="2147483651" r:id="Rb71b826aecda4dfe"/>
    <p:sldLayoutId xmlns:r="http://schemas.openxmlformats.org/officeDocument/2006/relationships" id="2147483652" r:id="Rf05c312344ca4b1d"/>
    <p:sldLayoutId xmlns:r="http://schemas.openxmlformats.org/officeDocument/2006/relationships" id="2147483653" r:id="Rd24615f173ab4e33"/>
    <p:sldLayoutId xmlns:r="http://schemas.openxmlformats.org/officeDocument/2006/relationships" id="2147483654" r:id="R4baf7fc260dc4598"/>
    <p:sldLayoutId xmlns:r="http://schemas.openxmlformats.org/officeDocument/2006/relationships" id="2147483655" r:id="Rc25f712efff84cd3"/>
    <p:sldLayoutId xmlns:r="http://schemas.openxmlformats.org/officeDocument/2006/relationships" id="2147483656" r:id="R59a73de5d33e4109"/>
    <p:sldLayoutId xmlns:r="http://schemas.openxmlformats.org/officeDocument/2006/relationships" id="2147483657" r:id="Ref6326590c5b4cee"/>
    <p:sldLayoutId xmlns:r="http://schemas.openxmlformats.org/officeDocument/2006/relationships" id="2147483658" r:id="Rd3287eae76f44f6c"/>
    <p:sldLayoutId xmlns:r="http://schemas.openxmlformats.org/officeDocument/2006/relationships" id="2147483659" r:id="R734835f5bd274259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497eb3ac694d9b" /><Relationship Type="http://schemas.openxmlformats.org/officeDocument/2006/relationships/notesSlide" Target="/ppt/notesSlides/notesSlide1.xml" Id="R82892592701a4f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9dcd4873844a6c" /><Relationship Type="http://schemas.openxmlformats.org/officeDocument/2006/relationships/notesSlide" Target="/ppt/notesSlides/notesSlide2.xml" Id="R209fe11d6e494f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2e4d590c34402f" /><Relationship Type="http://schemas.openxmlformats.org/officeDocument/2006/relationships/notesSlide" Target="/ppt/notesSlides/notesSlide3.xml" Id="R533c49eede0e41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424bd8987f4c1e" /><Relationship Type="http://schemas.openxmlformats.org/officeDocument/2006/relationships/notesSlide" Target="/ppt/notesSlides/notesSlide4.xml" Id="R0b7d4e6b39ab41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7532a186644883" /><Relationship Type="http://schemas.openxmlformats.org/officeDocument/2006/relationships/notesSlide" Target="/ppt/notesSlides/notesSlide5.xml" Id="R68646e115b304f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76951926fe47bd" /><Relationship Type="http://schemas.openxmlformats.org/officeDocument/2006/relationships/notesSlide" Target="/ppt/notesSlides/notesSlide6.xml" Id="R4ecf83cdfdc24d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619e6dc9534918" /><Relationship Type="http://schemas.openxmlformats.org/officeDocument/2006/relationships/notesSlide" Target="/ppt/notesSlides/notesSlide7.xml" Id="R1d90afbd121842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78e95605374659" /><Relationship Type="http://schemas.openxmlformats.org/officeDocument/2006/relationships/image" Target="/ppt/media/image.png" Id="R36ab1b1097744981" /><Relationship Type="http://schemas.openxmlformats.org/officeDocument/2006/relationships/notesSlide" Target="/ppt/notesSlides/notesSlide8.xml" Id="Re74cb92d306c41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724e320ee94945" /><Relationship Type="http://schemas.openxmlformats.org/officeDocument/2006/relationships/image" Target="/ppt/media/image2.png" Id="Rbeb40fea1146419c" /><Relationship Type="http://schemas.openxmlformats.org/officeDocument/2006/relationships/notesSlide" Target="/ppt/notesSlides/notesSlide9.xml" Id="R84a7af0f095148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fed1c7160c41ff" /><Relationship Type="http://schemas.openxmlformats.org/officeDocument/2006/relationships/image" Target="/ppt/media/image3.png" Id="R1dd924b58b664d75" /><Relationship Type="http://schemas.openxmlformats.org/officeDocument/2006/relationships/notesSlide" Target="/ppt/notesSlides/notesSlide10.xml" Id="R9134f1f123094c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ea2cc56f6b45f1" /><Relationship Type="http://schemas.openxmlformats.org/officeDocument/2006/relationships/notesSlide" Target="/ppt/notesSlides/notesSlide11.xml" Id="R35d744d8cdfc49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a5ecf51abd4f3f" /><Relationship Type="http://schemas.openxmlformats.org/officeDocument/2006/relationships/notesSlide" Target="/ppt/notesSlides/notesSlide12.xml" Id="R85853bc1471240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96a153e46f431d" /><Relationship Type="http://schemas.openxmlformats.org/officeDocument/2006/relationships/notesSlide" Target="/ppt/notesSlides/notesSlide13.xml" Id="R19eee46f471748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6439caa2154ae0" /><Relationship Type="http://schemas.openxmlformats.org/officeDocument/2006/relationships/notesSlide" Target="/ppt/notesSlides/notesSlide14.xml" Id="Rbb5e9a10f85c4b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ca7c88943a4df3" /><Relationship Type="http://schemas.openxmlformats.org/officeDocument/2006/relationships/notesSlide" Target="/ppt/notesSlides/notesSlide15.xml" Id="R45d68124da3d44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619db084214d04" /><Relationship Type="http://schemas.openxmlformats.org/officeDocument/2006/relationships/notesSlide" Target="/ppt/notesSlides/notesSlide16.xml" Id="R938d8fd8ae8143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72C369-2D94-4A79-8CB2-1A674BD6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D916B9A-A1C2-45E0-9D47-D93D56AF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51560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Calibri"/>
                <a:ea typeface="Calibri"/>
                <a:cs typeface="Calibri"/>
              </a:defRPr>
            </a:pPr>
            <a:r>
              <a:rPr sz="6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MANTIS</a:t>
            </a:r>
          </a:p>
          <a:p xmlns:a="http://schemas.openxmlformats.org/drawingml/2006/main">
            <a:pPr algn="l">
              <a:defRPr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BFD5E8"/>
                </a:solidFill>
                <a:latin typeface="Calibri"/>
                <a:ea typeface="Calibri"/>
                <a:cs typeface="Calibri"/>
              </a:rPr>
              <a:t>Minimalist Alert Network for Threat Intelligence System</a:t>
            </a:r>
          </a:p>
          <a:p xmlns:a="http://schemas.openxmlformats.org/drawingml/2006/main">
            <a:pPr algn="l">
              <a:defRPr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9FB8D0"/>
                </a:solidFill>
                <a:latin typeface="Calibri"/>
                <a:ea typeface="Calibri"/>
                <a:cs typeface="Calibri"/>
              </a:rPr>
              <a:t>Final Dissertation Presentation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ED65B99-3D41-4862-A162-8B913EA3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46320"/>
            <a:ext cx="105156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Dissertation  |  CSY4022</a:t>
            </a:r>
          </a:p>
          <a:p xmlns:a="http://schemas.openxmlformats.org/drawingml/2006/main">
            <a:pPr algn="l">
              <a:defRPr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Anuskar Sigdel  |  24812606</a:t>
            </a:r>
          </a:p>
          <a:p xmlns:a="http://schemas.openxmlformats.org/drawingml/2006/main">
            <a:pPr algn="l">
              <a:defRPr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BFD5E8"/>
                </a:solidFill>
                <a:latin typeface="Calibri"/>
                <a:ea typeface="Calibri"/>
                <a:cs typeface="Calibri"/>
              </a:rPr>
              <a:t>Supervisor: Nischal Khadka  |  University of Northampton  |  August 2026</a:t>
            </a:r>
          </a:p>
        </p:txBody>
      </p:sp>
    </p:spTree>
    <p:extLst>
      <p:ext uri="{BB962C8B-B14F-4D97-AF65-F5344CB8AC3E}">
        <p14:creationId xmlns:p14="http://schemas.microsoft.com/office/powerpoint/2010/main" val="16964211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487DD7-EB12-4F2E-A871-173C1A50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The Problem MANTIS Addresses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Transparent intrusion detection for constrained Linux hosts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CAF4BA-E444-4976-85CD-68FB09D7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064DD81-9B9D-4FC8-AE1B-611B45A9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Small networks still face scans, floods, malicious payloads and known-bad sources.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Enterprise IDS platforms can require heavyweight packages, extensive rule management and several supporting services.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Opaque detection paths make results difficult to explain, reproduce and audit in a student research setting.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MANTIS responds with a dependency-free Python prototype whose capture, detection, evidence and optional response paths remain inspectable.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75834F4-F528-482C-9A71-4C4ED90E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516260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60B3F9E-7E3F-4E79-971E-B4BB54DB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Aim and Measurable Objectives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 research aim supported by six verifiable objectives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FBA89D-7AC8-4989-AFAE-B04D14FF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08171E0-3C3B-4929-85CC-822D5B57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Aim: design, implement and evaluate a lightweight host-based NIDS using only the Python standard library.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Capture live Ethernet frames and support reproducible offline PCAP replay.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Implement five transparent engines for flood, scan, malicious payload, novelty and reputation detection.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Train from labelled data, persist compatible state and expose CLI, dashboard, SIEM and forensic evidence.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Evaluate the integrated system while keeping active defence explicitly controlled by policy.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1EFCECC-6739-4693-8FE0-7F2AED0E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92588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DC4901-7C67-4BAF-81A5-4B5E6EA4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Literature Review and Design Gap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evidence shaped both the architecture and the evaluation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DD3F5D6-024D-4C77-93BA-185D041E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396EA04-D86D-41D3-B470-2A27E212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Recent studies show strong IDS results, but also warn about leakage, unrealistic base rates and weak transfer across datasets.</a:t>
            </a:r>
          </a:p>
          <a:p xmlns:a="http://schemas.openxmlformats.org/drawingml/2006/main">
            <a:pPr lvl="1" algn="l">
              <a:spcAft>
                <a:spcPts val="800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CIC-IoT2023 provides large-scale attack data, yet its flow features do not directly match raw-packet engine inputs.</a:t>
            </a:r>
          </a:p>
          <a:p xmlns:a="http://schemas.openxmlformats.org/drawingml/2006/main">
            <a:pPr algn="l">
              <a:spcAft>
                <a:spcPts val="800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Comparable systems are mature, but none combines dependency freedom, readable detection mathematics and SIEM interoperability at small-host scale.</a:t>
            </a:r>
          </a:p>
          <a:p xmlns:a="http://schemas.openxmlformats.org/drawingml/2006/main">
            <a:pPr lvl="1" algn="l">
              <a:spcAft>
                <a:spcPts val="800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Design implication: keep every detection rule inspectable and report implementation evidence separately from field-accuracy claims.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D671029-02EE-44F1-8BD2-58278221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955762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F89DEC2-D6BA-47A8-A786-AC7F5D2D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Comparable Systems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MANTIS occupies a narrow research and teaching niche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B94B85C-6C23-4153-BD2D-5AF1F9EB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502920" y="1325880"/>
          <a:ext xmlns:a="http://schemas.openxmlformats.org/drawingml/2006/main" cx="11155680" cy="38404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  <a:gridCol w="4937760"/>
              </a:tblGrid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  <a:ea typeface="Calibri"/>
                          <a:cs typeface="Calibri"/>
                        </a:rPr>
                        <a:t>System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  <a:ea typeface="Calibri"/>
                          <a:cs typeface="Calibri"/>
                        </a:rPr>
                        <a:t>Strength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  <a:ea typeface="Calibri"/>
                          <a:cs typeface="Calibri"/>
                        </a:rPr>
                        <a:t>Cost for a small host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Snort 3.x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Mature signature engine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Rule-pack management and tuning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Suricata 7.x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Multithreaded throughput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Large configuration surface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Zeek 8.x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Rich protocol analysis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Scripting and deployment learning curve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Wazuh 4.x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Full SIEM platform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Multiple components and infrastructure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MANTIS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Transparent five-engine prototype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Prototype scope and HTTP-only payload visibility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1CF611F-D43C-42D6-81D0-62208FEF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48640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The contribution is inspectability and low dependency, not feature parity with enterprise platforms.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598432-BCC7-4EC7-9E9D-FAC9FEA8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988006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247762-17DD-48FD-9B40-1EF95A41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Methodology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Constructive research: build, evaluate, critique and refine the artefact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3842E7D-4A5C-45EE-BFD9-38C16CFB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A47988C-A877-43B8-84EB-5A7DCDD9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Constructive research defined the problem, built MANTIS, evaluated it and critiqued its limitations.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Agile and Scrum principles supported short cycles, a prioritised backlog, review and adaptation.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Kanban made progress visible across requirements, design, construction, testing and documentation.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V-model traceability linked requirements to unit, integration, system and evaluation evidence.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Safety controls used offline datasets, loopback services, privacy redaction and policy-gated response.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750AE8-986D-4228-BEB6-2B98A498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817678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2DA523-7BE0-4728-9DE8-D50A6A08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Requirements and Scope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Implemented behaviours are traceable to components and tests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86F0959-239B-4081-A8BB-E5F6C5D5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6BEB495-BBD3-45BE-A3BF-DB426AF4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Capture, parse and replay Ethernet, VLAN, IPv4, TCP, UDP and ICMP traffic.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Run five detection engines, aggregate verdicts, dispatch alerts and export evidence.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Train from labelled data and persist compatible engine state in portable JSON.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Publish dashboard and SIEM data, with optional iptables response disabled unless policy enables it.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Non-functional priorities are transparency, portability, privacy redaction, bounded storage and safe defaults.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642FA4-88A1-449D-ACB1-C2CB8647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150571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2A9147F-1BF3-4D2C-BDC5-7076C719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7. MANTIS End-to-End Workflow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Figure 2.8 links training, capture, detection, evidence and response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61CE38-5FAF-488A-953D-D989C14C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b1b1097744981"/>
          <a:stretch xmlns:a="http://schemas.openxmlformats.org/drawingml/2006/main"/>
        </p:blipFill>
        <p:spPr>
          <a:xfrm xmlns:a="http://schemas.openxmlformats.org/drawingml/2006/main">
            <a:off x="4303885" y="1143000"/>
            <a:ext cx="2762396" cy="553212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A44E472-16A2-49CF-B20C-E2F1BC8B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329184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Labelled data trains supported engines and creates portable brain state.</a:t>
            </a:r>
          </a:p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Live frames or PCAP replay pass through one validated parser and five engines.</a:t>
            </a:r>
          </a:p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Verdicts feed one dispatcher for evidence, dashboard and SIEM delivery.</a:t>
            </a:r>
          </a:p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Blocking remains optional and policy-gated; shutdown exports state and the forensic report.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82A2D62-6C9D-49C5-8953-290AC78E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415389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97E678-1992-463F-BC02-DAEC1A4A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8. Use Case and Response Boundary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Figure 3.1b separates mandatory analysis from optional active defence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B64520F-B5DB-4424-B9AC-203F7139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40fea1146419c"/>
          <a:stretch xmlns:a="http://schemas.openxmlformats.org/drawingml/2006/main"/>
        </p:blipFill>
        <p:spPr>
          <a:xfrm xmlns:a="http://schemas.openxmlformats.org/drawingml/2006/main">
            <a:off x="2093976" y="1188720"/>
            <a:ext cx="8007038" cy="54406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FBD1D95-6307-4BA7-A79B-1A5EA6CD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5950988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10E111E-3A5D-49A9-A4AD-11D3DE26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9. Class Model and Component Ownership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Figure 3.3 shows inheritance, composition and explicit multiplicities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789C077-51FA-496D-80FD-4DE9A510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924b58b664d75"/>
          <a:stretch xmlns:a="http://schemas.openxmlformats.org/drawingml/2006/main"/>
        </p:blipFill>
        <p:spPr>
          <a:xfrm xmlns:a="http://schemas.openxmlformats.org/drawingml/2006/main">
            <a:off x="1709928" y="1350132"/>
            <a:ext cx="8762337" cy="4980697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CD95F9C-46A8-4785-B8AD-C9F43378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322690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EFCD93-BCFC-4C8E-8281-5EE662A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10. Five Detection Engines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Each engine targets a distinct behaviour and emits one Verdict contract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2EE920D-29B6-4A2C-92F0-6ABCDE90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502920" y="1371600"/>
          <a:ext xmlns:a="http://schemas.openxmlformats.org/drawingml/2006/main" cx="11155680" cy="42062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920240"/>
                <a:gridCol w="2377440"/>
                <a:gridCol w="5120640"/>
              </a:tblGrid>
              <a:tr h="70104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Engine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Definition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Detects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System implementation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Z-Score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Deviation from running mean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Flood anomaly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Welford statistics, warm-up, z &gt; 3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KNN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Nearest-neighbour vote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Port scan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Scaled port diversity and packet-count features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Naive Bayes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Token class probability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Malicious payload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Tokenisation with smoothed likelihoods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K-Means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Distance from centroids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Novel behaviour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Online centroids; anomalies do not update the model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Bloom filter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Probabilistic membership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Known-bad IP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Fixed bit array and multiple hashes from a feed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290914A-4925-46BE-B09E-8587F7E2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0644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Detection remains separate from alerting and firewall policy.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B7A99F7-2FE4-4CB4-86FB-B1AFCDB6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911110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42C997B-1F07-422A-A45E-5D390C9F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11. System Build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dependency-free implementation with explicit technical and safety boundaries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042D098-E73B-4FE6-AB50-456E0357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53261A1-26A2-459D-AAC5-8991D375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Python 3 standard library only, including socket, struct, threading, JSON, HTTP server and unittest.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Packet capture uses AF_PACKET raw sockets, so Linux and suitable capability or privilege are required.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Parser checks Ethernet, tagged VLAN, IPv4, TCP, UDP and ICMP bounds before engine use.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SIEM delivery uses UDP JSON; the browser dashboard is served locally on port 8080.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Engine state is versioned JSON and shutdown reports preserve evidence for review.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E64826-CE8A-477B-8DC6-D34F4BD3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118985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F32CF15-29C9-48BC-9D4B-63A76D7C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12. Testing Strategy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Verify software behaviour first, then evaluate detection transfer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A4ACE65-491E-4643-AE24-039F1DDE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755B2D5-CB70-4334-B395-E9FC4386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White-box tests checked engine mathematics, parser bounds, risk mapping, redaction and persistence.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Integration tests covered parser-to-engine flow, dispatcher fan-out, state round trips and duplicate suppression.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Black-box tests exercised CLI, UDP and HTTP endpoints, filtering, malformed datagrams and PCAP export.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All 116 automated tests passed on 20 August 2026 in 4.642 seconds.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Twenty-eight representative cases record expected and actual outcomes with terminal evidence.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57501F-0ED5-4A3E-94B8-4B9229AC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2250954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8686DF9-7873-473F-96E5-D5F9A15A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13. Controlled Checks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Small engine-specific samples verify code paths, not deployment accuracy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3B9DCDD-B76C-4ECA-A485-747530DB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731520" y="1371600"/>
          <a:ext xmlns:a="http://schemas.openxmlformats.org/drawingml/2006/main" cx="10698480" cy="32918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4630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Engine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Scenario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Outcome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Limit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Meaning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KNN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Port scan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Matched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Small 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Path check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Naive Bayes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Payload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Recall .9167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 miss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Metric check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Z-Score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Flood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Matched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Constructed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Path check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K-Means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Novelty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Matched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Small vectors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Path check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Bloom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Bad IP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Inserted found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Property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Set check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619BC0-290F-4AD3-B405-F1ED6895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Perfect values on matched constructed sets are implementation evidence, not generalisation evidence.</a:t>
            </a:r>
          </a:p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The obfuscated Naive Bayes miss is retained and reported rather than tuned away.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0359200-3E05-47E7-88CE-020ED8D2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927412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8686DF9-7873-473F-96E5-D5F9A15A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14. External Dataset Evaluation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CIC-IoT2023: 63 files, 45,018,252 rows and 9.30 GB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3B9DCDD-B76C-4ECA-A485-747530DB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731520" y="1371600"/>
          <a:ext xmlns:a="http://schemas.openxmlformats.org/drawingml/2006/main" cx="10698480" cy="32918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4630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Evaluation scope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MCC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All merged files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45,018,252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.997417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.043619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.083582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.029049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Benign + DoS/DDoS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41,333,350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.997302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.045574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.087165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.031179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Always-positive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45,018,252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.976647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.988186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0.000000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Missed attack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42,049,152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95.64% missed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Compatible feature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Rate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619BC0-290F-4AD3-B405-F1ED6895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Only Rate matched the external files, so this is a Z-Score transfer stress test, not a five-engine benchmark.</a:t>
            </a:r>
          </a:p>
          <a:p xmlns:a="http://schemas.openxmlformats.org/drawingml/2006/main"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High precision concealed very low recall; the fixed three-sigma rule did not transfer to heavy-tailed flow data.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0359200-3E05-47E7-88CE-020ED8D2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927412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3733AD-8F30-4B7C-8FB7-78793C8A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15. Conclusion and Next Steps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CA25F2F-4B69-447D-97CB-456752B4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79180D2-2966-4594-A5D9-DFBEE1B6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MANTIS meets its aim as an inspectable lightweight research prototype with five integrated detection engines.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Evidence includes 116 passing tests, 28 traced cases and a 45-million-row external stress test.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Correct software behaviour does not guarantee field accuracy without calibration and domain-matched temporal data.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Next steps are encrypted-traffic feature sources, authenticated SIEM delivery, longer-window evaluation and model lifecycle controls.</a:t>
            </a:r>
          </a:p>
          <a:p xmlns:a="http://schemas.openxmlformats.org/drawingml/2006/main"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MANTIS is a transparent baseline for constrained hosts and teaching, not an enterprise IDS replacement.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0F4F65C-140D-438B-B37B-8BF04EE8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23560"/>
            <a:ext cx="11155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sz="225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Transparent implementation, honest evidence, clear next steps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883640F-0F45-4387-A704-63B6572B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79761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2026-08-25T06:43:50.9730000Z</dcterms:created>
  <dcterms:modified xsi:type="dcterms:W3CDTF">2026-08-25T06:43:50.9730000Z</dcterms:modified>
</coreProperties>
</file>