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0ef741f3b44f8" /><Relationship Type="http://schemas.openxmlformats.org/officeDocument/2006/relationships/extended-properties" Target="/docProps/app.xml" Id="R7d8cce6b993e40f9" /><Relationship Type="http://schemas.openxmlformats.org/officeDocument/2006/relationships/officeDocument" Target="/ppt/presentation.xml" Id="R4404ccfafe59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6ecc89a23b466e"/>
  </p:sldMasterIdLst>
  <p:notesMasterIdLst>
    <p:notesMasterId xmlns:r="http://schemas.openxmlformats.org/officeDocument/2006/relationships" r:id="R65c0591b00a54d4d"/>
  </p:notesMasterIdLst>
  <p:sldIdLst>
    <p:sldId xmlns:r="http://schemas.openxmlformats.org/officeDocument/2006/relationships" id="256" r:id="R008553cf4966494e"/>
    <p:sldId xmlns:r="http://schemas.openxmlformats.org/officeDocument/2006/relationships" id="257" r:id="Raf2a60aa75e445f3"/>
    <p:sldId xmlns:r="http://schemas.openxmlformats.org/officeDocument/2006/relationships" id="258" r:id="R51e85d6a01a24158"/>
    <p:sldId xmlns:r="http://schemas.openxmlformats.org/officeDocument/2006/relationships" id="259" r:id="R24755f169cc047db"/>
    <p:sldId xmlns:r="http://schemas.openxmlformats.org/officeDocument/2006/relationships" id="260" r:id="R1647ac5a7a244f36"/>
    <p:sldId xmlns:r="http://schemas.openxmlformats.org/officeDocument/2006/relationships" id="261" r:id="Rffcfe1ae948e4a4e"/>
    <p:sldId xmlns:r="http://schemas.openxmlformats.org/officeDocument/2006/relationships" id="262" r:id="R43e6734cad9c488c"/>
    <p:sldId xmlns:r="http://schemas.openxmlformats.org/officeDocument/2006/relationships" id="263" r:id="R00a427addec24fc9"/>
    <p:sldId xmlns:r="http://schemas.openxmlformats.org/officeDocument/2006/relationships" id="264" r:id="R29c28d28846c40eb"/>
    <p:sldId xmlns:r="http://schemas.openxmlformats.org/officeDocument/2006/relationships" id="265" r:id="R72cea14ca9af4626"/>
    <p:sldId xmlns:r="http://schemas.openxmlformats.org/officeDocument/2006/relationships" id="266" r:id="Reaec0b4253414ae8"/>
    <p:sldId xmlns:r="http://schemas.openxmlformats.org/officeDocument/2006/relationships" id="267" r:id="R2549e94064b44953"/>
    <p:sldId xmlns:r="http://schemas.openxmlformats.org/officeDocument/2006/relationships" id="268" r:id="Raeedb6cc177f491d"/>
    <p:sldId xmlns:r="http://schemas.openxmlformats.org/officeDocument/2006/relationships" id="269" r:id="Re9cfc71b1b114850"/>
    <p:sldId xmlns:r="http://schemas.openxmlformats.org/officeDocument/2006/relationships" id="270" r:id="R50495b7a4a35457d"/>
    <p:sldId xmlns:r="http://schemas.openxmlformats.org/officeDocument/2006/relationships" id="271" r:id="Rbe5e48aaf0164bcd"/>
    <p:sldId xmlns:r="http://schemas.openxmlformats.org/officeDocument/2006/relationships" id="272" r:id="R4daa8c172b9344f3"/>
    <p:sldId xmlns:r="http://schemas.openxmlformats.org/officeDocument/2006/relationships" id="273" r:id="Rf5cc40dd937848c8"/>
    <p:sldId xmlns:r="http://schemas.openxmlformats.org/officeDocument/2006/relationships" id="274" r:id="R7943bd471e804b3e"/>
    <p:sldId xmlns:r="http://schemas.openxmlformats.org/officeDocument/2006/relationships" id="275" r:id="R7fb032f60f844ace"/>
    <p:sldId xmlns:r="http://schemas.openxmlformats.org/officeDocument/2006/relationships" id="276" r:id="R13a5c171dfce49ed"/>
    <p:sldId xmlns:r="http://schemas.openxmlformats.org/officeDocument/2006/relationships" id="277" r:id="R4f1c7a9528f84862"/>
    <p:sldId xmlns:r="http://schemas.openxmlformats.org/officeDocument/2006/relationships" id="278" r:id="Rbeb071979f7b45a6"/>
    <p:sldId xmlns:r="http://schemas.openxmlformats.org/officeDocument/2006/relationships" id="279" r:id="R6a2b06622b8743fe"/>
    <p:sldId xmlns:r="http://schemas.openxmlformats.org/officeDocument/2006/relationships" id="280" r:id="R3989eab586c445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4d5eee3ab6494d" /><Relationship Type="http://schemas.openxmlformats.org/officeDocument/2006/relationships/slideMaster" Target="/ppt/slideMasters/slideMaster1.xml" Id="R366ecc89a23b466e" /><Relationship Type="http://schemas.openxmlformats.org/officeDocument/2006/relationships/notesMaster" Target="/ppt/notesMasters/notesMaster1.xml" Id="R65c0591b00a54d4d" /><Relationship Type="http://schemas.openxmlformats.org/officeDocument/2006/relationships/presProps" Target="/ppt/presProps.xml" Id="R3522e86c70cb4b7b" /><Relationship Type="http://schemas.openxmlformats.org/officeDocument/2006/relationships/viewProps" Target="/ppt/viewProps.xml" Id="R998c8e12dffa4e90" /><Relationship Type="http://schemas.openxmlformats.org/officeDocument/2006/relationships/tableStyles" Target="/ppt/tableStyles.xml" Id="Rd7c1e2b35bbe4dc4" /><Relationship Type="http://schemas.openxmlformats.org/officeDocument/2006/relationships/slide" Target="/ppt/slides/slide1.xml" Id="R008553cf4966494e" /><Relationship Type="http://schemas.openxmlformats.org/officeDocument/2006/relationships/slide" Target="/ppt/slides/slide2.xml" Id="Raf2a60aa75e445f3" /><Relationship Type="http://schemas.openxmlformats.org/officeDocument/2006/relationships/slide" Target="/ppt/slides/slide3.xml" Id="R51e85d6a01a24158" /><Relationship Type="http://schemas.openxmlformats.org/officeDocument/2006/relationships/slide" Target="/ppt/slides/slide4.xml" Id="R24755f169cc047db" /><Relationship Type="http://schemas.openxmlformats.org/officeDocument/2006/relationships/slide" Target="/ppt/slides/slide5.xml" Id="R1647ac5a7a244f36" /><Relationship Type="http://schemas.openxmlformats.org/officeDocument/2006/relationships/slide" Target="/ppt/slides/slide6.xml" Id="Rffcfe1ae948e4a4e" /><Relationship Type="http://schemas.openxmlformats.org/officeDocument/2006/relationships/slide" Target="/ppt/slides/slide7.xml" Id="R43e6734cad9c488c" /><Relationship Type="http://schemas.openxmlformats.org/officeDocument/2006/relationships/slide" Target="/ppt/slides/slide8.xml" Id="R00a427addec24fc9" /><Relationship Type="http://schemas.openxmlformats.org/officeDocument/2006/relationships/slide" Target="/ppt/slides/slide9.xml" Id="R29c28d28846c40eb" /><Relationship Type="http://schemas.openxmlformats.org/officeDocument/2006/relationships/slide" Target="/ppt/slides/slide10.xml" Id="R72cea14ca9af4626" /><Relationship Type="http://schemas.openxmlformats.org/officeDocument/2006/relationships/slide" Target="/ppt/slides/slide11.xml" Id="Reaec0b4253414ae8" /><Relationship Type="http://schemas.openxmlformats.org/officeDocument/2006/relationships/slide" Target="/ppt/slides/slide12.xml" Id="R2549e94064b44953" /><Relationship Type="http://schemas.openxmlformats.org/officeDocument/2006/relationships/slide" Target="/ppt/slides/slide13.xml" Id="Raeedb6cc177f491d" /><Relationship Type="http://schemas.openxmlformats.org/officeDocument/2006/relationships/slide" Target="/ppt/slides/slide14.xml" Id="Re9cfc71b1b114850" /><Relationship Type="http://schemas.openxmlformats.org/officeDocument/2006/relationships/slide" Target="/ppt/slides/slide15.xml" Id="R50495b7a4a35457d" /><Relationship Type="http://schemas.openxmlformats.org/officeDocument/2006/relationships/slide" Target="/ppt/slides/slide16.xml" Id="Rbe5e48aaf0164bcd" /><Relationship Type="http://schemas.openxmlformats.org/officeDocument/2006/relationships/slide" Target="/ppt/slides/slide17.xml" Id="R4daa8c172b9344f3" /><Relationship Type="http://schemas.openxmlformats.org/officeDocument/2006/relationships/slide" Target="/ppt/slides/slide18.xml" Id="Rf5cc40dd937848c8" /><Relationship Type="http://schemas.openxmlformats.org/officeDocument/2006/relationships/slide" Target="/ppt/slides/slide19.xml" Id="R7943bd471e804b3e" /><Relationship Type="http://schemas.openxmlformats.org/officeDocument/2006/relationships/slide" Target="/ppt/slides/slide20.xml" Id="R7fb032f60f844ace" /><Relationship Type="http://schemas.openxmlformats.org/officeDocument/2006/relationships/slide" Target="/ppt/slides/slide21.xml" Id="R13a5c171dfce49ed" /><Relationship Type="http://schemas.openxmlformats.org/officeDocument/2006/relationships/slide" Target="/ppt/slides/slide22.xml" Id="R4f1c7a9528f84862" /><Relationship Type="http://schemas.openxmlformats.org/officeDocument/2006/relationships/slide" Target="/ppt/slides/slide23.xml" Id="Rbeb071979f7b45a6" /><Relationship Type="http://schemas.openxmlformats.org/officeDocument/2006/relationships/slide" Target="/ppt/slides/slide24.xml" Id="R6a2b06622b8743fe" /><Relationship Type="http://schemas.openxmlformats.org/officeDocument/2006/relationships/slide" Target="/ppt/slides/slide25.xml" Id="R3989eab586c445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773e3b0a4c45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c93abaabd34b2a" /><Relationship Type="http://schemas.openxmlformats.org/officeDocument/2006/relationships/notesMaster" Target="/ppt/notesMasters/notesMaster1.xml" Id="R327643285f42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352bfbc77040c8" /><Relationship Type="http://schemas.openxmlformats.org/officeDocument/2006/relationships/notesMaster" Target="/ppt/notesMasters/notesMaster1.xml" Id="Rc98b979f758744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165d383544769" /><Relationship Type="http://schemas.openxmlformats.org/officeDocument/2006/relationships/notesMaster" Target="/ppt/notesMasters/notesMaster1.xml" Id="R3b420adb213c4a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02988b98c54fbc" /><Relationship Type="http://schemas.openxmlformats.org/officeDocument/2006/relationships/notesMaster" Target="/ppt/notesMasters/notesMaster1.xml" Id="R0f928be65b53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371238ac06490c" /><Relationship Type="http://schemas.openxmlformats.org/officeDocument/2006/relationships/notesMaster" Target="/ppt/notesMasters/notesMaster1.xml" Id="R715928c1c38141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72fa98856c4405" /><Relationship Type="http://schemas.openxmlformats.org/officeDocument/2006/relationships/notesMaster" Target="/ppt/notesMasters/notesMaster1.xml" Id="R2a21aeb8bf0244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3c7d591c8344c2" /><Relationship Type="http://schemas.openxmlformats.org/officeDocument/2006/relationships/notesMaster" Target="/ppt/notesMasters/notesMaster1.xml" Id="R8b8346a688ed4f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92af70ea8e4a8b" /><Relationship Type="http://schemas.openxmlformats.org/officeDocument/2006/relationships/notesMaster" Target="/ppt/notesMasters/notesMaster1.xml" Id="Rb42267d7895241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62f6ca049440d9" /><Relationship Type="http://schemas.openxmlformats.org/officeDocument/2006/relationships/notesMaster" Target="/ppt/notesMasters/notesMaster1.xml" Id="R08a9e76cd68547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865049e95442b6" /><Relationship Type="http://schemas.openxmlformats.org/officeDocument/2006/relationships/notesMaster" Target="/ppt/notesMasters/notesMaster1.xml" Id="R3dc586a6c1204e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84d6f82f2f47b1" /><Relationship Type="http://schemas.openxmlformats.org/officeDocument/2006/relationships/notesMaster" Target="/ppt/notesMasters/notesMaster1.xml" Id="R8c5f87df4db643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c70420c83b42c7" /><Relationship Type="http://schemas.openxmlformats.org/officeDocument/2006/relationships/notesMaster" Target="/ppt/notesMasters/notesMaster1.xml" Id="R4b79e183a0b241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7dfaaa77b4644e3" /><Relationship Type="http://schemas.openxmlformats.org/officeDocument/2006/relationships/notesMaster" Target="/ppt/notesMasters/notesMaster1.xml" Id="R87ca3f8273624f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d6fcd78fc8444e" /><Relationship Type="http://schemas.openxmlformats.org/officeDocument/2006/relationships/notesMaster" Target="/ppt/notesMasters/notesMaster1.xml" Id="R891dc4bbda6046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97a9e4c46b461c" /><Relationship Type="http://schemas.openxmlformats.org/officeDocument/2006/relationships/notesMaster" Target="/ppt/notesMasters/notesMaster1.xml" Id="R70054784976e4d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1eb7744d0744ab5" /><Relationship Type="http://schemas.openxmlformats.org/officeDocument/2006/relationships/notesMaster" Target="/ppt/notesMasters/notesMaster1.xml" Id="Rff99963e9f8340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c807e32cf94c87" /><Relationship Type="http://schemas.openxmlformats.org/officeDocument/2006/relationships/notesMaster" Target="/ppt/notesMasters/notesMaster1.xml" Id="Ra46fca9524644d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a56650c2514903" /><Relationship Type="http://schemas.openxmlformats.org/officeDocument/2006/relationships/notesMaster" Target="/ppt/notesMasters/notesMaster1.xml" Id="Re9b083a8ff1f48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dc739b8be64cdf" /><Relationship Type="http://schemas.openxmlformats.org/officeDocument/2006/relationships/notesMaster" Target="/ppt/notesMasters/notesMaster1.xml" Id="R311bc790fac748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8885610cec4dc6" /><Relationship Type="http://schemas.openxmlformats.org/officeDocument/2006/relationships/notesMaster" Target="/ppt/notesMasters/notesMaster1.xml" Id="R0d2743cd7d2341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8cb88a60504a23" /><Relationship Type="http://schemas.openxmlformats.org/officeDocument/2006/relationships/notesMaster" Target="/ppt/notesMasters/notesMaster1.xml" Id="R7a5bca48728b458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80204d6915463e" /><Relationship Type="http://schemas.openxmlformats.org/officeDocument/2006/relationships/notesMaster" Target="/ppt/notesMasters/notesMaster1.xml" Id="R93d205cc7d374ff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3ee977b9424ead" /><Relationship Type="http://schemas.openxmlformats.org/officeDocument/2006/relationships/notesMaster" Target="/ppt/notesMasters/notesMaster1.xml" Id="R86ff62a8b1e547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96629a004384ddf" /><Relationship Type="http://schemas.openxmlformats.org/officeDocument/2006/relationships/notesMaster" Target="/ppt/notesMasters/notesMaster1.xml" Id="Rb89c4cef4f9c496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160341f0a64863" /><Relationship Type="http://schemas.openxmlformats.org/officeDocument/2006/relationships/notesMaster" Target="/ppt/notesMasters/notesMaster1.xml" Id="R7d6828d7f561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cover page and Chapter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1.1 and 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1.3 and Table 1.1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2.8.1 to 2.8.3 and Table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2.8.4 and 2.8.5; Tables 2.6 and 2.7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Chapter 2 literature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Chapter 2 Sections 2.1.1 and 2.1.2, plus the corresponding reference entries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Chapter 2 Sections 2.1.3 and 2.1.4, plus the corresponding reference entries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2.3, 2.4 and 2.6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1.4.1 and 2.5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2.9 and 3.6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2.9, 3.6 and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2.8.7 and Figure 2.8 embedded image extracted directly from the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3.1, Figure 3.1b and Tables 3.1 to 3.2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3.3 and Figure 3.3 embedded image extracted directly from the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3.7 and Figures 3.7a and 3.8a; both embedded images extracted directly from the exact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3.7 and Figures 3.7b and 3.8b; both embedded images extracted directly from the exact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3.7 and Figures 3.7c and 3.8c; both embedded images extracted directly from the exact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3.7 and Figures 3.7d and 3.8d; both embedded images extracted directly from the exact report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5.1 and 5.3; Table 5.1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Sections 5.1 and 5.3; Tables 5.1 and 5.3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5.2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Section 5.2 and Table 5.2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abstract and Chapter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MANTIS_Final_Dissertation_FINAL_BACKUP_CURRENT_SAVED_STATE_2026-08-22_160017.docx, Chapter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b2831198464c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9efa9c2b14b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3a350ab1b4a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661ec5bde42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a8350dbae42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0a3b56e13341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a4ec03a7f46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c52b733e045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c53f41c2e4b6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14273b5ee4ae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38e092c51646a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4655FF-DD96-4A7A-AD19-6DE55273F3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F6608A-96EA-4877-AF8D-4F6C580F74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CC7F86-388B-4EE2-9D57-78F37914D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09C0929-1A61-45AD-A523-71FA64313F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03F982-885F-44B5-B4B4-3DEB3C34B2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FE6FE4-73AA-4131-BC50-98D8AA85E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B2E083-7397-4A05-A945-0CD8B658E8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0B0893-69E5-42BA-B37C-F60FE5EB9C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494CB6D-2055-4BF1-9E86-5272C612C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ECE348-E737-42ED-A518-2D0CE3CE4F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83752D3-92F2-42CB-9833-44F9D6CB7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01398E-E0E7-4880-A62D-06B245C379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B78146-BF43-42DE-B3EF-D9FFDF91D4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0BC6037-37B9-45B4-A2B7-71590D8065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CD44C2-303F-44C8-A713-0C5C36F322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8B6CA1-7C0D-48A8-A3C6-F428A3AE7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667DA48-2684-4ADA-807B-43894B6425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4129E44-9CCF-4C59-A520-F9C5CAB255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F673A8-8993-47C0-A03A-BBFF060F50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0D5894-A50E-4269-BE14-D94F409B9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5434B0-655F-4BB9-9B82-08C716FB5D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805A9F-9754-4C9C-81FF-785922B526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632722-021A-4880-9383-ADD410A539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717F386-8791-41E4-BA20-41D630B8DB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52DA92C-76E4-409E-BFE4-AB5A072BC8B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9F933D9-ED8C-4BCC-B8D5-F4EF17F9A4D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27DCD60-F530-49EA-9BEC-DC1895D4F2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1FFFAC6-C501-43ED-B13A-1665BF972C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0C011E5-D5FC-452F-8F69-1D698949F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407ABA-584F-4584-8633-83424A4DC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50F327B-D612-41F5-9002-E510520335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C77C5D-2E9A-4E9B-9F44-74E0C26001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3BB2DEB-E585-49C3-9AD8-1BFE30FB8F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2EA657B-B50E-4F18-9C55-87ACF21230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3DA61C8-392F-4A31-AFE4-4C4724D956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BE08675-7EBA-4A73-96BD-5CB828BEA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7426CC-7D81-4F23-810C-9F02F2E69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D98903A-BF64-4886-888A-80939291D2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F3C4F33-7909-4EE0-8603-9B9D9D70B9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379ACF0-8CEA-4B89-B33B-16C641CE56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CA4E1F-E2C3-43D3-8A24-ED9F933188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D00A2A2-6542-497B-9877-3A4E366AD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6BDD6-0E17-451C-85E2-F8533050D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4F54DBB-F978-42BA-A451-467B18F0E45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CF65CCB-B5D6-41D8-9B76-96539D81B8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40A631-1660-4678-BC40-1156911FCA1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BD88E99-0F4E-48D5-A32C-35114658E6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9982A8-145B-43BF-9566-E1ADF39D77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7E0251-1C4F-4048-8F56-20B48BC5E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CA3262-DE46-4723-9137-3721516D08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F13240-0AEE-4704-A1E9-B27B3561FF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B9D468-44A2-4D79-AC65-AFE9AB3CA9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1EA359-452D-41D7-86AC-5750B296A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3B77726-3B3D-4214-B523-95096C07D7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8C211B-0D26-4524-9502-6C58DAA555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296FC1-666E-4B69-A46C-33833492A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026160-AFA4-40A3-B763-FA0BEE07C1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906B8E-9F73-4A7F-A26B-543D483EC3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a60e46591b4561" /><Relationship Type="http://schemas.openxmlformats.org/officeDocument/2006/relationships/slideLayout" Target="/ppt/slideLayouts/slideLayout1.xml" Id="Ra92fa549aefd4403" /><Relationship Type="http://schemas.openxmlformats.org/officeDocument/2006/relationships/slideLayout" Target="/ppt/slideLayouts/slideLayout2.xml" Id="R12c02623a8914fe8" /><Relationship Type="http://schemas.openxmlformats.org/officeDocument/2006/relationships/slideLayout" Target="/ppt/slideLayouts/slideLayout3.xml" Id="Ra042d6a077a84048" /><Relationship Type="http://schemas.openxmlformats.org/officeDocument/2006/relationships/slideLayout" Target="/ppt/slideLayouts/slideLayout4.xml" Id="Rde70a10bd32245a8" /><Relationship Type="http://schemas.openxmlformats.org/officeDocument/2006/relationships/slideLayout" Target="/ppt/slideLayouts/slideLayout5.xml" Id="R70715fdd38454bcf" /><Relationship Type="http://schemas.openxmlformats.org/officeDocument/2006/relationships/slideLayout" Target="/ppt/slideLayouts/slideLayout6.xml" Id="R930c9ecd80134c0e" /><Relationship Type="http://schemas.openxmlformats.org/officeDocument/2006/relationships/slideLayout" Target="/ppt/slideLayouts/slideLayout7.xml" Id="R306dbc5b740e480c" /><Relationship Type="http://schemas.openxmlformats.org/officeDocument/2006/relationships/slideLayout" Target="/ppt/slideLayouts/slideLayout8.xml" Id="R5da0bf4f11ba413e" /><Relationship Type="http://schemas.openxmlformats.org/officeDocument/2006/relationships/slideLayout" Target="/ppt/slideLayouts/slideLayout9.xml" Id="R0170d18b29574b96" /><Relationship Type="http://schemas.openxmlformats.org/officeDocument/2006/relationships/slideLayout" Target="/ppt/slideLayouts/slideLayout10.xml" Id="Ra47dc070150141cc" /><Relationship Type="http://schemas.openxmlformats.org/officeDocument/2006/relationships/slideLayout" Target="/ppt/slideLayouts/slideLayout11.xml" Id="R89279d5b67b7403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5965B3A-1CE1-4F61-B7F0-E44A226E9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DC76CD-AD5D-45CC-86B3-080BDDFDA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AE815AA-94B4-4E21-A5C9-E11681DACAF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8/25/2026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C79748B-6FE3-4FE0-8C5B-0A098FF2656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15761C-5435-48A5-977C-60A1905D3B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2fa549aefd4403"/>
    <p:sldLayoutId xmlns:r="http://schemas.openxmlformats.org/officeDocument/2006/relationships" id="2147483650" r:id="R12c02623a8914fe8"/>
    <p:sldLayoutId xmlns:r="http://schemas.openxmlformats.org/officeDocument/2006/relationships" id="2147483651" r:id="Ra042d6a077a84048"/>
    <p:sldLayoutId xmlns:r="http://schemas.openxmlformats.org/officeDocument/2006/relationships" id="2147483652" r:id="Rde70a10bd32245a8"/>
    <p:sldLayoutId xmlns:r="http://schemas.openxmlformats.org/officeDocument/2006/relationships" id="2147483653" r:id="R70715fdd38454bcf"/>
    <p:sldLayoutId xmlns:r="http://schemas.openxmlformats.org/officeDocument/2006/relationships" id="2147483654" r:id="R930c9ecd80134c0e"/>
    <p:sldLayoutId xmlns:r="http://schemas.openxmlformats.org/officeDocument/2006/relationships" id="2147483655" r:id="R306dbc5b740e480c"/>
    <p:sldLayoutId xmlns:r="http://schemas.openxmlformats.org/officeDocument/2006/relationships" id="2147483656" r:id="R5da0bf4f11ba413e"/>
    <p:sldLayoutId xmlns:r="http://schemas.openxmlformats.org/officeDocument/2006/relationships" id="2147483657" r:id="R0170d18b29574b96"/>
    <p:sldLayoutId xmlns:r="http://schemas.openxmlformats.org/officeDocument/2006/relationships" id="2147483658" r:id="Ra47dc070150141cc"/>
    <p:sldLayoutId xmlns:r="http://schemas.openxmlformats.org/officeDocument/2006/relationships" id="2147483659" r:id="R89279d5b67b7403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cda5f314264913" /><Relationship Type="http://schemas.openxmlformats.org/officeDocument/2006/relationships/notesSlide" Target="/ppt/notesSlides/notesSlide1.xml" Id="R03deafcc1ccf47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115bbae2a84967" /><Relationship Type="http://schemas.openxmlformats.org/officeDocument/2006/relationships/notesSlide" Target="/ppt/notesSlides/notesSlide2.xml" Id="R9ad5075f4dca4e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a86f5c00084b03" /><Relationship Type="http://schemas.openxmlformats.org/officeDocument/2006/relationships/notesSlide" Target="/ppt/notesSlides/notesSlide3.xml" Id="R5bd18ee4ea2244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ac85c35c0248a0" /><Relationship Type="http://schemas.openxmlformats.org/officeDocument/2006/relationships/notesSlide" Target="/ppt/notesSlides/notesSlide4.xml" Id="R189a729e44b64c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fbeee32f354aec" /><Relationship Type="http://schemas.openxmlformats.org/officeDocument/2006/relationships/notesSlide" Target="/ppt/notesSlides/notesSlide5.xml" Id="Rc3b30c71424e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50541f5f62459c" /><Relationship Type="http://schemas.openxmlformats.org/officeDocument/2006/relationships/notesSlide" Target="/ppt/notesSlides/notesSlide6.xml" Id="Rd4b55ae6b19d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1a06563a4743cb" /><Relationship Type="http://schemas.openxmlformats.org/officeDocument/2006/relationships/notesSlide" Target="/ppt/notesSlides/notesSlide7.xml" Id="Re3a9ea33e26d4f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9b1af794dd84a1c" /><Relationship Type="http://schemas.openxmlformats.org/officeDocument/2006/relationships/notesSlide" Target="/ppt/notesSlides/notesSlide8.xml" Id="R503dfee5b74f40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b85d47b31d4eba" /><Relationship Type="http://schemas.openxmlformats.org/officeDocument/2006/relationships/notesSlide" Target="/ppt/notesSlides/notesSlide9.xml" Id="R15a6e93338d14b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7ac45eeb8f84213" /><Relationship Type="http://schemas.openxmlformats.org/officeDocument/2006/relationships/notesSlide" Target="/ppt/notesSlides/notesSlide10.xml" Id="Rc8c0e10fa1d14d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1f7324c5b3246f8" /><Relationship Type="http://schemas.openxmlformats.org/officeDocument/2006/relationships/notesSlide" Target="/ppt/notesSlides/notesSlide11.xml" Id="R1ab07635d63b4e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bb550ddfd94987" /><Relationship Type="http://schemas.openxmlformats.org/officeDocument/2006/relationships/notesSlide" Target="/ppt/notesSlides/notesSlide12.xml" Id="Race00e7f993f4f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9976987e4546c1" /><Relationship Type="http://schemas.openxmlformats.org/officeDocument/2006/relationships/image" Target="/ppt/media/image.png" Id="R0c27139cad124907" /><Relationship Type="http://schemas.openxmlformats.org/officeDocument/2006/relationships/notesSlide" Target="/ppt/notesSlides/notesSlide13.xml" Id="Re28e5baf26674a9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da564011474518" /><Relationship Type="http://schemas.openxmlformats.org/officeDocument/2006/relationships/image" Target="/ppt/media/image2.png" Id="R82f117ebcbd94a87" /><Relationship Type="http://schemas.openxmlformats.org/officeDocument/2006/relationships/notesSlide" Target="/ppt/notesSlides/notesSlide14.xml" Id="R765d53305cb244b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ae8146ad514107" /><Relationship Type="http://schemas.openxmlformats.org/officeDocument/2006/relationships/image" Target="/ppt/media/image3.png" Id="R743e473a21f04582" /><Relationship Type="http://schemas.openxmlformats.org/officeDocument/2006/relationships/notesSlide" Target="/ppt/notesSlides/notesSlide15.xml" Id="Ra64fa47ee6464c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4933f5a628490b" /><Relationship Type="http://schemas.openxmlformats.org/officeDocument/2006/relationships/image" Target="/ppt/media/image4.png" Id="R84905fe591f84553" /><Relationship Type="http://schemas.openxmlformats.org/officeDocument/2006/relationships/notesSlide" Target="/ppt/notesSlides/notesSlide16.xml" Id="R23e24914debd46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69eb715af64753" /><Relationship Type="http://schemas.openxmlformats.org/officeDocument/2006/relationships/image" Target="/ppt/media/image5.png" Id="Rc8e99ca384e24d93" /><Relationship Type="http://schemas.openxmlformats.org/officeDocument/2006/relationships/notesSlide" Target="/ppt/notesSlides/notesSlide17.xml" Id="R6fbff43bb84443b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b2433441d6495c" /><Relationship Type="http://schemas.openxmlformats.org/officeDocument/2006/relationships/image" Target="/ppt/media/image6.png" Id="R1a6ea990a3244794" /><Relationship Type="http://schemas.openxmlformats.org/officeDocument/2006/relationships/notesSlide" Target="/ppt/notesSlides/notesSlide18.xml" Id="R4960e574d23e4b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35c4efb9a84637" /><Relationship Type="http://schemas.openxmlformats.org/officeDocument/2006/relationships/image" Target="/ppt/media/image7.png" Id="Rb342f2415bcf45e1" /><Relationship Type="http://schemas.openxmlformats.org/officeDocument/2006/relationships/notesSlide" Target="/ppt/notesSlides/notesSlide19.xml" Id="R2f23f6a3635d43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a46806ffeb345a0" /><Relationship Type="http://schemas.openxmlformats.org/officeDocument/2006/relationships/notesSlide" Target="/ppt/notesSlides/notesSlide20.xml" Id="R49e477a0339d46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ba2cc76dde4f35" /><Relationship Type="http://schemas.openxmlformats.org/officeDocument/2006/relationships/notesSlide" Target="/ppt/notesSlides/notesSlide21.xml" Id="Rebfbb000b90f456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ee4ab7ef62429e" /><Relationship Type="http://schemas.openxmlformats.org/officeDocument/2006/relationships/notesSlide" Target="/ppt/notesSlides/notesSlide22.xml" Id="Rb3e56824038b4b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9ee9689d184692" /><Relationship Type="http://schemas.openxmlformats.org/officeDocument/2006/relationships/notesSlide" Target="/ppt/notesSlides/notesSlide23.xml" Id="R57ba2c3e375c47f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bac2d68ed94c82" /><Relationship Type="http://schemas.openxmlformats.org/officeDocument/2006/relationships/notesSlide" Target="/ppt/notesSlides/notesSlide24.xml" Id="R748292e7efa74e3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4d97b2f7e046cd" /><Relationship Type="http://schemas.openxmlformats.org/officeDocument/2006/relationships/notesSlide" Target="/ppt/notesSlides/notesSlide25.xml" Id="R2df9214451bc40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72C369-2D94-4A79-8CB2-1A674BD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916B9A-A1C2-45E0-9D47-D93D56A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6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MANTIS</a:t>
            </a:r>
          </a:p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28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Minimalist Alert Network for Threat Intelligence System</a:t>
            </a:r>
          </a:p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9FB8D0"/>
                </a:solidFill>
                <a:latin typeface="Calibri"/>
                <a:ea typeface="Calibri"/>
                <a:cs typeface="Calibri"/>
              </a:rPr>
              <a:t>Final Dissertation Presentation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D65B99-3D41-4862-A162-8B913EA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10515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Dissertation  |  CSY4022</a:t>
            </a:r>
          </a:p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Anuskar Sigdel  |  24812606</a:t>
            </a:r>
          </a:p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BFD5E8"/>
                </a:solidFill>
                <a:latin typeface="Calibri"/>
                <a:ea typeface="Calibri"/>
                <a:cs typeface="Calibri"/>
              </a:rPr>
              <a:t>Supervisor: Nischal Khadka  |  University of Northampton  |  August 2026</a:t>
            </a:r>
          </a:p>
        </p:txBody>
      </p:sp>
    </p:spTree>
    <p:extLst>
      <p:ext uri="{BB962C8B-B14F-4D97-AF65-F5344CB8AC3E}">
        <p14:creationId xmlns:p14="http://schemas.microsoft.com/office/powerpoint/2010/main" val="16964211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487DD7-EB12-4F2E-A871-173C1A5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Introduction: Background and Rationale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a transparent low-footprint detector is needed on commodity Linux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CAF4BA-E444-4976-85CD-68FB09D7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64DD81-9B9D-4FC8-AE1B-611B45A9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Small Linux servers, IoT gateways and teaching hosts face scans, floods, malicious payloads and known-bad sources under limited resources.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Signature tools recognise documented attacks, while broader platforms can bring rule, service and infrastructure overhead.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High laboratory accuracy alone does not prove operational suitability because traffic distribution, latency and resource use can change.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investigates whether five understandable methods can operate together without external Python runtime packages.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Every alert retains visible features, thresholds or learned state so an administrator can review why it was raised.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5834F4-F528-482C-9A71-4C4ED90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516260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60B3F9E-7E3F-4E79-971E-B4BB54DB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Aim and Objectives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One aim supported by six measurable and testable objectives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FBA89D-7AC8-4989-AFAE-B04D14FF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8171E0-3C3B-4929-85CC-822D5B5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Aim: design, implement and critically evaluate a transparent, low-footprint host NIDS for commodity Linux using no external Python runtime packages.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Specify traceable detection, persistence and response requirements with acceptance evidence.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Implement five inspectable engines behind one analyse, train and brain-state contract.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Integrate live or PCAP capture, parsing, bounded queues, alerts, SIEM evidence and policy-gated response.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Validate training data and evaluate software behaviour separately from wider detection accuracy.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Compare MANTIS with Snort, Suricata, Zeek and Wazuh while stating Linux, plaintext and laboratory limits.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1EFCECC-6739-4693-8FE0-7F2AED0E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992588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89DEC2-D6BA-47A8-A786-AC7F5D2D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Requirements: Problem and Solutions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Requirement engineering links the problem domain to a justified implementation choice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B94B85C-6C23-4153-BD2D-5AF1F9EB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25880"/>
          <a:ext xmlns:a="http://schemas.openxmlformats.org/drawingml/2006/main" cx="11155680" cy="38404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93776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Engineering option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Why it was considered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  <a:ea typeface="Calibri"/>
                          <a:cs typeface="Calibri"/>
                        </a:rPr>
                        <a:t>Decision for MANTIS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Problem domain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Constrained Linux hosts need explainable monitoring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Five complementary transparent methods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Proposed solution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One compact capture-to-response workflow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Python Standard Library prototype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Snort / Suricata extension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Mature packet inspection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Not selected: shifts work to external engine integration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ML framework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Faster access to complex models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Not selected: adds dependencies and hides first-principles logic</a:t>
                      </a:r>
                    </a:p>
                  </a:txBody>
                  <a:tcPr marL="91440" marR="91440" marT="45720" marB="45720"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Wazuh deployment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Broad endpoint management and response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Not selected: wider and heavier than the single-host research aim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1CF611F-D43C-42D6-81D0-62208FEF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48640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selected strategy is justified for the dissertation aim, not presented as the best choice for every deployment.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6598432-BCC7-4EC7-9E9D-FAC9FEA8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988006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32DA523-7BE0-4728-9DE8-D50A6A08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Functional and Non-Functional Requirements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Required behaviours are paired with operational qualities and safety constraints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86F0959-239B-4081-A8BB-E5F6C5D5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BEB495-BBD3-45BE-A3BF-DB426AF4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Functional: capture live Ethernet or finite PCAP input, parse supported protocols and continue safely past malformed frames.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Functional: run five engines through a common Verdict, train applicable models and persist compatible JSON brain state.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Functional: construct auditable alerts, publish local SIEM data, export evidence and gate iptables response through explicit policy.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Non-functional: preserve transparency, Standard Library portability, modular maintainability and reproducible configuration and test evidence.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Non-functional: bound queues and retention, redact sensitive content, disable defence by default and handle failures without terminating analysis.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7642FA4-88A1-449D-ACB1-C2CB864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150571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72C369-2D94-4A79-8CB2-1A674BD6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916B9A-A1C2-45E0-9D47-D93D56AF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5156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Review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ED65B99-3D41-4862-A162-8B913EA3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1051560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64211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Review: Recent Evidence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Report papers ordered from newest to oldest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2024 | Halvorsen et al. | </a:t>
            </a:r>
            <a:r>
              <a:rPr sz="1688" i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Applying Generative Machine Learning to Intrusion Detection: A Systematic Mapping Study and Review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Keywords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generative ML, scarce data, class imbalance, fidelity metrics, deployment gap.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MANTIS link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motivated transparent edge detection with measurable runtime evidence.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2023 | Neto et al. | </a:t>
            </a:r>
            <a:r>
              <a:rPr sz="1688" i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CICIoT2023: A Real Time Dataset and Benchmark for Large Scale Attacks in IoT Environment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Keywords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105 IoT devices, 33 attacks, benchmark dataset, schema validation.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MANTIS link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provided external data, while MANTIS validates engine-native features and separates prepared records from raw capture.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Literature Review: Key Comparisons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remaining report papers continue in descending year order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2023 | Hidayat et al. | </a:t>
            </a:r>
            <a:r>
              <a:rPr sz="1688" i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Machine Learning Based Intrusion Detection System: An Experimental Comparison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Keywords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TON_IoT, KNN, model comparison, multiple metrics, computational cost.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MANTIS link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supported a scan-focused KNN engine and per-engine evaluation rather than one universal classifier.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75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2022 | Kus et al. | </a:t>
            </a:r>
            <a:r>
              <a:rPr sz="1688" i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 False Sense of Security? Revisiting the State of Machine Learning Based Industrial Intrusion Detection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Keywords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withheld attacks, generalisation failure, inflated random-split accuracy, unknown attacks.</a:t>
            </a:r>
          </a:p>
          <a:p xmlns:a="http://schemas.openxmlformats.org/drawingml/2006/main">
            <a:pPr algn="l">
              <a:buNone/>
              <a:defRPr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 b="1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MANTIS link | </a:t>
            </a: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kept software test passes separate from field accuracy and framed K-Means as novelty detection, not proven zero-day detection.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Methodology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Constructive research builds, evaluates and critiques one traceable artefact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Requirements were derived from literature, comparable systems and the constrained Linux deployment context.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artefact was constructed, evaluated against those requirements and then critiqued within its tested boundaries.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Pragmatism selected evidence appropriate to the question: mathematical inspection, automated tests, metrics and architectural review.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Quantitative evidence includes test outcomes and per-engine confusion-matrix metrics; qualitative evidence is limited to structured usability and design critique.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Dataset origin, preprocessing, configuration, environment and commands are reported so claims remain reproducible and bounded.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247762-17DD-48FD-9B40-1EF95A41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Agile, Scrum and Kanban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the methodology was implemented during construction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842E7D-4A5C-45EE-BFD9-38C16CFB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A47988C-A877-43B8-84EB-5A7DCDD9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Agile | Incremental build-and-verify cycles refined thresholds, feature contracts and dataset mappings.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Scrum | Backlog, review and adaptation ideas were used without full solo-project ceremonies.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Kanban | Work in progress was limited to two coding cards and one testing card.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Evidence | Every card named a module, acceptance test and evidence file.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6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6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Feedback | Failed evaluation returned work to In Progress until evidence and implementation aligned.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750AE8-986D-4228-BEB6-2B98A498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8176781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FCD93-BCFC-4C8E-8281-5EE662A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7. Algorithm Definitions and Roles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method targets a different observable threat pattern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EE920D-29B6-4A2C-92F0-6ABCDE90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71600"/>
          <a:ext xmlns:a="http://schemas.openxmlformats.org/drawingml/2006/main" cx="11155680" cy="42062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2377440"/>
                <a:gridCol w="5120640"/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Definition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Used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MANTIS input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Deviation from an online mean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Volumetric flood anomaly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Packets per second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Vote of nearest labelled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Port-scan behaviour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Packet count and unique ports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 class probability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Malicious plaintext 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Privacy-limited tokens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Distance from learned centroids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Behavioural novelty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PPS and unique ports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Bloom Filter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Probabilistic set membership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Known-bad source reputation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Source IP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90914A-4925-46BE-B09E-8587F7E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Five distinct decision methods feed one common Verdict contract.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7A99F7-2FE4-4CB4-86FB-B1AFCDB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11110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FCD93-BCFC-4C8E-8281-5EE662A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8. Engine Implementation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Definitions become explicit state, calculations and decision rules in the system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2EE920D-29B6-4A2C-92F0-6ABCDE90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502920" y="1371600"/>
          <a:ext xmlns:a="http://schemas.openxmlformats.org/drawingml/2006/main" cx="11155680" cy="42062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2377440"/>
                <a:gridCol w="5120640"/>
              </a:tblGrid>
              <a:tr h="7010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Implementation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Stored state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Decision rule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Z-Score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Welford online mean and variance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Count, mean and M2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Alert when |z| &gt; 3 after warm-up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KNN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Scaled Euclidean distance and k=3 vote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Labelled vectors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Majority label plus vote confidence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Naive Bayes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Token priors and smoothed likelihoods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Class and token 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Malicious class above threshold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K-Means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Online mini-batch centroid update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Centroids and counts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Distance threshold; anomalies withheld</a:t>
                      </a:r>
                    </a:p>
                  </a:txBody>
                  <a:tcPr marL="91440" marR="91440" marT="45720" marB="45720"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Bloom Filter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Fixed bit array with multiple hashes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Bits and feed metadata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400" b="0">
                          <a:latin typeface="Calibri"/>
                          <a:ea typeface="Calibri"/>
                          <a:cs typeface="Calibri"/>
                        </a:rPr>
                        <a:t>Membership hit for source IP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290914A-4925-46BE-B09E-8587F7E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Training and compatible state are exported to a readable JSON brain and restored at startup.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B7A99F7-2FE4-4CB4-86FB-B1AFCDB6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911110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A9147F-1BF3-4D2C-BDC5-7076C719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9. System Analysis: Workflow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Capture, detection, evidence and optional response operate as one bounded path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61CE38-5FAF-488A-953D-D989C14C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7139cad124907"/>
          <a:stretch xmlns:a="http://schemas.openxmlformats.org/drawingml/2006/main"/>
        </p:blipFill>
        <p:spPr>
          <a:xfrm xmlns:a="http://schemas.openxmlformats.org/drawingml/2006/main">
            <a:off x="4232073" y="1143000"/>
            <a:ext cx="2906020" cy="5532119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A44E472-16A2-49CF-B20C-E2F1BC8B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329184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Labelled data trains supported engines and exports compatible brain state.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Live AF_PACKET frames or PCAP replay pass through one validated parser.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Five engines emit Verdict objects to one dispatcher for logs, SIEM and dashboard evidence.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53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53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Blocking remains disabled unless policy enables it; shutdown exports state and the forensic report.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82A2D62-6C9D-49C5-8953-290AC78E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4153891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97E678-1992-463F-BC02-DAEC1A4A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10. System Design: Use Cases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monitoring is separated from conditional active defence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64520F-B5DB-4424-B9AC-203F7139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117ebcbd94a87"/>
          <a:stretch xmlns:a="http://schemas.openxmlformats.org/drawingml/2006/main"/>
        </p:blipFill>
        <p:spPr>
          <a:xfrm xmlns:a="http://schemas.openxmlformats.org/drawingml/2006/main">
            <a:off x="2460186" y="1188720"/>
            <a:ext cx="7274617" cy="5440680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FBD1D95-6307-4BA7-A79B-1A5EA6CD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5950988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11. System Design: Class Model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Inheritance, composition and multiplicities show component ownership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e473a21f04582"/>
          <a:stretch xmlns:a="http://schemas.openxmlformats.org/drawingml/2006/main"/>
        </p:blipFill>
        <p:spPr>
          <a:xfrm xmlns:a="http://schemas.openxmlformats.org/drawingml/2006/main">
            <a:off x="1709928" y="1631655"/>
            <a:ext cx="8762337" cy="4417651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Design: Overview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Left: low-fidelity wireframe  |  Right: implemented mock-up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05fe591f84553"/>
          <a:stretch xmlns:a="http://schemas.openxmlformats.org/drawingml/2006/main"/>
        </p:blipFill>
        <p:spPr>
          <a:xfrm xmlns:a="http://schemas.openxmlformats.org/drawingml/2006/main">
            <a:off x="609600" y="1860945"/>
            <a:ext cx="10972800" cy="3688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Design: Packets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Left: low-fidelity wireframe  |  Right: implemented mock-up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99ca384e24d93"/>
          <a:stretch xmlns:a="http://schemas.openxmlformats.org/drawingml/2006/main"/>
        </p:blipFill>
        <p:spPr>
          <a:xfrm xmlns:a="http://schemas.openxmlformats.org/drawingml/2006/main">
            <a:off x="609600" y="1860945"/>
            <a:ext cx="10972800" cy="3688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Interface Design: Alerts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Left: low-fidelity wireframe  |  Right: implemented mock-up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ea990a3244794"/>
          <a:stretch xmlns:a="http://schemas.openxmlformats.org/drawingml/2006/main"/>
        </p:blipFill>
        <p:spPr>
          <a:xfrm xmlns:a="http://schemas.openxmlformats.org/drawingml/2006/main">
            <a:off x="609600" y="1860945"/>
            <a:ext cx="10972800" cy="3688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10E111E-3A5D-49A9-A4AD-11D3DE26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Architecture Interface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Left: low-fidelity wireframe  |  Right: implemented mock-up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789C077-51FA-496D-80FD-4DE9A51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CD95F9C-46A8-4785-B8AD-C9F4337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f2415bcf45e1"/>
          <a:stretch xmlns:a="http://schemas.openxmlformats.org/drawingml/2006/main"/>
        </p:blipFill>
        <p:spPr>
          <a:xfrm xmlns:a="http://schemas.openxmlformats.org/drawingml/2006/main">
            <a:off x="609600" y="1860945"/>
            <a:ext cx="10972800" cy="3688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906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32CF15-29C9-48BC-9D4B-63A76D7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Testing 1: Strategy and Unit Tests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Testing verifies specified behaviour before evaluation interprets accuracy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4ACE65-491E-4643-AE24-039F1DD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55B2D5-CB70-4334-B395-E9FC43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repository was re-executed with unittest discovery: 116 tests passed in 4.642 seconds on 20 August 2026.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layered strategy covers unit, integration, system, regression and training checks traced to FR and NFR identifiers.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Unit tests isolate engine mathematics, parser rules, configuration, privacy redaction, PCAP helpers and state serialisation.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Positive, negative, boundary and failure cases require attacks to be detected, normal input to remain normal and malformed input not to crash.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Synthetic frames and generated PCAP data make the checks repeatable without attacking an external network.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7501F-0ED5-4A3E-94B8-4B9229AC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2250954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32CF15-29C9-48BC-9D4B-63A76D7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Testing 2: Integration Checks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Internal white-box paths and external black-box behaviour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4ACE65-491E-4643-AE24-039F1DD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55B2D5-CB70-4334-B395-E9FC43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Integration path | PacketParser to engines, AlertDispatcher, logs, replay and packet storage.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White-box | Truncated-frame handling, scaling, deduplication, redaction and policy branches.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Black-box | CLI, UDP 9999, HTTP 8080, malformed datagrams and PCAP export.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System | Real UDP and HTTP services bind only on loopback during tests.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Firewall | A recording defence object verifies policy without changing the host firewall.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7501F-0ED5-4A3E-94B8-4B9229AC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2250954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32CF15-29C9-48BC-9D4B-63A76D7C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Testing 3: Algorithm-Specific Checks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engine is tested according to its own state and failure modes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A4ACE65-491E-4643-AE24-039F1DDE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755B2D5-CB70-4334-B395-E9FC4386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Z-Score | Warm-up, Welford stability, sustained flood detection and protection against baseline poisoning.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KNN | Scaled features, normal browsing, flood-versus-scan separation and low-volume stealth scans.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K-Means | Warm-up, familiar traffic, novelty distance and withholding anomalous centroid updates.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Naive Bayes | Benign payloads, malicious tokens and the single-token ADMIN safeguard.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Bloom Filter | Feed loading, membership, saturation and the no-false-negative property for inserted indicators.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7501F-0ED5-4A3E-94B8-4B9229AC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2250954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Results: Algorithm Accuracy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 domain-matched sets verify implementation, not unrestricted field accuracy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MCC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KNN port scan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Naive Bayes payload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0.9167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0.9565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0.9199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Z-Score flood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K-Means novelty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Bloom reputation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1.0000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4632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463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463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Naive Bayes missed one of twelve malicious payloads; the other engines were perfect on their small matched samples.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463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463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Scores are not directly comparable because each engine uses a separate dataset and decision problem.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8686DF9-7873-473F-96E5-D5F9A1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Results: Dataset Findings</a:t>
            </a:r>
          </a:p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Dataset scale and class balance change how accuracy evidence should be interpreted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3B9DCDD-B76C-4ECA-A485-747530DB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Table 3"/>
          <p:cNvGraphicFramePr/>
          <p:nvPr/>
        </p:nvGraphicFramePr>
        <p:xfrm>
          <a:off xmlns:a="http://schemas.openxmlformats.org/drawingml/2006/main" x="731520" y="1371600"/>
          <a:ext xmlns:a="http://schemas.openxmlformats.org/drawingml/2006/main" cx="10698480" cy="32918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Size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Key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Meaning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Limit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latin typeface="Calibri"/>
                          <a:ea typeface="Calibri"/>
                          <a:cs typeface="Calibri"/>
                        </a:rPr>
                        <a:t>Report source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Automated suite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116 tests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100% pass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Software behaviour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UDP socket warnings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Chapter 5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Matched engine 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173 samples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F1 0.9565 to 1.0000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Implementation checks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Small separate sets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Table 5.2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PCAP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13,159 frames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All engines fire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End-to-end replay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Controlled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Abstract</a:t>
                      </a:r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CIC-IoT2023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299,994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Prevalence 0.9761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Severe imbalance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 raw packet features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Abstract</a:t>
                      </a:r>
                      <a:endParaRPr/>
                    </a:p>
                  </a:txBody>
                  <a:tcPr marL="91440" marR="91440" marT="45720" marB="45720"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Always-positive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latin typeface="Calibri"/>
                          <a:ea typeface="Calibri"/>
                          <a:cs typeface="Calibri"/>
                        </a:rPr>
                        <a:t>Same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F1 0.9879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Headline F1 misleads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Trivial baseline</a:t>
                      </a: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Abstract</a:t>
                      </a:r>
                      <a:endParaRPr/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19BC0-290F-4AD3-B405-F1ED6895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388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388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Heavy-tailed rates violate a fixed three-sigma assumption; the report separates verified implementation from production-accuracy claims.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359200-3E05-47E7-88CE-020ED8D2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927412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3733AD-8F30-4B7C-8FB7-78793C8A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411480" tIns="109728" rIns="91440" bIns="45720" anchor="ctr"/>
          <a:lstStyle xmlns:a="http://schemas.openxmlformats.org/drawingml/2006/main"/>
          <a:p xmlns:a="http://schemas.openxmlformats.org/drawingml/2006/main">
            <a:pPr>
              <a:buNone/>
              <a:defRPr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CA25F2F-4B69-447D-97CB-456752B4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8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79180D2-2966-4594-A5D9-DFBEE1B6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meets its aim as a working, inspectable host detector for commodity Linux within the stated laboratory scope.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Five Standard Library engines share one capture, Verdict, evidence, persistence and optional response pipeline.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All 116 automated tests passed, and small matched metrics confirm the intended algorithm paths.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The CIC-IoT2023 re-appraisal shows why prevalence, feature compatibility and algorithm assumptions must remain visible.</a:t>
            </a:r>
          </a:p>
          <a:p xmlns:a="http://schemas.openxmlformats.org/drawingml/2006/main">
            <a:pPr algn="l">
              <a:spcAft>
                <a:spcPts val="8"/>
              </a:spcAft>
              <a:buNone/>
              <a:defRPr sz="1800">
                <a:solidFill>
                  <a:srgbClr val="20202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202020"/>
                </a:solidFill>
                <a:latin typeface="Calibri"/>
                <a:ea typeface="Calibri"/>
                <a:cs typeface="Calibri"/>
              </a:rPr>
              <a:t>•  MANTIS is a transparent research prototype, not an enterprise IDS replacement or a claim of unrestricted field accuracy.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0F4F65C-140D-438B-B37B-8BF04EE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23560"/>
            <a:ext cx="111556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50" b="1">
                <a:solidFill>
                  <a:srgbClr val="1F3864"/>
                </a:solidFill>
                <a:latin typeface="Calibri"/>
                <a:ea typeface="Calibri"/>
                <a:cs typeface="Calibri"/>
              </a:rPr>
              <a:t>Transparent implementation, traceable testing, honest evidence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883640F-0F45-4387-A704-63B6572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446520"/>
            <a:ext cx="822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404040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79761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2026-08-25T11:21:22.6260000Z</dcterms:created>
  <dcterms:modified xsi:type="dcterms:W3CDTF">2026-08-25T11:21:22.6260000Z</dcterms:modified>
</coreProperties>
</file>