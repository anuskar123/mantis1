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5396fee7f44ecd" /><Relationship Type="http://schemas.openxmlformats.org/officeDocument/2006/relationships/extended-properties" Target="/docProps/app.xml" Id="Rd3bf33e87f794ec1" /><Relationship Type="http://schemas.openxmlformats.org/officeDocument/2006/relationships/officeDocument" Target="/ppt/presentation.xml" Id="Ree28257d3e5541de" /></Relationships>
</file>

<file path=ppt/presentation.xml><?xml version="1.0" encoding="utf-8"?>
<p:presentation xmlns:p="http://schemas.openxmlformats.org/presentationml/2006/main">
  <p:sldMasterIdLst>
    <p:sldMasterId xmlns:r="http://schemas.openxmlformats.org/officeDocument/2006/relationships" id="2147483648" r:id="R9bdb158ed83044e3"/>
  </p:sldMasterIdLst>
  <p:notesMasterIdLst>
    <p:notesMasterId xmlns:r="http://schemas.openxmlformats.org/officeDocument/2006/relationships" r:id="Rcf46335677b644bd"/>
  </p:notesMasterIdLst>
  <p:sldIdLst>
    <p:sldId xmlns:r="http://schemas.openxmlformats.org/officeDocument/2006/relationships" id="256" r:id="R4c6215333ca5482a"/>
    <p:sldId xmlns:r="http://schemas.openxmlformats.org/officeDocument/2006/relationships" id="257" r:id="R1fa2e9b3d98e4d0d"/>
    <p:sldId xmlns:r="http://schemas.openxmlformats.org/officeDocument/2006/relationships" id="258" r:id="Rdac5f6d7d2da4cf0"/>
    <p:sldId xmlns:r="http://schemas.openxmlformats.org/officeDocument/2006/relationships" id="259" r:id="R45f8496f239844a8"/>
    <p:sldId xmlns:r="http://schemas.openxmlformats.org/officeDocument/2006/relationships" id="260" r:id="Rcd35e9ff5ea24699"/>
    <p:sldId xmlns:r="http://schemas.openxmlformats.org/officeDocument/2006/relationships" id="261" r:id="Ra33b1ab873a844b9"/>
    <p:sldId xmlns:r="http://schemas.openxmlformats.org/officeDocument/2006/relationships" id="262" r:id="R96e8d287543f44ec"/>
    <p:sldId xmlns:r="http://schemas.openxmlformats.org/officeDocument/2006/relationships" id="263" r:id="Ra0a7f29428ee4f42"/>
    <p:sldId xmlns:r="http://schemas.openxmlformats.org/officeDocument/2006/relationships" id="264" r:id="Rcefc4e045dff469f"/>
    <p:sldId xmlns:r="http://schemas.openxmlformats.org/officeDocument/2006/relationships" id="265" r:id="Ra5afb811ee0d4a98"/>
    <p:sldId xmlns:r="http://schemas.openxmlformats.org/officeDocument/2006/relationships" id="266" r:id="Rd5ff9f09103c4b34"/>
    <p:sldId xmlns:r="http://schemas.openxmlformats.org/officeDocument/2006/relationships" id="267" r:id="R78f5565672014d47"/>
    <p:sldId xmlns:r="http://schemas.openxmlformats.org/officeDocument/2006/relationships" id="268" r:id="R3a83ceea5ee9481b"/>
    <p:sldId xmlns:r="http://schemas.openxmlformats.org/officeDocument/2006/relationships" id="269" r:id="R0001ed9d67644714"/>
    <p:sldId xmlns:r="http://schemas.openxmlformats.org/officeDocument/2006/relationships" id="270" r:id="R9e31c8a84d9845f9"/>
    <p:sldId xmlns:r="http://schemas.openxmlformats.org/officeDocument/2006/relationships" id="271" r:id="R426b6fae28704ac9"/>
    <p:sldId xmlns:r="http://schemas.openxmlformats.org/officeDocument/2006/relationships" id="272" r:id="R3e1cb153c0a74f02"/>
    <p:sldId xmlns:r="http://schemas.openxmlformats.org/officeDocument/2006/relationships" id="273" r:id="R9f191f92a8cc48a6"/>
    <p:sldId xmlns:r="http://schemas.openxmlformats.org/officeDocument/2006/relationships" id="274" r:id="R2d66a1cccbd64168"/>
    <p:sldId xmlns:r="http://schemas.openxmlformats.org/officeDocument/2006/relationships" id="275" r:id="Rb514167ed7fd4d6b"/>
    <p:sldId xmlns:r="http://schemas.openxmlformats.org/officeDocument/2006/relationships" id="276" r:id="Radbdb582855446f0"/>
    <p:sldId xmlns:r="http://schemas.openxmlformats.org/officeDocument/2006/relationships" id="277" r:id="R3c7dd719a24a45de"/>
    <p:sldId xmlns:r="http://schemas.openxmlformats.org/officeDocument/2006/relationships" id="278" r:id="R0a85c63dc17e481c"/>
    <p:sldId xmlns:r="http://schemas.openxmlformats.org/officeDocument/2006/relationships" id="279" r:id="Rc9071a021f2e4e54"/>
    <p:sldId xmlns:r="http://schemas.openxmlformats.org/officeDocument/2006/relationships" id="280" r:id="R3f3d4c68c49246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47b1769c1d44869" /><Relationship Type="http://schemas.openxmlformats.org/officeDocument/2006/relationships/slideMaster" Target="/ppt/slideMasters/slideMaster1.xml" Id="R9bdb158ed83044e3" /><Relationship Type="http://schemas.openxmlformats.org/officeDocument/2006/relationships/notesMaster" Target="/ppt/notesMasters/notesMaster1.xml" Id="Rcf46335677b644bd" /><Relationship Type="http://schemas.openxmlformats.org/officeDocument/2006/relationships/presProps" Target="/ppt/presProps.xml" Id="R8a65473f6c3e44a1" /><Relationship Type="http://schemas.openxmlformats.org/officeDocument/2006/relationships/viewProps" Target="/ppt/viewProps.xml" Id="R4945e09243b048a9" /><Relationship Type="http://schemas.openxmlformats.org/officeDocument/2006/relationships/tableStyles" Target="/ppt/tableStyles.xml" Id="Ra652624d3aa341ad" /><Relationship Type="http://schemas.openxmlformats.org/officeDocument/2006/relationships/slide" Target="/ppt/slides/slide1.xml" Id="R4c6215333ca5482a" /><Relationship Type="http://schemas.openxmlformats.org/officeDocument/2006/relationships/slide" Target="/ppt/slides/slide2.xml" Id="R1fa2e9b3d98e4d0d" /><Relationship Type="http://schemas.openxmlformats.org/officeDocument/2006/relationships/slide" Target="/ppt/slides/slide3.xml" Id="Rdac5f6d7d2da4cf0" /><Relationship Type="http://schemas.openxmlformats.org/officeDocument/2006/relationships/slide" Target="/ppt/slides/slide4.xml" Id="R45f8496f239844a8" /><Relationship Type="http://schemas.openxmlformats.org/officeDocument/2006/relationships/slide" Target="/ppt/slides/slide5.xml" Id="Rcd35e9ff5ea24699" /><Relationship Type="http://schemas.openxmlformats.org/officeDocument/2006/relationships/slide" Target="/ppt/slides/slide6.xml" Id="Ra33b1ab873a844b9" /><Relationship Type="http://schemas.openxmlformats.org/officeDocument/2006/relationships/slide" Target="/ppt/slides/slide7.xml" Id="R96e8d287543f44ec" /><Relationship Type="http://schemas.openxmlformats.org/officeDocument/2006/relationships/slide" Target="/ppt/slides/slide8.xml" Id="Ra0a7f29428ee4f42" /><Relationship Type="http://schemas.openxmlformats.org/officeDocument/2006/relationships/slide" Target="/ppt/slides/slide9.xml" Id="Rcefc4e045dff469f" /><Relationship Type="http://schemas.openxmlformats.org/officeDocument/2006/relationships/slide" Target="/ppt/slides/slide10.xml" Id="Ra5afb811ee0d4a98" /><Relationship Type="http://schemas.openxmlformats.org/officeDocument/2006/relationships/slide" Target="/ppt/slides/slide11.xml" Id="Rd5ff9f09103c4b34" /><Relationship Type="http://schemas.openxmlformats.org/officeDocument/2006/relationships/slide" Target="/ppt/slides/slide12.xml" Id="R78f5565672014d47" /><Relationship Type="http://schemas.openxmlformats.org/officeDocument/2006/relationships/slide" Target="/ppt/slides/slide13.xml" Id="R3a83ceea5ee9481b" /><Relationship Type="http://schemas.openxmlformats.org/officeDocument/2006/relationships/slide" Target="/ppt/slides/slide14.xml" Id="R0001ed9d67644714" /><Relationship Type="http://schemas.openxmlformats.org/officeDocument/2006/relationships/slide" Target="/ppt/slides/slide15.xml" Id="R9e31c8a84d9845f9" /><Relationship Type="http://schemas.openxmlformats.org/officeDocument/2006/relationships/slide" Target="/ppt/slides/slide16.xml" Id="R426b6fae28704ac9" /><Relationship Type="http://schemas.openxmlformats.org/officeDocument/2006/relationships/slide" Target="/ppt/slides/slide17.xml" Id="R3e1cb153c0a74f02" /><Relationship Type="http://schemas.openxmlformats.org/officeDocument/2006/relationships/slide" Target="/ppt/slides/slide18.xml" Id="R9f191f92a8cc48a6" /><Relationship Type="http://schemas.openxmlformats.org/officeDocument/2006/relationships/slide" Target="/ppt/slides/slide19.xml" Id="R2d66a1cccbd64168" /><Relationship Type="http://schemas.openxmlformats.org/officeDocument/2006/relationships/slide" Target="/ppt/slides/slide20.xml" Id="Rb514167ed7fd4d6b" /><Relationship Type="http://schemas.openxmlformats.org/officeDocument/2006/relationships/slide" Target="/ppt/slides/slide21.xml" Id="Radbdb582855446f0" /><Relationship Type="http://schemas.openxmlformats.org/officeDocument/2006/relationships/slide" Target="/ppt/slides/slide22.xml" Id="R3c7dd719a24a45de" /><Relationship Type="http://schemas.openxmlformats.org/officeDocument/2006/relationships/slide" Target="/ppt/slides/slide23.xml" Id="R0a85c63dc17e481c" /><Relationship Type="http://schemas.openxmlformats.org/officeDocument/2006/relationships/slide" Target="/ppt/slides/slide24.xml" Id="Rc9071a021f2e4e54" /><Relationship Type="http://schemas.openxmlformats.org/officeDocument/2006/relationships/slide" Target="/ppt/slides/slide25.xml" Id="R3f3d4c68c49246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3429e69eae49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53a889170b4cd1" /><Relationship Type="http://schemas.openxmlformats.org/officeDocument/2006/relationships/notesMaster" Target="/ppt/notesMasters/notesMaster1.xml" Id="Ra4b58cb0ad0e41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988e4659b74231" /><Relationship Type="http://schemas.openxmlformats.org/officeDocument/2006/relationships/notesMaster" Target="/ppt/notesMasters/notesMaster1.xml" Id="R5bb940ce635c47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aab781a36948ff" /><Relationship Type="http://schemas.openxmlformats.org/officeDocument/2006/relationships/notesMaster" Target="/ppt/notesMasters/notesMaster1.xml" Id="R2c30a8104c2a4d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5d114922b9488d" /><Relationship Type="http://schemas.openxmlformats.org/officeDocument/2006/relationships/notesMaster" Target="/ppt/notesMasters/notesMaster1.xml" Id="R8e4df21b423243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fbcbf0d9114aca" /><Relationship Type="http://schemas.openxmlformats.org/officeDocument/2006/relationships/notesMaster" Target="/ppt/notesMasters/notesMaster1.xml" Id="R470ccb4c18b84e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14fc9ed1bf4322" /><Relationship Type="http://schemas.openxmlformats.org/officeDocument/2006/relationships/notesMaster" Target="/ppt/notesMasters/notesMaster1.xml" Id="R5336fe1f9ad142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2fe1786212436b" /><Relationship Type="http://schemas.openxmlformats.org/officeDocument/2006/relationships/notesMaster" Target="/ppt/notesMasters/notesMaster1.xml" Id="Rc829a6a41cab4c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d4ece8eead42be" /><Relationship Type="http://schemas.openxmlformats.org/officeDocument/2006/relationships/notesMaster" Target="/ppt/notesMasters/notesMaster1.xml" Id="Rc0017087c71840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4dec8c58844f20" /><Relationship Type="http://schemas.openxmlformats.org/officeDocument/2006/relationships/notesMaster" Target="/ppt/notesMasters/notesMaster1.xml" Id="Rf965bb60d77846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c1e0d86a464a49" /><Relationship Type="http://schemas.openxmlformats.org/officeDocument/2006/relationships/notesMaster" Target="/ppt/notesMasters/notesMaster1.xml" Id="R5be774b7336e4f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04703bcb9d447a" /><Relationship Type="http://schemas.openxmlformats.org/officeDocument/2006/relationships/notesMaster" Target="/ppt/notesMasters/notesMaster1.xml" Id="R49f8e5ccf03b4e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24cad431fd4d8d" /><Relationship Type="http://schemas.openxmlformats.org/officeDocument/2006/relationships/notesMaster" Target="/ppt/notesMasters/notesMaster1.xml" Id="R6c8f94d2f33343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13148bb6384c76" /><Relationship Type="http://schemas.openxmlformats.org/officeDocument/2006/relationships/notesMaster" Target="/ppt/notesMasters/notesMaster1.xml" Id="R0bd51855e10644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bf88ce9f104343" /><Relationship Type="http://schemas.openxmlformats.org/officeDocument/2006/relationships/notesMaster" Target="/ppt/notesMasters/notesMaster1.xml" Id="R79ce140be3da45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b73b59ee844437" /><Relationship Type="http://schemas.openxmlformats.org/officeDocument/2006/relationships/notesMaster" Target="/ppt/notesMasters/notesMaster1.xml" Id="Rd84a259ef0554cb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7e45bcdaea49a0" /><Relationship Type="http://schemas.openxmlformats.org/officeDocument/2006/relationships/notesMaster" Target="/ppt/notesMasters/notesMaster1.xml" Id="Rcfa488de7dc148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354d867805a488b" /><Relationship Type="http://schemas.openxmlformats.org/officeDocument/2006/relationships/notesMaster" Target="/ppt/notesMasters/notesMaster1.xml" Id="R06c88390a0184e6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67ddc5595424050" /><Relationship Type="http://schemas.openxmlformats.org/officeDocument/2006/relationships/notesMaster" Target="/ppt/notesMasters/notesMaster1.xml" Id="R2ab96faf005f49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28578b8d0694dc5" /><Relationship Type="http://schemas.openxmlformats.org/officeDocument/2006/relationships/notesMaster" Target="/ppt/notesMasters/notesMaster1.xml" Id="R25c796fe4329404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50d14463664428a" /><Relationship Type="http://schemas.openxmlformats.org/officeDocument/2006/relationships/notesMaster" Target="/ppt/notesMasters/notesMaster1.xml" Id="R0f162e2a5bec4a6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2e7ca72345b462e" /><Relationship Type="http://schemas.openxmlformats.org/officeDocument/2006/relationships/notesMaster" Target="/ppt/notesMasters/notesMaster1.xml" Id="Ra8ec2a8aab884a4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7789993d20d459e" /><Relationship Type="http://schemas.openxmlformats.org/officeDocument/2006/relationships/notesMaster" Target="/ppt/notesMasters/notesMaster1.xml" Id="R71f256c14b4249d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b722338852143d3" /><Relationship Type="http://schemas.openxmlformats.org/officeDocument/2006/relationships/notesMaster" Target="/ppt/notesMasters/notesMaster1.xml" Id="R40e5ec3b18044dc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1ca1caa501d44f6" /><Relationship Type="http://schemas.openxmlformats.org/officeDocument/2006/relationships/notesMaster" Target="/ppt/notesMasters/notesMaster1.xml" Id="Rffe6e61b91a643f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579655d93e94249" /><Relationship Type="http://schemas.openxmlformats.org/officeDocument/2006/relationships/notesMaster" Target="/ppt/notesMasters/notesMaster1.xml" Id="R90e3a92ca1d546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OVERVIEW TAB</a:t>
            </a:r>
          </a:p>
          <a:p xmlns:a="http://schemas.openxmlformats.org/drawingml/2006/main">
            <a:r>
              <a:t/>
            </a:r>
          </a:p>
          <a:p xmlns:a="http://schemas.openxmlformats.org/drawingml/2006/main">
            <a:r>
              <a:t>1. Start the dashboard and say that this page is the one-screen operational summary. It refreshes approximately once per second.</a:t>
            </a:r>
          </a:p>
          <a:p xmlns:a="http://schemas.openxmlformats.org/drawingml/2006/main">
            <a:r>
              <a:t/>
            </a:r>
          </a:p>
          <a:p xmlns:a="http://schemas.openxmlformats.org/drawingml/2006/main">
            <a:r>
              <a:t>2. CPU load is whole-host Linux CPU usage, not only the MANTIS process. The dashboard reads the first CPU line in /proc/stat, compares total and idle counters with the previous reading, and calculates busy time as a percentage of the elapsed total. A brief spike means the host was busy during that refresh interval.</a:t>
            </a:r>
          </a:p>
          <a:p xmlns:a="http://schemas.openxmlformats.org/drawingml/2006/main">
            <a:r>
              <a:t/>
            </a:r>
          </a:p>
          <a:p xmlns:a="http://schemas.openxmlformats.org/drawingml/2006/main">
            <a:r>
              <a:t>3. Memory is also whole-host usage. It reads MemTotal and MemAvailable from /proc/meminfo and calculates (MemTotal minus MemAvailable) divided by MemTotal. Do not present this card as MANTIS-only RAM usage. If the examiner asks for MANTIS process overhead, use ps with PID, percent CPU, RSS, elapsed time and command; RSS is reported in KiB and can be divided by 1024 for MiB.</a:t>
            </a:r>
          </a:p>
          <a:p xmlns:a="http://schemas.openxmlformats.org/drawingml/2006/main">
            <a:r>
              <a:t/>
            </a:r>
          </a:p>
          <a:p xmlns:a="http://schemas.openxmlformats.org/drawingml/2006/main">
            <a:r>
              <a:t>4. Sensors Online counts sensor IP addresses whose most recent alert telemetry arrived within the last 60 seconds. It may show zero before the first alert because ordinary packets do not update that alert-based last-seen map.</a:t>
            </a:r>
          </a:p>
          <a:p xmlns:a="http://schemas.openxmlformats.org/drawingml/2006/main">
            <a:r>
              <a:t/>
            </a:r>
          </a:p>
          <a:p xmlns:a="http://schemas.openxmlformats.org/drawingml/2006/main">
            <a:r>
              <a:t>5. Threat Events is the number of alerts currently retained by the dashboard. The in-memory history is bounded to the newest 100 alerts, so this is not a lifetime counter and not a count of unique attackers.</a:t>
            </a:r>
          </a:p>
          <a:p xmlns:a="http://schemas.openxmlformats.org/drawingml/2006/main">
            <a:r>
              <a:t/>
            </a:r>
          </a:p>
          <a:p xmlns:a="http://schemas.openxmlformats.org/drawingml/2006/main">
            <a:r>
              <a:t>6. The report mock-up visually lists all five engines. In the current live stats endpoint, however, the dedicated counters are message-based DDoS, SCAN, PAYLOAD and BLACKLIST categories. K-Means anomalies can still appear in the event list, but they are not exposed as a separate live counter. State this mock-up-versus-implementation difference honestly if it appears during the demo.</a:t>
            </a:r>
          </a:p>
          <a:p xmlns:a="http://schemas.openxmlformats.org/drawingml/2006/main">
            <a:r>
              <a:t/>
            </a:r>
          </a:p>
          <a:p xmlns:a="http://schemas.openxmlformats.org/drawingml/2006/main">
            <a:r>
              <a:t>7. While demonstrating, create or replay a safe prepared event, point to the changed card and recent-event row, then explain that the same structured event can be inspected on the Alerts tab. If live traffic is quiet, use the prepared PCAP or JSON evidence rather than waiting.</a:t>
            </a:r>
          </a:p>
          <a:p xmlns:a="http://schemas.openxmlformats.org/drawingml/2006/main">
            <a:r>
              <a:t/>
            </a:r>
          </a:p>
          <a:p xmlns:a="http://schemas.openxmlformats.org/drawingml/2006/main">
            <a:r>
              <a:t>Suggested wording: This dashboard is an operator summary. CPU and memory describe the whole host, sensor status is based on recent alert telemetry, and the event cards summarize the bounded alert history.</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Section 3.7, Figures 3.7a and 3.8a</a:t>
            </a:r>
          </a:p>
          <a:p xmlns:a="http://schemas.openxmlformats.org/drawingml/2006/main">
            <a:r>
              <a:t>- src/dashboard_ui/siem.py, read_cpu_percent, read_mem_percent, api_stats and dashboard refresh logic</a:t>
            </a:r>
          </a:p>
          <a:p xmlns:a="http://schemas.openxmlformats.org/drawingml/2006/main">
            <a:r>
              <a:t>- TEST_GUIDE.md, process-level resource measurement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PACKETS TAB</a:t>
            </a:r>
          </a:p>
          <a:p xmlns:a="http://schemas.openxmlformats.org/drawingml/2006/main">
            <a:r>
              <a:t/>
            </a:r>
          </a:p>
          <a:p xmlns:a="http://schemas.openxmlformats.org/drawingml/2006/main">
            <a:r>
              <a:t>1. Explain that this tab is for packet evidence and traffic context, while the Alerts tab is for security decisions.</a:t>
            </a:r>
          </a:p>
          <a:p xmlns:a="http://schemas.openxmlformats.org/drawingml/2006/main">
            <a:r>
              <a:t/>
            </a:r>
          </a:p>
          <a:p xmlns:a="http://schemas.openxmlformats.org/drawingml/2006/main">
            <a:r>
              <a:t>2. The packet table uses a bounded ring buffer. Its default maximum is 5,000 packet records; when full, the oldest record is discarded automatically. This limits memory growth.</a:t>
            </a:r>
          </a:p>
          <a:p xmlns:a="http://schemas.openxmlformats.org/drawingml/2006/main">
            <a:r>
              <a:t/>
            </a:r>
          </a:p>
          <a:p xmlns:a="http://schemas.openxmlformats.org/drawingml/2006/main">
            <a:r>
              <a:t>3. PPS means packets per second for the most recent measurement interval. In the sensor loop, packet_count is accumulated and, roughly once per second, becomes the displayed PPS before the interval counters are reset.</a:t>
            </a:r>
          </a:p>
          <a:p xmlns:a="http://schemas.openxmlformats.org/drawingml/2006/main">
            <a:r>
              <a:t/>
            </a:r>
          </a:p>
          <a:p xmlns:a="http://schemas.openxmlformats.org/drawingml/2006/main">
            <a:r>
              <a:t>4. The baseline mean and Z-Score come from the online Z-Score engine. The score expresses how far current PPS is from its learned normal level in standard-deviation units after warm-up. It is evidence for the decision, not a probability.</a:t>
            </a:r>
          </a:p>
          <a:p xmlns:a="http://schemas.openxmlformats.org/drawingml/2006/main">
            <a:r>
              <a:t/>
            </a:r>
          </a:p>
          <a:p xmlns:a="http://schemas.openxmlformats.org/drawingml/2006/main">
            <a:r>
              <a:t>5. Protocol counts and total_seen are cumulative for the current process session. The buffered value is only the current capped ring-buffer length, so total_seen can keep increasing after buffered reaches 5,000.</a:t>
            </a:r>
          </a:p>
          <a:p xmlns:a="http://schemas.openxmlformats.org/drawingml/2006/main">
            <a:r>
              <a:t/>
            </a:r>
          </a:p>
          <a:p xmlns:a="http://schemas.openxmlformats.org/drawingml/2006/main">
            <a:r>
              <a:t>6. Use filters to isolate a protocol, source, destination or time of interest. Pause and auto-scroll change how the operator views the table; they do not stop packet capture or detection.</a:t>
            </a:r>
          </a:p>
          <a:p xmlns:a="http://schemas.openxmlformats.org/drawingml/2006/main">
            <a:r>
              <a:t/>
            </a:r>
          </a:p>
          <a:p xmlns:a="http://schemas.openxmlformats.org/drawingml/2006/main">
            <a:r>
              <a:t>7. Open one row and explain the metadata, bounded hexadecimal view and ASCII view. Then show that evidence can be exported as PCAP or JSON for later investigation.</a:t>
            </a:r>
          </a:p>
          <a:p xmlns:a="http://schemas.openxmlformats.org/drawingml/2006/main">
            <a:r>
              <a:t/>
            </a:r>
          </a:p>
          <a:p xmlns:a="http://schemas.openxmlformats.org/drawingml/2006/main">
            <a:r>
              <a:t>Suggested wording: Here I move from summary metrics to packet-level evidence. PPS and Z-Score describe the current interval, cumulative counters describe the session, and the bounded buffer keeps only recent inspectable records.</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Section 3.7, Figures 3.7b and 3.8b</a:t>
            </a:r>
          </a:p>
          <a:p xmlns:a="http://schemas.openxmlformats.org/drawingml/2006/main">
            <a:r>
              <a:t>- src/utils/packet_store.py, bounded deque, interval statistics, detail view and exports</a:t>
            </a:r>
          </a:p>
          <a:p xmlns:a="http://schemas.openxmlformats.org/drawingml/2006/main">
            <a:r>
              <a:t>- src/sensor_node/sensor.py, one-second PPS and feature interval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ALERTS TAB</a:t>
            </a:r>
          </a:p>
          <a:p xmlns:a="http://schemas.openxmlformats.org/drawingml/2006/main">
            <a:r>
              <a:t/>
            </a:r>
          </a:p>
          <a:p xmlns:a="http://schemas.openxmlformats.org/drawingml/2006/main">
            <a:r>
              <a:t>1. Select an alert and explain it from left to right: severity, dashboard receive time, sensor identity, detected source, ATT&amp;CK context, risk score and the human-readable decision message.</a:t>
            </a:r>
          </a:p>
          <a:p xmlns:a="http://schemas.openxmlformats.org/drawingml/2006/main">
            <a:r>
              <a:t/>
            </a:r>
          </a:p>
          <a:p xmlns:a="http://schemas.openxmlformats.org/drawingml/2006/main">
            <a:r>
              <a:t>2. The sensor sends structured JSON through UDP port 9999. The dashboard records the receive time and telemetry sender, then places the newest event first in a history capped at 100 items.</a:t>
            </a:r>
          </a:p>
          <a:p xmlns:a="http://schemas.openxmlformats.org/drawingml/2006/main">
            <a:r>
              <a:t/>
            </a:r>
          </a:p>
          <a:p xmlns:a="http://schemas.openxmlformats.org/drawingml/2006/main">
            <a:r>
              <a:t>3. Sensor and source are different. Sensor is the host that sent the telemetry; source is the network address identified in the detected packet or event.</a:t>
            </a:r>
          </a:p>
          <a:p xmlns:a="http://schemas.openxmlformats.org/drawingml/2006/main">
            <a:r>
              <a:t/>
            </a:r>
          </a:p>
          <a:p xmlns:a="http://schemas.openxmlformats.org/drawingml/2006/main">
            <a:r>
              <a:t>4. The dispatcher enriches each detection with a kind, MITRE ATT&amp;CK tactic and technique, severity, engine and risk. The message preserves the visible feature or rule that caused the decision so the operator can challenge it.</a:t>
            </a:r>
          </a:p>
          <a:p xmlns:a="http://schemas.openxmlformats.org/drawingml/2006/main">
            <a:r>
              <a:t/>
            </a:r>
          </a:p>
          <a:p xmlns:a="http://schemas.openxmlformats.org/drawingml/2006/main">
            <a:r>
              <a:t>5. Risk is not a probability of attack. It starts from the technique base score, is adjusted by confidence using base score multiplied by (0.7 plus 0.3 times confidence), and is clamped to 0 through 10. If confidence is absent, the base score is used.</a:t>
            </a:r>
          </a:p>
          <a:p xmlns:a="http://schemas.openxmlformats.org/drawingml/2006/main">
            <a:r>
              <a:t/>
            </a:r>
          </a:p>
          <a:p xmlns:a="http://schemas.openxmlformats.org/drawingml/2006/main">
            <a:r>
              <a:t>6. Show how severity or text filters reduce the list, then open one message and connect its wording to the responsible engine. For example, a scan alert should mention source behaviour and port diversity; a payload alert should name the payload decision rather than hide it behind a generic score.</a:t>
            </a:r>
          </a:p>
          <a:p xmlns:a="http://schemas.openxmlformats.org/drawingml/2006/main">
            <a:r>
              <a:t/>
            </a:r>
          </a:p>
          <a:p xmlns:a="http://schemas.openxmlformats.org/drawingml/2006/main">
            <a:r>
              <a:t>Suggested wording: The important part is traceability. I can identify which sensor reported the event, which source was detected, which engine decided it, the ATT&amp;CK context and the exact decision evidence.</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Section 3.7, Figures 3.7c and 3.8c</a:t>
            </a:r>
          </a:p>
          <a:p xmlns:a="http://schemas.openxmlformats.org/drawingml/2006/main">
            <a:r>
              <a:t>- src/alert_dispatcher/dispatcher.py and src/utils/logger.py, structured telemetry and alert flow</a:t>
            </a:r>
          </a:p>
          <a:p xmlns:a="http://schemas.openxmlformats.org/drawingml/2006/main">
            <a:r>
              <a:t>- src/utils/mitre.py, ATT&amp;CK enrichment, severity and risk calculation</a:t>
            </a:r>
          </a:p>
          <a:p xmlns:a="http://schemas.openxmlformats.org/drawingml/2006/main">
            <a:r>
              <a:t>- src/dashboard_ui/siem.py, UDP ingestion and bounded alert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ARCHITECTURE TAB AND END-TO-END FLOW</a:t>
            </a:r>
          </a:p>
          <a:p xmlns:a="http://schemas.openxmlformats.org/drawingml/2006/main">
            <a:r>
              <a:t/>
            </a:r>
          </a:p>
          <a:p xmlns:a="http://schemas.openxmlformats.org/drawingml/2006/main">
            <a:r>
              <a:t>1. Begin at capture. MANTIS receives live Ethernet frames through AF_PACKET or reads a controlled PCAP file.</a:t>
            </a:r>
          </a:p>
          <a:p xmlns:a="http://schemas.openxmlformats.org/drawingml/2006/main">
            <a:r>
              <a:t/>
            </a:r>
          </a:p>
          <a:p xmlns:a="http://schemas.openxmlformats.org/drawingml/2006/main">
            <a:r>
              <a:t>2. The parser validates supported protocol fields and converts raw frames into features. Malformed input is handled safely instead of terminating the analysis loop.</a:t>
            </a:r>
          </a:p>
          <a:p xmlns:a="http://schemas.openxmlformats.org/drawingml/2006/main">
            <a:r>
              <a:t/>
            </a:r>
          </a:p>
          <a:p xmlns:a="http://schemas.openxmlformats.org/drawingml/2006/main">
            <a:r>
              <a:t>3. Five engines examine complementary evidence: Z-Score for rate deviation, KNN for labelled traffic shape, Naive Bayes for payload tokens, K-Means for novelty distance and Bloom Filter for known-bad membership.</a:t>
            </a:r>
          </a:p>
          <a:p xmlns:a="http://schemas.openxmlformats.org/drawingml/2006/main">
            <a:r>
              <a:t/>
            </a:r>
          </a:p>
          <a:p xmlns:a="http://schemas.openxmlformats.org/drawingml/2006/main">
            <a:r>
              <a:t>4. Each engine returns the same Verdict contract. The engines do not write directly to the dashboard and do not change the firewall. The dispatcher is the controlled integration point.</a:t>
            </a:r>
          </a:p>
          <a:p xmlns:a="http://schemas.openxmlformats.org/drawingml/2006/main">
            <a:r>
              <a:t/>
            </a:r>
          </a:p>
          <a:p xmlns:a="http://schemas.openxmlformats.org/drawingml/2006/main">
            <a:r>
              <a:t>5. The dispatcher creates evidence for logs, UDP SIEM telemetry, dashboard display and the forensic report. This separation keeps detection, evidence and response auditable.</a:t>
            </a:r>
          </a:p>
          <a:p xmlns:a="http://schemas.openxmlformats.org/drawingml/2006/main">
            <a:r>
              <a:t/>
            </a:r>
          </a:p>
          <a:p xmlns:a="http://schemas.openxmlformats.org/drawingml/2006/main">
            <a:r>
              <a:t>6. Active response is optional and disabled by default. A source can be blocked only when blocking is enabled, the detection kind is allowed by policy and the source is not whitelisted. This means an alert does not automatically prove that a firewall rule was inserted.</a:t>
            </a:r>
          </a:p>
          <a:p xmlns:a="http://schemas.openxmlformats.org/drawingml/2006/main">
            <a:r>
              <a:t/>
            </a:r>
          </a:p>
          <a:p xmlns:a="http://schemas.openxmlformats.org/drawingml/2006/main">
            <a:r>
              <a:t>7. Finish the demo by returning to Overview and showing the same event at summary level. If the live environment fails, replay the prepared PCAP and use saved JSON evidence. This still demonstrates the real code path without attacking an external network.</a:t>
            </a:r>
          </a:p>
          <a:p xmlns:a="http://schemas.openxmlformats.org/drawingml/2006/main">
            <a:r>
              <a:t/>
            </a:r>
          </a:p>
          <a:p xmlns:a="http://schemas.openxmlformats.org/drawingml/2006/main">
            <a:r>
              <a:t>Suggested wording: The architecture separates capture, decision, evidence and response. Five transparent engines share one Verdict contract, the dispatcher centralizes outputs, and defence remains an explicit policy decision.</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Sections 3.5 to 3.7, Figures 3.7d and 3.8d</a:t>
            </a:r>
          </a:p>
          <a:p xmlns:a="http://schemas.openxmlformats.org/drawingml/2006/main">
            <a:r>
              <a:t>- src/sensor_node/sensor.py, capture, parser, engine calls and interval features</a:t>
            </a:r>
          </a:p>
          <a:p xmlns:a="http://schemas.openxmlformats.org/drawingml/2006/main">
            <a:r>
              <a:t>- src/alert_dispatcher/dispatcher.py, common evidence pipeline and optional response</a:t>
            </a:r>
          </a:p>
          <a:p xmlns:a="http://schemas.openxmlformats.org/drawingml/2006/main">
            <a:r>
              <a:t>- src/active_defense/defense.py and configuration, policy-gated blocking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visible labels as speaking prompts. Explain the point in your own words and then move to the next label.</a:t>
            </a:r>
          </a:p>
          <a:p xmlns:a="http://schemas.openxmlformats.org/drawingml/2006/main">
            <a:r>
              <a:t/>
            </a:r>
          </a:p>
          <a:p xmlns:a="http://schemas.openxmlformats.org/drawingml/2006/main">
            <a:r>
              <a:t>[Sources]</a:t>
            </a:r>
          </a:p>
          <a:p xmlns:a="http://schemas.openxmlformats.org/drawingml/2006/main">
            <a:r>
              <a:t>- MANTIS_Final_Dissertation_FINAL_BACKUP_CURRENT_SAVED_STATE_2026-08-22_160017.docx, relevant chapter and embedded report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d09647f31347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28e46e445549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510b5c60cf44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3588c3dce742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ac4b9bb65d45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fe8cabfb904ed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9eb581009cf4eb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9baef49e24e416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ce1e4a82d1f4b9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d4ced1190d947b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24fb69a61c84c7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4655FF-DD96-4A7A-AD19-6DE55273F3A3}"/>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3F6608A-96EA-4877-AF8D-4F6C580F744C}"/>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ECC7F86-388B-4EE2-9D57-78F37914D0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8/25/2026</a:t>
            </a:fld>
            <a:endParaRPr/>
          </a:p>
        </p:txBody>
      </p:sp>
      <p:sp>
        <p:nvSpPr>
          <p:cNvPr id="5" name="Footer Placeholder 4">
            <a:extLst xmlns:a="http://schemas.openxmlformats.org/drawingml/2006/main">
              <a:ext uri="{FF2B5EF4-FFF2-40B4-BE49-F238E27FC236}">
                <a16:creationId xmlns:a16="http://schemas.microsoft.com/office/drawing/2014/main" id="{709C0929-1A61-45AD-A523-71FA64313F6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403F982-885F-44B5-B4B4-3DEB3C34B2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7FE6FE4-73AA-4131-BC50-98D8AA85EBF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2B2E083-7397-4A05-A945-0CD8B658E83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20B0893-69E5-42BA-B37C-F60FE5EB9C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8/25/2026</a:t>
            </a:fld>
            <a:endParaRPr/>
          </a:p>
        </p:txBody>
      </p:sp>
      <p:sp>
        <p:nvSpPr>
          <p:cNvPr id="5" name="Footer Placeholder 4">
            <a:extLst xmlns:a="http://schemas.openxmlformats.org/drawingml/2006/main">
              <a:ext uri="{FF2B5EF4-FFF2-40B4-BE49-F238E27FC236}">
                <a16:creationId xmlns:a16="http://schemas.microsoft.com/office/drawing/2014/main" id="{2494CB6D-2055-4BF1-9E86-5272C612CE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EECE348-E737-42ED-A518-2D0CE3CE4F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3752D3-92F2-42CB-9833-44F9D6CB742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E01398E-E0E7-4880-A62D-06B245C3796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AB78146-BF43-42DE-B3EF-D9FFDF91D4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8/25/2026</a:t>
            </a:fld>
            <a:endParaRPr/>
          </a:p>
        </p:txBody>
      </p:sp>
      <p:sp>
        <p:nvSpPr>
          <p:cNvPr id="5" name="Footer Placeholder 4">
            <a:extLst xmlns:a="http://schemas.openxmlformats.org/drawingml/2006/main">
              <a:ext uri="{FF2B5EF4-FFF2-40B4-BE49-F238E27FC236}">
                <a16:creationId xmlns:a16="http://schemas.microsoft.com/office/drawing/2014/main" id="{E0BC6037-37B9-45B4-A2B7-71590D8065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5CD44C2-303F-44C8-A713-0C5C36F322A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8B6CA1-7C0D-48A8-A3C6-F428A3AE7D1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667DA48-2684-4ADA-807B-43894B64259C}"/>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D4129E44-9CCF-4C59-A520-F9C5CAB2555B}"/>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FAF673A8-8993-47C0-A03A-BBFF060F50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8/25/2026</a:t>
            </a:fld>
            <a:endParaRPr/>
          </a:p>
        </p:txBody>
      </p:sp>
      <p:sp>
        <p:nvSpPr>
          <p:cNvPr id="6" name="Footer Placeholder 5">
            <a:extLst xmlns:a="http://schemas.openxmlformats.org/drawingml/2006/main">
              <a:ext uri="{FF2B5EF4-FFF2-40B4-BE49-F238E27FC236}">
                <a16:creationId xmlns:a16="http://schemas.microsoft.com/office/drawing/2014/main" id="{C50D5894-A50E-4269-BE14-D94F409B9F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25434B0-655F-4BB9-9B82-08C716FB5D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805A9F-9754-4C9C-81FF-785922B526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5632722-021A-4880-9383-ADD410A53902}"/>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B717F386-8791-41E4-BA20-41D630B8DB07}"/>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52DA92C-76E4-409E-BFE4-AB5A072BC8B8}"/>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9F933D9-ED8C-4BCC-B8D5-F4EF17F9A4D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627DCD60-F530-49EA-9BEC-DC1895D4F22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8/25/2026</a:t>
            </a:fld>
            <a:endParaRPr/>
          </a:p>
        </p:txBody>
      </p:sp>
      <p:sp>
        <p:nvSpPr>
          <p:cNvPr id="8" name="Footer Placeholder 7">
            <a:extLst xmlns:a="http://schemas.openxmlformats.org/drawingml/2006/main">
              <a:ext uri="{FF2B5EF4-FFF2-40B4-BE49-F238E27FC236}">
                <a16:creationId xmlns:a16="http://schemas.microsoft.com/office/drawing/2014/main" id="{91FFFAC6-C501-43ED-B13A-1665BF972C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C0C011E5-D5FC-452F-8F69-1D698949FE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407ABA-584F-4584-8633-83424A4DC61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C50F327B-D612-41F5-9002-E510520335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8/25/2026</a:t>
            </a:fld>
            <a:endParaRPr/>
          </a:p>
        </p:txBody>
      </p:sp>
      <p:sp>
        <p:nvSpPr>
          <p:cNvPr id="4" name="Footer Placeholder 3">
            <a:extLst xmlns:a="http://schemas.openxmlformats.org/drawingml/2006/main">
              <a:ext uri="{FF2B5EF4-FFF2-40B4-BE49-F238E27FC236}">
                <a16:creationId xmlns:a16="http://schemas.microsoft.com/office/drawing/2014/main" id="{13C77C5D-2E9A-4E9B-9F44-74E0C26001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63BB2DEB-E585-49C3-9AD8-1BFE30FB8F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2EA657B-B50E-4F18-9C55-87ACF21230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8/25/2026</a:t>
            </a:fld>
            <a:endParaRPr/>
          </a:p>
        </p:txBody>
      </p:sp>
      <p:sp>
        <p:nvSpPr>
          <p:cNvPr id="3" name="Footer Placeholder 2">
            <a:extLst xmlns:a="http://schemas.openxmlformats.org/drawingml/2006/main">
              <a:ext uri="{FF2B5EF4-FFF2-40B4-BE49-F238E27FC236}">
                <a16:creationId xmlns:a16="http://schemas.microsoft.com/office/drawing/2014/main" id="{83DA61C8-392F-4A31-AFE4-4C4724D956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BE08675-7EBA-4A73-96BD-5CB828BEA1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7426CC-7D81-4F23-810C-9F02F2E69153}"/>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D98903A-BF64-4886-888A-80939291D22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9F3C4F33-7909-4EE0-8603-9B9D9D70B9E5}"/>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379ACF0-8CEA-4B89-B33B-16C641CE56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8/25/2026</a:t>
            </a:fld>
            <a:endParaRPr/>
          </a:p>
        </p:txBody>
      </p:sp>
      <p:sp>
        <p:nvSpPr>
          <p:cNvPr id="6" name="Footer Placeholder 5">
            <a:extLst xmlns:a="http://schemas.openxmlformats.org/drawingml/2006/main">
              <a:ext uri="{FF2B5EF4-FFF2-40B4-BE49-F238E27FC236}">
                <a16:creationId xmlns:a16="http://schemas.microsoft.com/office/drawing/2014/main" id="{AACA4E1F-E2C3-43D3-8A24-ED9F933188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D00A2A2-6542-497B-9877-3A4E366ADF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F6BDD6-0E17-451C-85E2-F8533050D2C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44F54DBB-F978-42BA-A451-467B18F0E458}"/>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CF65CCB-B5D6-41D8-9B76-96539D81B8CB}"/>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040A631-1660-4678-BC40-1156911FCA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8/25/2026</a:t>
            </a:fld>
            <a:endParaRPr/>
          </a:p>
        </p:txBody>
      </p:sp>
      <p:sp>
        <p:nvSpPr>
          <p:cNvPr id="6" name="Footer Placeholder 5">
            <a:extLst xmlns:a="http://schemas.openxmlformats.org/drawingml/2006/main">
              <a:ext uri="{FF2B5EF4-FFF2-40B4-BE49-F238E27FC236}">
                <a16:creationId xmlns:a16="http://schemas.microsoft.com/office/drawing/2014/main" id="{CBD88E99-0F4E-48D5-A32C-35114658E6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C9982A8-145B-43BF-9566-E1ADF39D77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7E0251-1C4F-4048-8F56-20B48BC5E97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1CA3262-DE46-4723-9137-3721516D08F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7F13240-0AEE-4704-A1E9-B27B3561FF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8/25/2026</a:t>
            </a:fld>
            <a:endParaRPr/>
          </a:p>
        </p:txBody>
      </p:sp>
      <p:sp>
        <p:nvSpPr>
          <p:cNvPr id="5" name="Footer Placeholder 4">
            <a:extLst xmlns:a="http://schemas.openxmlformats.org/drawingml/2006/main">
              <a:ext uri="{FF2B5EF4-FFF2-40B4-BE49-F238E27FC236}">
                <a16:creationId xmlns:a16="http://schemas.microsoft.com/office/drawing/2014/main" id="{1DB9D468-44A2-4D79-AC65-AFE9AB3CA98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D1EA359-452D-41D7-86AC-5750B296A6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3B77726-3B3D-4214-B523-95096C07D76C}"/>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D8C211B-0D26-4524-9502-6C58DAA555CC}"/>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6D296FC1-666E-4B69-A46C-33833492A6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8/25/2026</a:t>
            </a:fld>
            <a:endParaRPr/>
          </a:p>
        </p:txBody>
      </p:sp>
      <p:sp>
        <p:nvSpPr>
          <p:cNvPr id="5" name="Footer Placeholder 4">
            <a:extLst xmlns:a="http://schemas.openxmlformats.org/drawingml/2006/main">
              <a:ext uri="{FF2B5EF4-FFF2-40B4-BE49-F238E27FC236}">
                <a16:creationId xmlns:a16="http://schemas.microsoft.com/office/drawing/2014/main" id="{B6026160-AFA4-40A3-B763-FA0BEE07C1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9906B8E-9F73-4A7F-A26B-543D483EC3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33f912a8794e9f" /><Relationship Type="http://schemas.openxmlformats.org/officeDocument/2006/relationships/slideLayout" Target="/ppt/slideLayouts/slideLayout1.xml" Id="Rc9412538b0fd46f4" /><Relationship Type="http://schemas.openxmlformats.org/officeDocument/2006/relationships/slideLayout" Target="/ppt/slideLayouts/slideLayout2.xml" Id="R984b9d47436245a2" /><Relationship Type="http://schemas.openxmlformats.org/officeDocument/2006/relationships/slideLayout" Target="/ppt/slideLayouts/slideLayout3.xml" Id="R26a05385ea8648dc" /><Relationship Type="http://schemas.openxmlformats.org/officeDocument/2006/relationships/slideLayout" Target="/ppt/slideLayouts/slideLayout4.xml" Id="R3dceecbced7847e5" /><Relationship Type="http://schemas.openxmlformats.org/officeDocument/2006/relationships/slideLayout" Target="/ppt/slideLayouts/slideLayout5.xml" Id="Rfb643fd739ea401a" /><Relationship Type="http://schemas.openxmlformats.org/officeDocument/2006/relationships/slideLayout" Target="/ppt/slideLayouts/slideLayout6.xml" Id="R61549516e5484b57" /><Relationship Type="http://schemas.openxmlformats.org/officeDocument/2006/relationships/slideLayout" Target="/ppt/slideLayouts/slideLayout7.xml" Id="R1092d4f35ded4a63" /><Relationship Type="http://schemas.openxmlformats.org/officeDocument/2006/relationships/slideLayout" Target="/ppt/slideLayouts/slideLayout8.xml" Id="R104b6c440e854079" /><Relationship Type="http://schemas.openxmlformats.org/officeDocument/2006/relationships/slideLayout" Target="/ppt/slideLayouts/slideLayout9.xml" Id="Rbbe799e06dce4b90" /><Relationship Type="http://schemas.openxmlformats.org/officeDocument/2006/relationships/slideLayout" Target="/ppt/slideLayouts/slideLayout10.xml" Id="R1178e5303c8741be" /><Relationship Type="http://schemas.openxmlformats.org/officeDocument/2006/relationships/slideLayout" Target="/ppt/slideLayouts/slideLayout11.xml" Id="R4c882841dcad4a9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5965B3A-1CE1-4F61-B7F0-E44A226E9B64}"/>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5DC76CD-AD5D-45CC-86B3-080BDDFDA357}"/>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AE815AA-94B4-4E21-A5C9-E11681DACAFA}"/>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8/25/2026</a:t>
            </a:fld>
            <a:endParaRPr/>
          </a:p>
        </p:txBody>
      </p:sp>
      <p:sp>
        <p:nvSpPr>
          <p:cNvPr id="5" name="Footer Placeholder 4">
            <a:extLst xmlns:a="http://schemas.openxmlformats.org/drawingml/2006/main">
              <a:ext uri="{FF2B5EF4-FFF2-40B4-BE49-F238E27FC236}">
                <a16:creationId xmlns:a16="http://schemas.microsoft.com/office/drawing/2014/main" id="{FC79748B-6FE3-4FE0-8C5B-0A098FF26560}"/>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615761C-5435-48A5-977C-60A1905D3BF7}"/>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412538b0fd46f4"/>
    <p:sldLayoutId xmlns:r="http://schemas.openxmlformats.org/officeDocument/2006/relationships" id="2147483650" r:id="R984b9d47436245a2"/>
    <p:sldLayoutId xmlns:r="http://schemas.openxmlformats.org/officeDocument/2006/relationships" id="2147483651" r:id="R26a05385ea8648dc"/>
    <p:sldLayoutId xmlns:r="http://schemas.openxmlformats.org/officeDocument/2006/relationships" id="2147483652" r:id="R3dceecbced7847e5"/>
    <p:sldLayoutId xmlns:r="http://schemas.openxmlformats.org/officeDocument/2006/relationships" id="2147483653" r:id="Rfb643fd739ea401a"/>
    <p:sldLayoutId xmlns:r="http://schemas.openxmlformats.org/officeDocument/2006/relationships" id="2147483654" r:id="R61549516e5484b57"/>
    <p:sldLayoutId xmlns:r="http://schemas.openxmlformats.org/officeDocument/2006/relationships" id="2147483655" r:id="R1092d4f35ded4a63"/>
    <p:sldLayoutId xmlns:r="http://schemas.openxmlformats.org/officeDocument/2006/relationships" id="2147483656" r:id="R104b6c440e854079"/>
    <p:sldLayoutId xmlns:r="http://schemas.openxmlformats.org/officeDocument/2006/relationships" id="2147483657" r:id="Rbbe799e06dce4b90"/>
    <p:sldLayoutId xmlns:r="http://schemas.openxmlformats.org/officeDocument/2006/relationships" id="2147483658" r:id="R1178e5303c8741be"/>
    <p:sldLayoutId xmlns:r="http://schemas.openxmlformats.org/officeDocument/2006/relationships" id="2147483659" r:id="R4c882841dcad4a97"/>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2948bcdaa59e4ca5" /><Relationship Type="http://schemas.openxmlformats.org/officeDocument/2006/relationships/notesSlide" Target="/ppt/notesSlides/notesSlide1.xml" Id="Rbc07aa0133484e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6a1ded3cb42c44c4" /><Relationship Type="http://schemas.openxmlformats.org/officeDocument/2006/relationships/notesSlide" Target="/ppt/notesSlides/notesSlide2.xml" Id="R94abc9a5e4544c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5e723e2dd9f444f9" /><Relationship Type="http://schemas.openxmlformats.org/officeDocument/2006/relationships/notesSlide" Target="/ppt/notesSlides/notesSlide3.xml" Id="Rc0124864d06a4d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17629e799349407d" /><Relationship Type="http://schemas.openxmlformats.org/officeDocument/2006/relationships/notesSlide" Target="/ppt/notesSlides/notesSlide4.xml" Id="R667ef3edea4044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68ec9acb87f48ee" /><Relationship Type="http://schemas.openxmlformats.org/officeDocument/2006/relationships/notesSlide" Target="/ppt/notesSlides/notesSlide5.xml" Id="R2bb1cf56427a4c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792036b6444f4401" /><Relationship Type="http://schemas.openxmlformats.org/officeDocument/2006/relationships/notesSlide" Target="/ppt/notesSlides/notesSlide6.xml" Id="Rab18dd3d92c94a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e6ddb9f78c2a4ef0" /><Relationship Type="http://schemas.openxmlformats.org/officeDocument/2006/relationships/notesSlide" Target="/ppt/notesSlides/notesSlide7.xml" Id="R5ac920181ec34a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017cb1fc113b4e6e" /><Relationship Type="http://schemas.openxmlformats.org/officeDocument/2006/relationships/notesSlide" Target="/ppt/notesSlides/notesSlide8.xml" Id="R1f2d2602fc2f40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4b07d801065a41ff" /><Relationship Type="http://schemas.openxmlformats.org/officeDocument/2006/relationships/notesSlide" Target="/ppt/notesSlides/notesSlide9.xml" Id="R86397915850641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26e3da697aa54d53" /><Relationship Type="http://schemas.openxmlformats.org/officeDocument/2006/relationships/notesSlide" Target="/ppt/notesSlides/notesSlide10.xml" Id="R71edc8f300aa46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e4d17993140e48af" /><Relationship Type="http://schemas.openxmlformats.org/officeDocument/2006/relationships/notesSlide" Target="/ppt/notesSlides/notesSlide11.xml" Id="R511a3f6cc74d40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db1fbea7bb154f4a" /><Relationship Type="http://schemas.openxmlformats.org/officeDocument/2006/relationships/notesSlide" Target="/ppt/notesSlides/notesSlide12.xml" Id="R2873dd7649e049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87404f9c9e6643bc" /><Relationship Type="http://schemas.openxmlformats.org/officeDocument/2006/relationships/image" Target="/ppt/media/image.png" Id="R9c54f6715c7b4268" /><Relationship Type="http://schemas.openxmlformats.org/officeDocument/2006/relationships/notesSlide" Target="/ppt/notesSlides/notesSlide13.xml" Id="Rb7c46e0de5cf4e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c1ef3f7c25454a78" /><Relationship Type="http://schemas.openxmlformats.org/officeDocument/2006/relationships/image" Target="/ppt/media/image2.png" Id="R2aeb68921506443f" /><Relationship Type="http://schemas.openxmlformats.org/officeDocument/2006/relationships/notesSlide" Target="/ppt/notesSlides/notesSlide14.xml" Id="R0adec74a82b64f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8cdcf99ae3784b00" /><Relationship Type="http://schemas.openxmlformats.org/officeDocument/2006/relationships/image" Target="/ppt/media/image3.png" Id="R1487fe62f91b4cf4" /><Relationship Type="http://schemas.openxmlformats.org/officeDocument/2006/relationships/notesSlide" Target="/ppt/notesSlides/notesSlide15.xml" Id="R9ef5d7a7e91244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1ba566e01ad34e7c" /><Relationship Type="http://schemas.openxmlformats.org/officeDocument/2006/relationships/image" Target="/ppt/media/image4.png" Id="R709faaf0f5394628" /><Relationship Type="http://schemas.openxmlformats.org/officeDocument/2006/relationships/notesSlide" Target="/ppt/notesSlides/notesSlide16.xml" Id="R73966360642845b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264bf6a8e7be4dd0" /><Relationship Type="http://schemas.openxmlformats.org/officeDocument/2006/relationships/image" Target="/ppt/media/image5.png" Id="R95ecedf38c65481b" /><Relationship Type="http://schemas.openxmlformats.org/officeDocument/2006/relationships/notesSlide" Target="/ppt/notesSlides/notesSlide17.xml" Id="R506912c9a42446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3edd3af3c8e3486d" /><Relationship Type="http://schemas.openxmlformats.org/officeDocument/2006/relationships/image" Target="/ppt/media/image6.png" Id="Rc0c0a18849974fe1" /><Relationship Type="http://schemas.openxmlformats.org/officeDocument/2006/relationships/notesSlide" Target="/ppt/notesSlides/notesSlide18.xml" Id="R43c90af2f7754d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d13f890d542b4beb" /><Relationship Type="http://schemas.openxmlformats.org/officeDocument/2006/relationships/image" Target="/ppt/media/image7.png" Id="Rbc046b36f6dc4231" /><Relationship Type="http://schemas.openxmlformats.org/officeDocument/2006/relationships/notesSlide" Target="/ppt/notesSlides/notesSlide19.xml" Id="R6aee017438874f4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9518ec4a94154c15" /><Relationship Type="http://schemas.openxmlformats.org/officeDocument/2006/relationships/notesSlide" Target="/ppt/notesSlides/notesSlide20.xml" Id="Rf17b7720af8c444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c6d0ba5d505b4f81" /><Relationship Type="http://schemas.openxmlformats.org/officeDocument/2006/relationships/notesSlide" Target="/ppt/notesSlides/notesSlide21.xml" Id="R9c9ecf71dc30451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06df9c5b8b764ff3" /><Relationship Type="http://schemas.openxmlformats.org/officeDocument/2006/relationships/notesSlide" Target="/ppt/notesSlides/notesSlide22.xml" Id="R5f4df698d0f0475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a2c8259544004b24" /><Relationship Type="http://schemas.openxmlformats.org/officeDocument/2006/relationships/notesSlide" Target="/ppt/notesSlides/notesSlide23.xml" Id="Rc4a8794ad8da449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51ca9f8c193441ba" /><Relationship Type="http://schemas.openxmlformats.org/officeDocument/2006/relationships/notesSlide" Target="/ppt/notesSlides/notesSlide24.xml" Id="R4460aef27a95420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dfd938c89a054017" /><Relationship Type="http://schemas.openxmlformats.org/officeDocument/2006/relationships/notesSlide" Target="/ppt/notesSlides/notesSlide25.xml" Id="R2fd1f5862af5481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D72C369-2D94-4A79-8CB2-1A674BD60FD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ED916B9A-A1C2-45E0-9D47-D93D56AF6A2C}"/>
              </a:ext>
            </a:extLst>
          </p:cNvPr>
          <p:cNvSpPr>
            <a:spLocks xmlns:a="http://schemas.openxmlformats.org/drawingml/2006/main" noGrp="1"/>
          </p:cNvSpPr>
          <p:nvPr/>
        </p:nvSpPr>
        <p:spPr>
          <a:xfrm xmlns:a="http://schemas.openxmlformats.org/drawingml/2006/main">
            <a:off x="822960" y="1554480"/>
            <a:ext cx="10515600" cy="32918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buNone/>
              <a:defRPr>
                <a:latin typeface="Calibri"/>
                <a:ea typeface="Calibri"/>
                <a:cs typeface="Calibri"/>
              </a:defRPr>
            </a:pPr>
            <a:r>
              <a:rPr sz="6400" b="1">
                <a:solidFill>
                  <a:srgbClr val="FFFFFF"/>
                </a:solidFill>
                <a:latin typeface="Calibri"/>
                <a:ea typeface="Calibri"/>
                <a:cs typeface="Calibri"/>
              </a:rPr>
              <a:t>MANTIS</a:t>
            </a:r>
          </a:p>
          <a:p xmlns:a="http://schemas.openxmlformats.org/drawingml/2006/main">
            <a:pPr algn="l">
              <a:buNone/>
              <a:defRPr>
                <a:latin typeface="Calibri"/>
                <a:ea typeface="Calibri"/>
                <a:cs typeface="Calibri"/>
              </a:defRPr>
            </a:pPr>
            <a:r>
              <a:rPr sz="2800">
                <a:solidFill>
                  <a:srgbClr val="BFD5E8"/>
                </a:solidFill>
                <a:latin typeface="Calibri"/>
                <a:ea typeface="Calibri"/>
                <a:cs typeface="Calibri"/>
              </a:rPr>
              <a:t>Minimalist Alert Network for Threat Intelligence System</a:t>
            </a:r>
          </a:p>
          <a:p xmlns:a="http://schemas.openxmlformats.org/drawingml/2006/main">
            <a:pPr algn="l">
              <a:buNone/>
              <a:defRPr>
                <a:latin typeface="Calibri"/>
                <a:ea typeface="Calibri"/>
                <a:cs typeface="Calibri"/>
              </a:defRPr>
            </a:pPr>
            <a:r>
              <a:rPr sz="1800">
                <a:solidFill>
                  <a:srgbClr val="9FB8D0"/>
                </a:solidFill>
                <a:latin typeface="Calibri"/>
                <a:ea typeface="Calibri"/>
                <a:cs typeface="Calibri"/>
              </a:rPr>
              <a:t>Final Dissertation Presentation</a:t>
            </a:r>
          </a:p>
        </p:txBody>
      </p:sp>
      <p:sp>
        <p:nvSpPr>
          <p:cNvPr id="4" name="TextBox 3">
            <a:extLst xmlns:a="http://schemas.openxmlformats.org/drawingml/2006/main">
              <a:ext uri="{FF2B5EF4-FFF2-40B4-BE49-F238E27FC236}">
                <a16:creationId xmlns:a16="http://schemas.microsoft.com/office/drawing/2014/main" id="{4ED65B99-3D41-4862-A162-8B913EA31796}"/>
              </a:ext>
            </a:extLst>
          </p:cNvPr>
          <p:cNvSpPr>
            <a:spLocks xmlns:a="http://schemas.openxmlformats.org/drawingml/2006/main" noGrp="1"/>
          </p:cNvSpPr>
          <p:nvPr/>
        </p:nvSpPr>
        <p:spPr>
          <a:xfrm xmlns:a="http://schemas.openxmlformats.org/drawingml/2006/main">
            <a:off x="822960" y="4846320"/>
            <a:ext cx="10515600" cy="1554480"/>
          </a:xfrm>
          <a:prstGeom xmlns:a="http://schemas.openxmlformats.org/drawingml/2006/main" prst="rect">
            <a:avLst/>
          </a:prstGeom>
          <a:noFill xmlns:a="http://schemas.openxmlformats.org/drawingml/2006/main"/>
        </p:spPr>
        <p:txBody>
          <a:bodyPr xmlns:a="http://schemas.openxmlformats.org/drawingml/2006/main" wrap="none" anchor="t">
            <a:spAutoFit/>
          </a:bodyPr>
          <a:lstStyle xmlns:a="http://schemas.openxmlformats.org/drawingml/2006/main"/>
          <a:p xmlns:a="http://schemas.openxmlformats.org/drawingml/2006/main">
            <a:pPr algn="l">
              <a:buNone/>
              <a:defRPr>
                <a:latin typeface="Calibri"/>
                <a:ea typeface="Calibri"/>
                <a:cs typeface="Calibri"/>
              </a:defRPr>
            </a:pPr>
            <a:r>
              <a:rPr sz="1800">
                <a:solidFill>
                  <a:srgbClr val="FFFFFF"/>
                </a:solidFill>
                <a:latin typeface="Calibri"/>
                <a:ea typeface="Calibri"/>
                <a:cs typeface="Calibri"/>
              </a:rPr>
              <a:t>Final Dissertation  |  CSY4022</a:t>
            </a:r>
          </a:p>
          <a:p xmlns:a="http://schemas.openxmlformats.org/drawingml/2006/main">
            <a:pPr algn="l">
              <a:buNone/>
              <a:defRPr>
                <a:latin typeface="Calibri"/>
                <a:ea typeface="Calibri"/>
                <a:cs typeface="Calibri"/>
              </a:defRPr>
            </a:pPr>
            <a:r>
              <a:rPr sz="1800">
                <a:solidFill>
                  <a:srgbClr val="FFFFFF"/>
                </a:solidFill>
                <a:latin typeface="Calibri"/>
                <a:ea typeface="Calibri"/>
                <a:cs typeface="Calibri"/>
              </a:rPr>
              <a:t>Anuskar Sigdel  |  24812606</a:t>
            </a:r>
          </a:p>
          <a:p xmlns:a="http://schemas.openxmlformats.org/drawingml/2006/main">
            <a:pPr algn="l">
              <a:buNone/>
              <a:defRPr>
                <a:latin typeface="Calibri"/>
                <a:ea typeface="Calibri"/>
                <a:cs typeface="Calibri"/>
              </a:defRPr>
            </a:pPr>
            <a:r>
              <a:rPr sz="1600">
                <a:solidFill>
                  <a:srgbClr val="BFD5E8"/>
                </a:solidFill>
                <a:latin typeface="Calibri"/>
                <a:ea typeface="Calibri"/>
                <a:cs typeface="Calibri"/>
              </a:rPr>
              <a:t>Supervisor: Nischal Khadka  |  University of Northampton  |  August 2026</a:t>
            </a:r>
          </a:p>
        </p:txBody>
      </p:sp>
    </p:spTree>
    <p:extLst>
      <p:ext uri="{BB962C8B-B14F-4D97-AF65-F5344CB8AC3E}">
        <p14:creationId xmlns:p14="http://schemas.microsoft.com/office/powerpoint/2010/main" val="169642110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D487DD7-EB12-4F2E-A871-173C1A503508}"/>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1. Introduction: Background and Rationale</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Why a transparent low-footprint detector is needed on commodity Linux</a:t>
            </a:r>
          </a:p>
        </p:txBody>
      </p:sp>
      <p:sp>
        <p:nvSpPr>
          <p:cNvPr id="3" name="Rectangle 2">
            <a:extLst xmlns:a="http://schemas.openxmlformats.org/drawingml/2006/main">
              <a:ext uri="{FF2B5EF4-FFF2-40B4-BE49-F238E27FC236}">
                <a16:creationId xmlns:a16="http://schemas.microsoft.com/office/drawing/2014/main" id="{CDCAF4BA-E444-4976-85CD-68FB09D7DBEE}"/>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A064DD81-9B9D-4FC8-AE1B-611B45A9A1BF}"/>
              </a:ext>
            </a:extLst>
          </p:cNvPr>
          <p:cNvSpPr>
            <a:spLocks xmlns:a="http://schemas.openxmlformats.org/drawingml/2006/main" noGrp="1"/>
          </p:cNvSpPr>
          <p:nvPr/>
        </p:nvSpPr>
        <p:spPr>
          <a:xfrm xmlns:a="http://schemas.openxmlformats.org/drawingml/2006/main">
            <a:off x="502920" y="132588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Scope | Small Linux servers, IoT gateways and teaching hosts</a:t>
            </a:r>
          </a:p>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Threats | Scans, floods, malicious payloads and known-bad sources</a:t>
            </a:r>
          </a:p>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Gap | Enterprise tools can be heavy; opaque models hide decisions</a:t>
            </a:r>
          </a:p>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MANTIS | Five transparent methods with no external Python runtime packages</a:t>
            </a:r>
          </a:p>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Explainability | Every alert keeps its feature, threshold or learned-state reason</a:t>
            </a:r>
          </a:p>
        </p:txBody>
      </p:sp>
      <p:sp>
        <p:nvSpPr>
          <p:cNvPr id="5" name="TextBox 4">
            <a:extLst xmlns:a="http://schemas.openxmlformats.org/drawingml/2006/main">
              <a:ext uri="{FF2B5EF4-FFF2-40B4-BE49-F238E27FC236}">
                <a16:creationId xmlns:a16="http://schemas.microsoft.com/office/drawing/2014/main" id="{075834F4-F528-482C-9A71-4C4ED90E3A63}"/>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2</a:t>
            </a:r>
          </a:p>
        </p:txBody>
      </p:sp>
    </p:spTree>
    <p:extLst>
      <p:ext uri="{BB962C8B-B14F-4D97-AF65-F5344CB8AC3E}">
        <p14:creationId xmlns:p14="http://schemas.microsoft.com/office/powerpoint/2010/main" val="95162604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60B3F9E-7E3F-4E79-971E-B4BB54DB794E}"/>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2. Aim and Objectives</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One aim supported by six measurable and testable objectives</a:t>
            </a:r>
          </a:p>
        </p:txBody>
      </p:sp>
      <p:sp>
        <p:nvSpPr>
          <p:cNvPr id="3" name="Rectangle 2">
            <a:extLst xmlns:a="http://schemas.openxmlformats.org/drawingml/2006/main">
              <a:ext uri="{FF2B5EF4-FFF2-40B4-BE49-F238E27FC236}">
                <a16:creationId xmlns:a16="http://schemas.microsoft.com/office/drawing/2014/main" id="{AAFBA89D-7AC8-4989-AFAE-B04D14FF7DF5}"/>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E08171E0-3C3B-4929-85CC-822D5B57C369}"/>
              </a:ext>
            </a:extLst>
          </p:cNvPr>
          <p:cNvSpPr>
            <a:spLocks xmlns:a="http://schemas.openxmlformats.org/drawingml/2006/main" noGrp="1"/>
          </p:cNvSpPr>
          <p:nvPr/>
        </p:nvSpPr>
        <p:spPr>
          <a:xfrm xmlns:a="http://schemas.openxmlformats.org/drawingml/2006/main">
            <a:off x="502920" y="132588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688">
                <a:solidFill>
                  <a:srgbClr val="202020"/>
                </a:solidFill>
                <a:latin typeface="Calibri"/>
                <a:ea typeface="Calibri"/>
                <a:cs typeface="Calibri"/>
              </a:defRPr>
            </a:pPr>
            <a:r>
              <a:rPr sz="1688">
                <a:solidFill>
                  <a:srgbClr val="202020"/>
                </a:solidFill>
                <a:latin typeface="Calibri"/>
                <a:ea typeface="Calibri"/>
                <a:cs typeface="Calibri"/>
              </a:rPr>
              <a:t>Aim | Build and critically evaluate a transparent, low-footprint host NIDS</a:t>
            </a:r>
          </a:p>
          <a:p xmlns:a="http://schemas.openxmlformats.org/drawingml/2006/main">
            <a:pPr algn="l">
              <a:spcAft>
                <a:spcPts val="8"/>
              </a:spcAft>
              <a:buNone/>
              <a:defRPr sz="1688">
                <a:solidFill>
                  <a:srgbClr val="202020"/>
                </a:solidFill>
                <a:latin typeface="Calibri"/>
                <a:ea typeface="Calibri"/>
                <a:cs typeface="Calibri"/>
              </a:defRPr>
            </a:pPr>
            <a:r>
              <a:rPr sz="1688">
                <a:solidFill>
                  <a:srgbClr val="202020"/>
                </a:solidFill>
                <a:latin typeface="Calibri"/>
                <a:ea typeface="Calibri"/>
                <a:cs typeface="Calibri"/>
              </a:rPr>
              <a:t>Detect | Five complementary engines behind one Verdict contract</a:t>
            </a:r>
          </a:p>
          <a:p xmlns:a="http://schemas.openxmlformats.org/drawingml/2006/main">
            <a:pPr algn="l">
              <a:spcAft>
                <a:spcPts val="8"/>
              </a:spcAft>
              <a:buNone/>
              <a:defRPr sz="1688">
                <a:solidFill>
                  <a:srgbClr val="202020"/>
                </a:solidFill>
                <a:latin typeface="Calibri"/>
                <a:ea typeface="Calibri"/>
                <a:cs typeface="Calibri"/>
              </a:defRPr>
            </a:pPr>
            <a:r>
              <a:rPr sz="1688">
                <a:solidFill>
                  <a:srgbClr val="202020"/>
                </a:solidFill>
                <a:latin typeface="Calibri"/>
                <a:ea typeface="Calibri"/>
                <a:cs typeface="Calibri"/>
              </a:rPr>
              <a:t>Integrate | Live or PCAP capture, parser, bounded queue, alerts and SIEM</a:t>
            </a:r>
          </a:p>
          <a:p xmlns:a="http://schemas.openxmlformats.org/drawingml/2006/main">
            <a:pPr algn="l">
              <a:spcAft>
                <a:spcPts val="8"/>
              </a:spcAft>
              <a:buNone/>
              <a:defRPr sz="1688">
                <a:solidFill>
                  <a:srgbClr val="202020"/>
                </a:solidFill>
                <a:latin typeface="Calibri"/>
                <a:ea typeface="Calibri"/>
                <a:cs typeface="Calibri"/>
              </a:defRPr>
            </a:pPr>
            <a:r>
              <a:rPr sz="1688">
                <a:solidFill>
                  <a:srgbClr val="202020"/>
                </a:solidFill>
                <a:latin typeface="Calibri"/>
                <a:ea typeface="Calibri"/>
                <a:cs typeface="Calibri"/>
              </a:rPr>
              <a:t>Persist | Train supported models and restore compatible JSON brain state</a:t>
            </a:r>
          </a:p>
          <a:p xmlns:a="http://schemas.openxmlformats.org/drawingml/2006/main">
            <a:pPr algn="l">
              <a:spcAft>
                <a:spcPts val="8"/>
              </a:spcAft>
              <a:buNone/>
              <a:defRPr sz="1688">
                <a:solidFill>
                  <a:srgbClr val="202020"/>
                </a:solidFill>
                <a:latin typeface="Calibri"/>
                <a:ea typeface="Calibri"/>
                <a:cs typeface="Calibri"/>
              </a:defRPr>
            </a:pPr>
            <a:r>
              <a:rPr sz="1688">
                <a:solidFill>
                  <a:srgbClr val="202020"/>
                </a:solidFill>
                <a:latin typeface="Calibri"/>
                <a:ea typeface="Calibri"/>
                <a:cs typeface="Calibri"/>
              </a:rPr>
              <a:t>Validate | Separate software correctness from wider field accuracy</a:t>
            </a:r>
          </a:p>
          <a:p xmlns:a="http://schemas.openxmlformats.org/drawingml/2006/main">
            <a:pPr algn="l">
              <a:spcAft>
                <a:spcPts val="8"/>
              </a:spcAft>
              <a:buNone/>
              <a:defRPr sz="1688">
                <a:solidFill>
                  <a:srgbClr val="202020"/>
                </a:solidFill>
                <a:latin typeface="Calibri"/>
                <a:ea typeface="Calibri"/>
                <a:cs typeface="Calibri"/>
              </a:defRPr>
            </a:pPr>
            <a:r>
              <a:rPr sz="1688">
                <a:solidFill>
                  <a:srgbClr val="202020"/>
                </a:solidFill>
                <a:latin typeface="Calibri"/>
                <a:ea typeface="Calibri"/>
                <a:cs typeface="Calibri"/>
              </a:rPr>
              <a:t>Compare | Snort, Suricata, Zeek and Wazuh within stated Linux lab limits</a:t>
            </a:r>
          </a:p>
        </p:txBody>
      </p:sp>
      <p:sp>
        <p:nvSpPr>
          <p:cNvPr id="5" name="TextBox 4">
            <a:extLst xmlns:a="http://schemas.openxmlformats.org/drawingml/2006/main">
              <a:ext uri="{FF2B5EF4-FFF2-40B4-BE49-F238E27FC236}">
                <a16:creationId xmlns:a16="http://schemas.microsoft.com/office/drawing/2014/main" id="{71EFCECC-6739-4693-8FE0-7F2AED0E7B95}"/>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3</a:t>
            </a:r>
          </a:p>
        </p:txBody>
      </p:sp>
    </p:spTree>
    <p:extLst>
      <p:ext uri="{BB962C8B-B14F-4D97-AF65-F5344CB8AC3E}">
        <p14:creationId xmlns:p14="http://schemas.microsoft.com/office/powerpoint/2010/main" val="3992588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F89DEC2-D6BA-47A8-A786-AC7F5D2D5736}"/>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3. Requirements: Problem and Solutions</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Requirement engineering links the problem domain to a justified implementation choice</a:t>
            </a:r>
          </a:p>
        </p:txBody>
      </p:sp>
      <p:sp>
        <p:nvSpPr>
          <p:cNvPr id="3" name="Rectangle 2">
            <a:extLst xmlns:a="http://schemas.openxmlformats.org/drawingml/2006/main">
              <a:ext uri="{FF2B5EF4-FFF2-40B4-BE49-F238E27FC236}">
                <a16:creationId xmlns:a16="http://schemas.microsoft.com/office/drawing/2014/main" id="{1B94B85C-6C23-4153-BD2D-5AF1F9EBADE3}"/>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10" name="Table 3"/>
          <p:cNvGraphicFramePr/>
          <p:nvPr/>
        </p:nvGraphicFramePr>
        <p:xfrm>
          <a:off xmlns:a="http://schemas.openxmlformats.org/drawingml/2006/main" x="502920" y="1325880"/>
          <a:ext xmlns:a="http://schemas.openxmlformats.org/drawingml/2006/main" cx="11155680" cy="3840480"/>
        </p:xfrm>
        <a:graphic xmlns:a="http://schemas.openxmlformats.org/drawingml/2006/main">
          <a:graphicData uri="http://schemas.openxmlformats.org/drawingml/2006/table">
            <a:tbl>
              <a:tblPr firstRow="1" bandRow="1">
                <a:tableStyleId>{5C22544A-7EE6-4342-B048-85BDC9FD1C3A}</a:tableStyleId>
              </a:tblPr>
              <a:tblGrid>
                <a:gridCol w="2011680"/>
                <a:gridCol w="4206240"/>
                <a:gridCol w="4937760"/>
              </a:tblGrid>
              <a:tr h="640080">
                <a:tc>
                  <a:txBody>
                    <a:bodyPr/>
                    <a:lstStyle/>
                    <a:p>
                      <a:r>
                        <a:rPr sz="1600" b="1">
                          <a:latin typeface="Calibri"/>
                          <a:ea typeface="Calibri"/>
                          <a:cs typeface="Calibri"/>
                        </a:rPr>
                        <a:t>Engineering option</a:t>
                      </a:r>
                    </a:p>
                  </a:txBody>
                  <a:tcPr marL="91440" marR="91440" marT="45720" marB="45720"/>
                </a:tc>
                <a:tc>
                  <a:txBody>
                    <a:bodyPr/>
                    <a:lstStyle/>
                    <a:p>
                      <a:r>
                        <a:rPr sz="1600" b="1">
                          <a:latin typeface="Calibri"/>
                          <a:ea typeface="Calibri"/>
                          <a:cs typeface="Calibri"/>
                        </a:rPr>
                        <a:t>Why it was considered</a:t>
                      </a:r>
                    </a:p>
                  </a:txBody>
                  <a:tcPr marL="91440" marR="91440" marT="45720" marB="45720"/>
                </a:tc>
                <a:tc>
                  <a:txBody>
                    <a:bodyPr/>
                    <a:lstStyle/>
                    <a:p>
                      <a:r>
                        <a:rPr sz="1600" b="1">
                          <a:latin typeface="Calibri"/>
                          <a:ea typeface="Calibri"/>
                          <a:cs typeface="Calibri"/>
                        </a:rPr>
                        <a:t>Decision for MANTIS</a:t>
                      </a:r>
                    </a:p>
                  </a:txBody>
                  <a:tcPr marL="91440" marR="91440" marT="45720" marB="45720"/>
                </a:tc>
              </a:tr>
              <a:tr h="640080">
                <a:tc>
                  <a:txBody>
                    <a:bodyPr/>
                    <a:lstStyle/>
                    <a:p>
                      <a:r>
                        <a:rPr sz="1500" b="0">
                          <a:latin typeface="Calibri"/>
                          <a:ea typeface="Calibri"/>
                          <a:cs typeface="Calibri"/>
                        </a:rPr>
                        <a:t>Problem domain</a:t>
                      </a:r>
                    </a:p>
                  </a:txBody>
                  <a:tcPr marL="91440" marR="91440" marT="45720" marB="45720"/>
                </a:tc>
                <a:tc>
                  <a:txBody>
                    <a:bodyPr/>
                    <a:lstStyle/>
                    <a:p>
                      <a:r>
                        <a:rPr sz="1500" b="0">
                          <a:latin typeface="Calibri"/>
                          <a:ea typeface="Calibri"/>
                          <a:cs typeface="Calibri"/>
                        </a:rPr>
                        <a:t>Constrained Linux hosts need explainable monitoring</a:t>
                      </a:r>
                    </a:p>
                  </a:txBody>
                  <a:tcPr marL="91440" marR="91440" marT="45720" marB="45720"/>
                </a:tc>
                <a:tc>
                  <a:txBody>
                    <a:bodyPr/>
                    <a:lstStyle/>
                    <a:p>
                      <a:r>
                        <a:rPr sz="1500" b="0">
                          <a:latin typeface="Calibri"/>
                          <a:ea typeface="Calibri"/>
                          <a:cs typeface="Calibri"/>
                        </a:rPr>
                        <a:t>Five complementary transparent methods</a:t>
                      </a:r>
                    </a:p>
                  </a:txBody>
                  <a:tcPr marL="91440" marR="91440" marT="45720" marB="45720"/>
                </a:tc>
              </a:tr>
              <a:tr h="640080">
                <a:tc>
                  <a:txBody>
                    <a:bodyPr/>
                    <a:lstStyle/>
                    <a:p>
                      <a:r>
                        <a:rPr sz="1500" b="0">
                          <a:latin typeface="Calibri"/>
                          <a:ea typeface="Calibri"/>
                          <a:cs typeface="Calibri"/>
                        </a:rPr>
                        <a:t>Proposed solution</a:t>
                      </a:r>
                    </a:p>
                  </a:txBody>
                  <a:tcPr marL="91440" marR="91440" marT="45720" marB="45720"/>
                </a:tc>
                <a:tc>
                  <a:txBody>
                    <a:bodyPr/>
                    <a:lstStyle/>
                    <a:p>
                      <a:r>
                        <a:rPr sz="1500" b="0">
                          <a:latin typeface="Calibri"/>
                          <a:ea typeface="Calibri"/>
                          <a:cs typeface="Calibri"/>
                        </a:rPr>
                        <a:t>One compact capture-to-response workflow</a:t>
                      </a:r>
                    </a:p>
                  </a:txBody>
                  <a:tcPr marL="91440" marR="91440" marT="45720" marB="45720"/>
                </a:tc>
                <a:tc>
                  <a:txBody>
                    <a:bodyPr/>
                    <a:lstStyle/>
                    <a:p>
                      <a:r>
                        <a:rPr sz="1500" b="0">
                          <a:latin typeface="Calibri"/>
                          <a:ea typeface="Calibri"/>
                          <a:cs typeface="Calibri"/>
                        </a:rPr>
                        <a:t>Python Standard Library prototype</a:t>
                      </a:r>
                    </a:p>
                  </a:txBody>
                  <a:tcPr marL="91440" marR="91440" marT="45720" marB="45720"/>
                </a:tc>
              </a:tr>
              <a:tr h="640080">
                <a:tc>
                  <a:txBody>
                    <a:bodyPr/>
                    <a:lstStyle/>
                    <a:p>
                      <a:r>
                        <a:rPr sz="1500" b="0">
                          <a:latin typeface="Calibri"/>
                          <a:ea typeface="Calibri"/>
                          <a:cs typeface="Calibri"/>
                        </a:rPr>
                        <a:t>Snort / Suricata extension</a:t>
                      </a:r>
                    </a:p>
                  </a:txBody>
                  <a:tcPr marL="91440" marR="91440" marT="45720" marB="45720"/>
                </a:tc>
                <a:tc>
                  <a:txBody>
                    <a:bodyPr/>
                    <a:lstStyle/>
                    <a:p>
                      <a:r>
                        <a:rPr sz="1500" b="0">
                          <a:latin typeface="Calibri"/>
                          <a:ea typeface="Calibri"/>
                          <a:cs typeface="Calibri"/>
                        </a:rPr>
                        <a:t>Mature packet inspection</a:t>
                      </a:r>
                    </a:p>
                  </a:txBody>
                  <a:tcPr marL="91440" marR="91440" marT="45720" marB="45720"/>
                </a:tc>
                <a:tc>
                  <a:txBody>
                    <a:bodyPr/>
                    <a:lstStyle/>
                    <a:p>
                      <a:r>
                        <a:rPr sz="1500" b="0">
                          <a:latin typeface="Calibri"/>
                          <a:ea typeface="Calibri"/>
                          <a:cs typeface="Calibri"/>
                        </a:rPr>
                        <a:t>Not selected: shifts work to external engine integration</a:t>
                      </a:r>
                    </a:p>
                  </a:txBody>
                  <a:tcPr marL="91440" marR="91440" marT="45720" marB="45720"/>
                </a:tc>
              </a:tr>
              <a:tr h="640080">
                <a:tc>
                  <a:txBody>
                    <a:bodyPr/>
                    <a:lstStyle/>
                    <a:p>
                      <a:r>
                        <a:rPr sz="1500" b="0">
                          <a:latin typeface="Calibri"/>
                          <a:ea typeface="Calibri"/>
                          <a:cs typeface="Calibri"/>
                        </a:rPr>
                        <a:t>ML framework</a:t>
                      </a:r>
                    </a:p>
                  </a:txBody>
                  <a:tcPr marL="91440" marR="91440" marT="45720" marB="45720"/>
                </a:tc>
                <a:tc>
                  <a:txBody>
                    <a:bodyPr/>
                    <a:lstStyle/>
                    <a:p>
                      <a:r>
                        <a:rPr sz="1500" b="0">
                          <a:latin typeface="Calibri"/>
                          <a:ea typeface="Calibri"/>
                          <a:cs typeface="Calibri"/>
                        </a:rPr>
                        <a:t>Faster access to complex models</a:t>
                      </a:r>
                    </a:p>
                  </a:txBody>
                  <a:tcPr marL="91440" marR="91440" marT="45720" marB="45720"/>
                </a:tc>
                <a:tc>
                  <a:txBody>
                    <a:bodyPr/>
                    <a:lstStyle/>
                    <a:p>
                      <a:r>
                        <a:rPr sz="1500" b="0">
                          <a:latin typeface="Calibri"/>
                          <a:ea typeface="Calibri"/>
                          <a:cs typeface="Calibri"/>
                        </a:rPr>
                        <a:t>Not selected: adds dependencies and hides first-principles logic</a:t>
                      </a:r>
                    </a:p>
                  </a:txBody>
                  <a:tcPr marL="91440" marR="91440" marT="45720" marB="45720"/>
                </a:tc>
              </a:tr>
              <a:tr h="640080">
                <a:tc>
                  <a:txBody>
                    <a:bodyPr/>
                    <a:lstStyle/>
                    <a:p>
                      <a:r>
                        <a:rPr sz="1500" b="1">
                          <a:latin typeface="Calibri"/>
                          <a:ea typeface="Calibri"/>
                          <a:cs typeface="Calibri"/>
                        </a:rPr>
                        <a:t>Wazuh deployment</a:t>
                      </a:r>
                    </a:p>
                  </a:txBody>
                  <a:tcPr marL="91440" marR="91440" marT="45720" marB="45720"/>
                </a:tc>
                <a:tc>
                  <a:txBody>
                    <a:bodyPr/>
                    <a:lstStyle/>
                    <a:p>
                      <a:r>
                        <a:rPr sz="1500" b="1">
                          <a:latin typeface="Calibri"/>
                          <a:ea typeface="Calibri"/>
                          <a:cs typeface="Calibri"/>
                        </a:rPr>
                        <a:t>Broad endpoint management and response</a:t>
                      </a:r>
                    </a:p>
                  </a:txBody>
                  <a:tcPr marL="91440" marR="91440" marT="45720" marB="45720"/>
                </a:tc>
                <a:tc>
                  <a:txBody>
                    <a:bodyPr/>
                    <a:lstStyle/>
                    <a:p>
                      <a:r>
                        <a:rPr sz="1500" b="1">
                          <a:latin typeface="Calibri"/>
                          <a:ea typeface="Calibri"/>
                          <a:cs typeface="Calibri"/>
                        </a:rPr>
                        <a:t>Not selected: wider and heavier than the single-host research aim</a:t>
                      </a:r>
                    </a:p>
                  </a:txBody>
                  <a:tcPr marL="91440" marR="91440" marT="45720" marB="45720"/>
                </a:tc>
              </a:tr>
            </a:tbl>
          </a:graphicData>
        </a:graphic>
      </p:graphicFrame>
      <p:sp>
        <p:nvSpPr>
          <p:cNvPr id="5" name="TextBox 4">
            <a:extLst xmlns:a="http://schemas.openxmlformats.org/drawingml/2006/main">
              <a:ext uri="{FF2B5EF4-FFF2-40B4-BE49-F238E27FC236}">
                <a16:creationId xmlns:a16="http://schemas.microsoft.com/office/drawing/2014/main" id="{21CF611F-D43C-42D6-81D0-62208FEF6E0C}"/>
              </a:ext>
            </a:extLst>
          </p:cNvPr>
          <p:cNvSpPr>
            <a:spLocks xmlns:a="http://schemas.openxmlformats.org/drawingml/2006/main" noGrp="1"/>
          </p:cNvSpPr>
          <p:nvPr/>
        </p:nvSpPr>
        <p:spPr>
          <a:xfrm xmlns:a="http://schemas.openxmlformats.org/drawingml/2006/main">
            <a:off x="502920" y="548640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538">
                <a:solidFill>
                  <a:srgbClr val="202020"/>
                </a:solidFill>
                <a:latin typeface="Calibri"/>
                <a:ea typeface="Calibri"/>
                <a:cs typeface="Calibri"/>
              </a:defRPr>
            </a:pPr>
            <a:r>
              <a:rPr sz="1538">
                <a:solidFill>
                  <a:srgbClr val="202020"/>
                </a:solidFill>
                <a:latin typeface="Calibri"/>
                <a:ea typeface="Calibri"/>
                <a:cs typeface="Calibri"/>
              </a:rPr>
              <a:t>•  The selected strategy is justified for the dissertation aim, not presented as the best choice for every deployment.</a:t>
            </a:r>
          </a:p>
        </p:txBody>
      </p:sp>
      <p:sp>
        <p:nvSpPr>
          <p:cNvPr id="6" name="TextBox 5">
            <a:extLst xmlns:a="http://schemas.openxmlformats.org/drawingml/2006/main">
              <a:ext uri="{FF2B5EF4-FFF2-40B4-BE49-F238E27FC236}">
                <a16:creationId xmlns:a16="http://schemas.microsoft.com/office/drawing/2014/main" id="{86598432-BCC7-4EC7-9E9D-FAC9FEA8A33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4</a:t>
            </a:r>
          </a:p>
        </p:txBody>
      </p:sp>
    </p:spTree>
    <p:extLst>
      <p:ext uri="{BB962C8B-B14F-4D97-AF65-F5344CB8AC3E}">
        <p14:creationId xmlns:p14="http://schemas.microsoft.com/office/powerpoint/2010/main" val="169880066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32DA523-7BE0-4728-9DE8-D50A6A08F0B4}"/>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4. Functional and Non-Functional Requirements</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Required behaviours are paired with operational qualities and safety constraints</a:t>
            </a:r>
          </a:p>
        </p:txBody>
      </p:sp>
      <p:sp>
        <p:nvSpPr>
          <p:cNvPr id="3" name="Rectangle 2">
            <a:extLst xmlns:a="http://schemas.openxmlformats.org/drawingml/2006/main">
              <a:ext uri="{FF2B5EF4-FFF2-40B4-BE49-F238E27FC236}">
                <a16:creationId xmlns:a16="http://schemas.microsoft.com/office/drawing/2014/main" id="{086F0959-239B-4081-A8BB-E5F6C5D54D7C}"/>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46BEB495-BBD3-45BE-A3BF-DB426AF49C78}"/>
              </a:ext>
            </a:extLst>
          </p:cNvPr>
          <p:cNvSpPr>
            <a:spLocks xmlns:a="http://schemas.openxmlformats.org/drawingml/2006/main" noGrp="1"/>
          </p:cNvSpPr>
          <p:nvPr/>
        </p:nvSpPr>
        <p:spPr>
          <a:xfrm xmlns:a="http://schemas.openxmlformats.org/drawingml/2006/main">
            <a:off x="502920" y="132588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Capture | Live Ethernet or offline PCAP; validate supported protocols</a:t>
            </a:r>
          </a:p>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Detect | Run five engines and emit one common Verdict</a:t>
            </a:r>
          </a:p>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Evidence | Log, dashboard, SIEM and exportable records</a:t>
            </a:r>
          </a:p>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Response | Policy-gated iptables path, disabled by default</a:t>
            </a:r>
          </a:p>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Quality | Bounded memory, privacy redaction, reproducibility and safe failure</a:t>
            </a:r>
          </a:p>
        </p:txBody>
      </p:sp>
      <p:sp>
        <p:nvSpPr>
          <p:cNvPr id="5" name="TextBox 4">
            <a:extLst xmlns:a="http://schemas.openxmlformats.org/drawingml/2006/main">
              <a:ext uri="{FF2B5EF4-FFF2-40B4-BE49-F238E27FC236}">
                <a16:creationId xmlns:a16="http://schemas.microsoft.com/office/drawing/2014/main" id="{47642FA4-88A1-449D-ACB1-C2CB8647689B}"/>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5</a:t>
            </a:r>
          </a:p>
        </p:txBody>
      </p:sp>
    </p:spTree>
    <p:extLst>
      <p:ext uri="{BB962C8B-B14F-4D97-AF65-F5344CB8AC3E}">
        <p14:creationId xmlns:p14="http://schemas.microsoft.com/office/powerpoint/2010/main" val="71505719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D72C369-2D94-4A79-8CB2-1A674BD60FD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ED916B9A-A1C2-45E0-9D47-D93D56AF6A2C}"/>
              </a:ext>
            </a:extLst>
          </p:cNvPr>
          <p:cNvSpPr>
            <a:spLocks xmlns:a="http://schemas.openxmlformats.org/drawingml/2006/main" noGrp="1"/>
          </p:cNvSpPr>
          <p:nvPr/>
        </p:nvSpPr>
        <p:spPr>
          <a:xfrm xmlns:a="http://schemas.openxmlformats.org/drawingml/2006/main">
            <a:off x="822960" y="1554480"/>
            <a:ext cx="10515600" cy="32918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defRPr>
                <a:latin typeface="Calibri"/>
                <a:ea typeface="Calibri"/>
                <a:cs typeface="Calibri"/>
              </a:defRPr>
            </a:pPr>
            <a:r>
              <a:rPr sz="5400" b="1">
                <a:solidFill>
                  <a:srgbClr val="FFFFFF"/>
                </a:solidFill>
                <a:latin typeface="Calibri"/>
                <a:ea typeface="Calibri"/>
                <a:cs typeface="Calibri"/>
              </a:rPr>
              <a:t>Literature Review</a:t>
            </a:r>
          </a:p>
        </p:txBody>
      </p:sp>
      <p:sp>
        <p:nvSpPr>
          <p:cNvPr id="4" name="TextBox 3">
            <a:extLst xmlns:a="http://schemas.openxmlformats.org/drawingml/2006/main">
              <a:ext uri="{FF2B5EF4-FFF2-40B4-BE49-F238E27FC236}">
                <a16:creationId xmlns:a16="http://schemas.microsoft.com/office/drawing/2014/main" id="{4ED65B99-3D41-4862-A162-8B913EA31796}"/>
              </a:ext>
            </a:extLst>
          </p:cNvPr>
          <p:cNvSpPr>
            <a:spLocks xmlns:a="http://schemas.openxmlformats.org/drawingml/2006/main" noGrp="1"/>
          </p:cNvSpPr>
          <p:nvPr/>
        </p:nvSpPr>
        <p:spPr>
          <a:xfrm xmlns:a="http://schemas.openxmlformats.org/drawingml/2006/main">
            <a:off x="822960" y="4846320"/>
            <a:ext cx="10515600" cy="1554480"/>
          </a:xfrm>
          <a:prstGeom xmlns:a="http://schemas.openxmlformats.org/drawingml/2006/main" prst="rect">
            <a:avLst/>
          </a:prstGeom>
          <a:noFill xmlns:a="http://schemas.openxmlformats.org/drawingml/2006/main"/>
        </p:spPr>
        <p:txBody>
          <a:bodyPr xmlns:a="http://schemas.openxmlformats.org/drawingml/2006/main" wrap="none" anchor="t">
            <a:spAutoFit/>
          </a:bodyPr>
          <a:lstStyle xmlns:a="http://schemas.openxmlformats.org/drawingml/2006/main"/>
          <a:p xmlns:a="http://schemas.openxmlformats.org/drawingml/2006/main">
            <a:pPr algn="l">
              <a:buNone/>
              <a:defRPr>
                <a:latin typeface="Calibri"/>
                <a:ea typeface="Calibri"/>
                <a:cs typeface="Calibri"/>
              </a:defRPr>
            </a:pPr>
            <a:r>
              <a:rPr sz="1800">
                <a:solidFill>
                  <a:srgbClr val="FFFFFF"/>
                </a:solidFill>
                <a:latin typeface="Calibri"/>
                <a:ea typeface="Calibri"/>
                <a:cs typeface="Calibri"/>
              </a:rPr>
              <a:t/>
            </a:r>
          </a:p>
        </p:txBody>
      </p:sp>
    </p:spTree>
    <p:extLst>
      <p:ext uri="{BB962C8B-B14F-4D97-AF65-F5344CB8AC3E}">
        <p14:creationId xmlns:p14="http://schemas.microsoft.com/office/powerpoint/2010/main" val="169642110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D247762-17DD-48FD-9B40-1EF95A41B2EA}"/>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Literature Review: Recent Evidence</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Report papers ordered from newest to oldest</a:t>
            </a:r>
          </a:p>
        </p:txBody>
      </p:sp>
      <p:sp>
        <p:nvSpPr>
          <p:cNvPr id="3" name="Rectangle 2">
            <a:extLst xmlns:a="http://schemas.openxmlformats.org/drawingml/2006/main">
              <a:ext uri="{FF2B5EF4-FFF2-40B4-BE49-F238E27FC236}">
                <a16:creationId xmlns:a16="http://schemas.microsoft.com/office/drawing/2014/main" id="{63842E7D-4A5C-45EE-BFD9-38C16CFB029C}"/>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DA47988C-A877-43B8-84EB-5A7DCDD927EC}"/>
              </a:ext>
            </a:extLst>
          </p:cNvPr>
          <p:cNvSpPr>
            <a:spLocks xmlns:a="http://schemas.openxmlformats.org/drawingml/2006/main" noGrp="1"/>
          </p:cNvSpPr>
          <p:nvPr/>
        </p:nvSpPr>
        <p:spPr>
          <a:xfrm xmlns:a="http://schemas.openxmlformats.org/drawingml/2006/main">
            <a:off x="502920" y="132588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buNone/>
              <a:defRPr>
                <a:solidFill>
                  <a:srgbClr val="202020"/>
                </a:solidFill>
                <a:latin typeface="Calibri"/>
                <a:ea typeface="Calibri"/>
                <a:cs typeface="Calibri"/>
              </a:defRPr>
            </a:pPr>
            <a:r>
              <a:rPr sz="1688" b="1">
                <a:solidFill>
                  <a:srgbClr val="202020"/>
                </a:solidFill>
                <a:latin typeface="Calibri"/>
                <a:ea typeface="Calibri"/>
                <a:cs typeface="Calibri"/>
              </a:rPr>
              <a:t>2024 | Halvorsen et al. | </a:t>
            </a:r>
            <a:r>
              <a:rPr sz="1688" i="1">
                <a:solidFill>
                  <a:srgbClr val="202020"/>
                </a:solidFill>
                <a:latin typeface="Calibri"/>
                <a:ea typeface="Calibri"/>
                <a:cs typeface="Calibri"/>
              </a:rPr>
              <a:t>Applying Generative Machine Learning to Intrusion Detection: A Systematic Mapping Study and Review</a:t>
            </a:r>
          </a:p>
          <a:p xmlns:a="http://schemas.openxmlformats.org/drawingml/2006/main">
            <a:pPr algn="l">
              <a:buNone/>
              <a:defRPr>
                <a:solidFill>
                  <a:srgbClr val="202020"/>
                </a:solidFill>
                <a:latin typeface="Calibri"/>
                <a:ea typeface="Calibri"/>
                <a:cs typeface="Calibri"/>
              </a:defRPr>
            </a:pPr>
            <a:r>
              <a:rPr sz="1688" b="1">
                <a:solidFill>
                  <a:srgbClr val="202020"/>
                </a:solidFill>
                <a:latin typeface="Calibri"/>
                <a:ea typeface="Calibri"/>
                <a:cs typeface="Calibri"/>
              </a:rPr>
              <a:t>Keywords | </a:t>
            </a:r>
            <a:r>
              <a:rPr sz="1688">
                <a:solidFill>
                  <a:srgbClr val="202020"/>
                </a:solidFill>
                <a:latin typeface="Calibri"/>
                <a:ea typeface="Calibri"/>
                <a:cs typeface="Calibri"/>
              </a:rPr>
              <a:t>generative ML, scarce data, class imbalance, fidelity metrics, deployment gap.</a:t>
            </a:r>
          </a:p>
          <a:p xmlns:a="http://schemas.openxmlformats.org/drawingml/2006/main">
            <a:pPr algn="l">
              <a:buNone/>
              <a:defRPr>
                <a:solidFill>
                  <a:srgbClr val="202020"/>
                </a:solidFill>
                <a:latin typeface="Calibri"/>
                <a:ea typeface="Calibri"/>
                <a:cs typeface="Calibri"/>
              </a:defRPr>
            </a:pPr>
            <a:r>
              <a:rPr sz="1688" b="1">
                <a:solidFill>
                  <a:srgbClr val="202020"/>
                </a:solidFill>
                <a:latin typeface="Calibri"/>
                <a:ea typeface="Calibri"/>
                <a:cs typeface="Calibri"/>
              </a:rPr>
              <a:t>MANTIS link | </a:t>
            </a:r>
            <a:r>
              <a:rPr sz="1688">
                <a:solidFill>
                  <a:srgbClr val="202020"/>
                </a:solidFill>
                <a:latin typeface="Calibri"/>
                <a:ea typeface="Calibri"/>
                <a:cs typeface="Calibri"/>
              </a:rPr>
              <a:t>motivated transparent edge detection with measurable runtime evidence.</a:t>
            </a:r>
          </a:p>
          <a:p xmlns:a="http://schemas.openxmlformats.org/drawingml/2006/main">
            <a:pPr algn="l">
              <a:buNone/>
              <a:defRPr>
                <a:solidFill>
                  <a:srgbClr val="202020"/>
                </a:solidFill>
                <a:latin typeface="Calibri"/>
                <a:ea typeface="Calibri"/>
                <a:cs typeface="Calibri"/>
              </a:defRPr>
            </a:pPr>
            <a:r>
              <a:rPr sz="750">
                <a:solidFill>
                  <a:srgbClr val="202020"/>
                </a:solidFill>
                <a:latin typeface="Calibri"/>
                <a:ea typeface="Calibri"/>
                <a:cs typeface="Calibri"/>
              </a:rPr>
              <a:t> </a:t>
            </a:r>
          </a:p>
          <a:p xmlns:a="http://schemas.openxmlformats.org/drawingml/2006/main">
            <a:pPr algn="l">
              <a:buNone/>
              <a:defRPr>
                <a:solidFill>
                  <a:srgbClr val="202020"/>
                </a:solidFill>
                <a:latin typeface="Calibri"/>
                <a:ea typeface="Calibri"/>
                <a:cs typeface="Calibri"/>
              </a:defRPr>
            </a:pPr>
            <a:r>
              <a:rPr sz="1688" b="1">
                <a:solidFill>
                  <a:srgbClr val="202020"/>
                </a:solidFill>
                <a:latin typeface="Calibri"/>
                <a:ea typeface="Calibri"/>
                <a:cs typeface="Calibri"/>
              </a:rPr>
              <a:t>2023 | Neto et al. | </a:t>
            </a:r>
            <a:r>
              <a:rPr sz="1688" i="1">
                <a:solidFill>
                  <a:srgbClr val="202020"/>
                </a:solidFill>
                <a:latin typeface="Calibri"/>
                <a:ea typeface="Calibri"/>
                <a:cs typeface="Calibri"/>
              </a:rPr>
              <a:t>CICIoT2023: A Real Time Dataset and Benchmark for Large Scale Attacks in IoT Environment</a:t>
            </a:r>
          </a:p>
          <a:p xmlns:a="http://schemas.openxmlformats.org/drawingml/2006/main">
            <a:pPr algn="l">
              <a:buNone/>
              <a:defRPr>
                <a:solidFill>
                  <a:srgbClr val="202020"/>
                </a:solidFill>
                <a:latin typeface="Calibri"/>
                <a:ea typeface="Calibri"/>
                <a:cs typeface="Calibri"/>
              </a:defRPr>
            </a:pPr>
            <a:r>
              <a:rPr sz="1688" b="1">
                <a:solidFill>
                  <a:srgbClr val="202020"/>
                </a:solidFill>
                <a:latin typeface="Calibri"/>
                <a:ea typeface="Calibri"/>
                <a:cs typeface="Calibri"/>
              </a:rPr>
              <a:t>Keywords | </a:t>
            </a:r>
            <a:r>
              <a:rPr sz="1688">
                <a:solidFill>
                  <a:srgbClr val="202020"/>
                </a:solidFill>
                <a:latin typeface="Calibri"/>
                <a:ea typeface="Calibri"/>
                <a:cs typeface="Calibri"/>
              </a:rPr>
              <a:t>105 IoT devices, 33 attacks, benchmark dataset, schema validation.</a:t>
            </a:r>
          </a:p>
          <a:p xmlns:a="http://schemas.openxmlformats.org/drawingml/2006/main">
            <a:pPr algn="l">
              <a:buNone/>
              <a:defRPr>
                <a:solidFill>
                  <a:srgbClr val="202020"/>
                </a:solidFill>
                <a:latin typeface="Calibri"/>
                <a:ea typeface="Calibri"/>
                <a:cs typeface="Calibri"/>
              </a:defRPr>
            </a:pPr>
            <a:r>
              <a:rPr sz="1688" b="1">
                <a:solidFill>
                  <a:srgbClr val="202020"/>
                </a:solidFill>
                <a:latin typeface="Calibri"/>
                <a:ea typeface="Calibri"/>
                <a:cs typeface="Calibri"/>
              </a:rPr>
              <a:t>MANTIS link | </a:t>
            </a:r>
            <a:r>
              <a:rPr sz="1688">
                <a:solidFill>
                  <a:srgbClr val="202020"/>
                </a:solidFill>
                <a:latin typeface="Calibri"/>
                <a:ea typeface="Calibri"/>
                <a:cs typeface="Calibri"/>
              </a:rPr>
              <a:t>provided external data, while MANTIS validates engine-native features and separates prepared records from raw capture.</a:t>
            </a:r>
          </a:p>
        </p:txBody>
      </p:sp>
      <p:sp>
        <p:nvSpPr>
          <p:cNvPr id="5" name="TextBox 4">
            <a:extLst xmlns:a="http://schemas.openxmlformats.org/drawingml/2006/main">
              <a:ext uri="{FF2B5EF4-FFF2-40B4-BE49-F238E27FC236}">
                <a16:creationId xmlns:a16="http://schemas.microsoft.com/office/drawing/2014/main" id="{C2750AE8-986D-4228-BEB6-2B98A498FB1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7</a:t>
            </a:r>
          </a:p>
        </p:txBody>
      </p:sp>
    </p:spTree>
    <p:extLst>
      <p:ext uri="{BB962C8B-B14F-4D97-AF65-F5344CB8AC3E}">
        <p14:creationId xmlns:p14="http://schemas.microsoft.com/office/powerpoint/2010/main" val="148176781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D247762-17DD-48FD-9B40-1EF95A41B2EA}"/>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Literature Review: Key Comparisons</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The remaining report papers continue in descending year order</a:t>
            </a:r>
          </a:p>
        </p:txBody>
      </p:sp>
      <p:sp>
        <p:nvSpPr>
          <p:cNvPr id="3" name="Rectangle 2">
            <a:extLst xmlns:a="http://schemas.openxmlformats.org/drawingml/2006/main">
              <a:ext uri="{FF2B5EF4-FFF2-40B4-BE49-F238E27FC236}">
                <a16:creationId xmlns:a16="http://schemas.microsoft.com/office/drawing/2014/main" id="{63842E7D-4A5C-45EE-BFD9-38C16CFB029C}"/>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DA47988C-A877-43B8-84EB-5A7DCDD927EC}"/>
              </a:ext>
            </a:extLst>
          </p:cNvPr>
          <p:cNvSpPr>
            <a:spLocks xmlns:a="http://schemas.openxmlformats.org/drawingml/2006/main" noGrp="1"/>
          </p:cNvSpPr>
          <p:nvPr/>
        </p:nvSpPr>
        <p:spPr>
          <a:xfrm xmlns:a="http://schemas.openxmlformats.org/drawingml/2006/main">
            <a:off x="502920" y="132588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buNone/>
              <a:defRPr>
                <a:solidFill>
                  <a:srgbClr val="202020"/>
                </a:solidFill>
                <a:latin typeface="Calibri"/>
                <a:ea typeface="Calibri"/>
                <a:cs typeface="Calibri"/>
              </a:defRPr>
            </a:pPr>
            <a:r>
              <a:rPr sz="1688" b="1">
                <a:solidFill>
                  <a:srgbClr val="202020"/>
                </a:solidFill>
                <a:latin typeface="Calibri"/>
                <a:ea typeface="Calibri"/>
                <a:cs typeface="Calibri"/>
              </a:rPr>
              <a:t>2023 | Hidayat et al. | </a:t>
            </a:r>
            <a:r>
              <a:rPr sz="1688" i="1">
                <a:solidFill>
                  <a:srgbClr val="202020"/>
                </a:solidFill>
                <a:latin typeface="Calibri"/>
                <a:ea typeface="Calibri"/>
                <a:cs typeface="Calibri"/>
              </a:rPr>
              <a:t>Machine Learning Based Intrusion Detection System: An Experimental Comparison</a:t>
            </a:r>
          </a:p>
          <a:p xmlns:a="http://schemas.openxmlformats.org/drawingml/2006/main">
            <a:pPr algn="l">
              <a:buNone/>
              <a:defRPr>
                <a:solidFill>
                  <a:srgbClr val="202020"/>
                </a:solidFill>
                <a:latin typeface="Calibri"/>
                <a:ea typeface="Calibri"/>
                <a:cs typeface="Calibri"/>
              </a:defRPr>
            </a:pPr>
            <a:r>
              <a:rPr sz="1688" b="1">
                <a:solidFill>
                  <a:srgbClr val="202020"/>
                </a:solidFill>
                <a:latin typeface="Calibri"/>
                <a:ea typeface="Calibri"/>
                <a:cs typeface="Calibri"/>
              </a:rPr>
              <a:t>Keywords | </a:t>
            </a:r>
            <a:r>
              <a:rPr sz="1688">
                <a:solidFill>
                  <a:srgbClr val="202020"/>
                </a:solidFill>
                <a:latin typeface="Calibri"/>
                <a:ea typeface="Calibri"/>
                <a:cs typeface="Calibri"/>
              </a:rPr>
              <a:t>TON_IoT, KNN, model comparison, multiple metrics, computational cost.</a:t>
            </a:r>
          </a:p>
          <a:p xmlns:a="http://schemas.openxmlformats.org/drawingml/2006/main">
            <a:pPr algn="l">
              <a:buNone/>
              <a:defRPr>
                <a:solidFill>
                  <a:srgbClr val="202020"/>
                </a:solidFill>
                <a:latin typeface="Calibri"/>
                <a:ea typeface="Calibri"/>
                <a:cs typeface="Calibri"/>
              </a:defRPr>
            </a:pPr>
            <a:r>
              <a:rPr sz="1688" b="1">
                <a:solidFill>
                  <a:srgbClr val="202020"/>
                </a:solidFill>
                <a:latin typeface="Calibri"/>
                <a:ea typeface="Calibri"/>
                <a:cs typeface="Calibri"/>
              </a:rPr>
              <a:t>MANTIS link | </a:t>
            </a:r>
            <a:r>
              <a:rPr sz="1688">
                <a:solidFill>
                  <a:srgbClr val="202020"/>
                </a:solidFill>
                <a:latin typeface="Calibri"/>
                <a:ea typeface="Calibri"/>
                <a:cs typeface="Calibri"/>
              </a:rPr>
              <a:t>supported a scan-focused KNN engine and per-engine evaluation rather than one universal classifier.</a:t>
            </a:r>
          </a:p>
          <a:p xmlns:a="http://schemas.openxmlformats.org/drawingml/2006/main">
            <a:pPr algn="l">
              <a:buNone/>
              <a:defRPr>
                <a:solidFill>
                  <a:srgbClr val="202020"/>
                </a:solidFill>
                <a:latin typeface="Calibri"/>
                <a:ea typeface="Calibri"/>
                <a:cs typeface="Calibri"/>
              </a:defRPr>
            </a:pPr>
            <a:r>
              <a:rPr sz="750">
                <a:solidFill>
                  <a:srgbClr val="202020"/>
                </a:solidFill>
                <a:latin typeface="Calibri"/>
                <a:ea typeface="Calibri"/>
                <a:cs typeface="Calibri"/>
              </a:rPr>
              <a:t> </a:t>
            </a:r>
          </a:p>
          <a:p xmlns:a="http://schemas.openxmlformats.org/drawingml/2006/main">
            <a:pPr algn="l">
              <a:buNone/>
              <a:defRPr>
                <a:solidFill>
                  <a:srgbClr val="202020"/>
                </a:solidFill>
                <a:latin typeface="Calibri"/>
                <a:ea typeface="Calibri"/>
                <a:cs typeface="Calibri"/>
              </a:defRPr>
            </a:pPr>
            <a:r>
              <a:rPr sz="1688" b="1">
                <a:solidFill>
                  <a:srgbClr val="202020"/>
                </a:solidFill>
                <a:latin typeface="Calibri"/>
                <a:ea typeface="Calibri"/>
                <a:cs typeface="Calibri"/>
              </a:rPr>
              <a:t>2022 | Kus et al. | </a:t>
            </a:r>
            <a:r>
              <a:rPr sz="1688" i="1">
                <a:solidFill>
                  <a:srgbClr val="202020"/>
                </a:solidFill>
                <a:latin typeface="Calibri"/>
                <a:ea typeface="Calibri"/>
                <a:cs typeface="Calibri"/>
              </a:rPr>
              <a:t>A False Sense of Security? Revisiting the State of Machine Learning Based Industrial Intrusion Detection</a:t>
            </a:r>
          </a:p>
          <a:p xmlns:a="http://schemas.openxmlformats.org/drawingml/2006/main">
            <a:pPr algn="l">
              <a:buNone/>
              <a:defRPr>
                <a:solidFill>
                  <a:srgbClr val="202020"/>
                </a:solidFill>
                <a:latin typeface="Calibri"/>
                <a:ea typeface="Calibri"/>
                <a:cs typeface="Calibri"/>
              </a:defRPr>
            </a:pPr>
            <a:r>
              <a:rPr sz="1688" b="1">
                <a:solidFill>
                  <a:srgbClr val="202020"/>
                </a:solidFill>
                <a:latin typeface="Calibri"/>
                <a:ea typeface="Calibri"/>
                <a:cs typeface="Calibri"/>
              </a:rPr>
              <a:t>Keywords | </a:t>
            </a:r>
            <a:r>
              <a:rPr sz="1688">
                <a:solidFill>
                  <a:srgbClr val="202020"/>
                </a:solidFill>
                <a:latin typeface="Calibri"/>
                <a:ea typeface="Calibri"/>
                <a:cs typeface="Calibri"/>
              </a:rPr>
              <a:t>withheld attacks, generalisation failure, inflated random-split accuracy, unknown attacks.</a:t>
            </a:r>
          </a:p>
          <a:p xmlns:a="http://schemas.openxmlformats.org/drawingml/2006/main">
            <a:pPr algn="l">
              <a:buNone/>
              <a:defRPr>
                <a:solidFill>
                  <a:srgbClr val="202020"/>
                </a:solidFill>
                <a:latin typeface="Calibri"/>
                <a:ea typeface="Calibri"/>
                <a:cs typeface="Calibri"/>
              </a:defRPr>
            </a:pPr>
            <a:r>
              <a:rPr sz="1688" b="1">
                <a:solidFill>
                  <a:srgbClr val="202020"/>
                </a:solidFill>
                <a:latin typeface="Calibri"/>
                <a:ea typeface="Calibri"/>
                <a:cs typeface="Calibri"/>
              </a:rPr>
              <a:t>MANTIS link | </a:t>
            </a:r>
            <a:r>
              <a:rPr sz="1688">
                <a:solidFill>
                  <a:srgbClr val="202020"/>
                </a:solidFill>
                <a:latin typeface="Calibri"/>
                <a:ea typeface="Calibri"/>
                <a:cs typeface="Calibri"/>
              </a:rPr>
              <a:t>kept software test passes separate from field accuracy and framed K-Means as novelty detection, not proven zero-day detection.</a:t>
            </a:r>
          </a:p>
        </p:txBody>
      </p:sp>
      <p:sp>
        <p:nvSpPr>
          <p:cNvPr id="5" name="TextBox 4">
            <a:extLst xmlns:a="http://schemas.openxmlformats.org/drawingml/2006/main">
              <a:ext uri="{FF2B5EF4-FFF2-40B4-BE49-F238E27FC236}">
                <a16:creationId xmlns:a16="http://schemas.microsoft.com/office/drawing/2014/main" id="{C2750AE8-986D-4228-BEB6-2B98A498FB1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8</a:t>
            </a:r>
          </a:p>
        </p:txBody>
      </p:sp>
    </p:spTree>
    <p:extLst>
      <p:ext uri="{BB962C8B-B14F-4D97-AF65-F5344CB8AC3E}">
        <p14:creationId xmlns:p14="http://schemas.microsoft.com/office/powerpoint/2010/main" val="148176781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D247762-17DD-48FD-9B40-1EF95A41B2EA}"/>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5. Methodology</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Constructive research builds, evaluates and critiques one traceable artefact</a:t>
            </a:r>
          </a:p>
        </p:txBody>
      </p:sp>
      <p:sp>
        <p:nvSpPr>
          <p:cNvPr id="3" name="Rectangle 2">
            <a:extLst xmlns:a="http://schemas.openxmlformats.org/drawingml/2006/main">
              <a:ext uri="{FF2B5EF4-FFF2-40B4-BE49-F238E27FC236}">
                <a16:creationId xmlns:a16="http://schemas.microsoft.com/office/drawing/2014/main" id="{63842E7D-4A5C-45EE-BFD9-38C16CFB029C}"/>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DA47988C-A877-43B8-84EB-5A7DCDD927EC}"/>
              </a:ext>
            </a:extLst>
          </p:cNvPr>
          <p:cNvSpPr>
            <a:spLocks xmlns:a="http://schemas.openxmlformats.org/drawingml/2006/main" noGrp="1"/>
          </p:cNvSpPr>
          <p:nvPr/>
        </p:nvSpPr>
        <p:spPr>
          <a:xfrm xmlns:a="http://schemas.openxmlformats.org/drawingml/2006/main">
            <a:off x="502920" y="132588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725">
                <a:solidFill>
                  <a:srgbClr val="202020"/>
                </a:solidFill>
                <a:latin typeface="Calibri"/>
                <a:ea typeface="Calibri"/>
                <a:cs typeface="Calibri"/>
              </a:defRPr>
            </a:pPr>
            <a:r>
              <a:rPr sz="1725">
                <a:solidFill>
                  <a:srgbClr val="202020"/>
                </a:solidFill>
                <a:latin typeface="Calibri"/>
                <a:ea typeface="Calibri"/>
                <a:cs typeface="Calibri"/>
              </a:rPr>
              <a:t>Method | Constructive research: build, evaluate and critique one artefact</a:t>
            </a:r>
          </a:p>
          <a:p xmlns:a="http://schemas.openxmlformats.org/drawingml/2006/main">
            <a:pPr algn="l">
              <a:spcAft>
                <a:spcPts val="8"/>
              </a:spcAft>
              <a:buNone/>
              <a:defRPr sz="1725">
                <a:solidFill>
                  <a:srgbClr val="202020"/>
                </a:solidFill>
                <a:latin typeface="Calibri"/>
                <a:ea typeface="Calibri"/>
                <a:cs typeface="Calibri"/>
              </a:defRPr>
            </a:pPr>
            <a:r>
              <a:rPr sz="1725">
                <a:solidFill>
                  <a:srgbClr val="202020"/>
                </a:solidFill>
                <a:latin typeface="Calibri"/>
                <a:ea typeface="Calibri"/>
                <a:cs typeface="Calibri"/>
              </a:rPr>
              <a:t>Lens | Pragmatism selects evidence suited to each question</a:t>
            </a:r>
          </a:p>
          <a:p xmlns:a="http://schemas.openxmlformats.org/drawingml/2006/main">
            <a:pPr algn="l">
              <a:spcAft>
                <a:spcPts val="8"/>
              </a:spcAft>
              <a:buNone/>
              <a:defRPr sz="1725">
                <a:solidFill>
                  <a:srgbClr val="202020"/>
                </a:solidFill>
                <a:latin typeface="Calibri"/>
                <a:ea typeface="Calibri"/>
                <a:cs typeface="Calibri"/>
              </a:defRPr>
            </a:pPr>
            <a:r>
              <a:rPr sz="1725">
                <a:solidFill>
                  <a:srgbClr val="202020"/>
                </a:solidFill>
                <a:latin typeface="Calibri"/>
                <a:ea typeface="Calibri"/>
                <a:cs typeface="Calibri"/>
              </a:rPr>
              <a:t>Data | Generated frames, matched engine sets, 13,159-frame PCAP and 299,994 external rows</a:t>
            </a:r>
          </a:p>
          <a:p xmlns:a="http://schemas.openxmlformats.org/drawingml/2006/main">
            <a:pPr algn="l">
              <a:spcAft>
                <a:spcPts val="8"/>
              </a:spcAft>
              <a:buNone/>
              <a:defRPr sz="1725">
                <a:solidFill>
                  <a:srgbClr val="202020"/>
                </a:solidFill>
                <a:latin typeface="Calibri"/>
                <a:ea typeface="Calibri"/>
                <a:cs typeface="Calibri"/>
              </a:defRPr>
            </a:pPr>
            <a:r>
              <a:rPr sz="1725">
                <a:solidFill>
                  <a:srgbClr val="202020"/>
                </a:solidFill>
                <a:latin typeface="Calibri"/>
                <a:ea typeface="Calibri"/>
                <a:cs typeface="Calibri"/>
              </a:rPr>
              <a:t>Evidence | Automated tests, metrics, architecture review and usability critique</a:t>
            </a:r>
          </a:p>
          <a:p xmlns:a="http://schemas.openxmlformats.org/drawingml/2006/main">
            <a:pPr algn="l">
              <a:spcAft>
                <a:spcPts val="8"/>
              </a:spcAft>
              <a:buNone/>
              <a:defRPr sz="1725">
                <a:solidFill>
                  <a:srgbClr val="202020"/>
                </a:solidFill>
                <a:latin typeface="Calibri"/>
                <a:ea typeface="Calibri"/>
                <a:cs typeface="Calibri"/>
              </a:defRPr>
            </a:pPr>
            <a:r>
              <a:rPr sz="1725">
                <a:solidFill>
                  <a:srgbClr val="202020"/>
                </a:solidFill>
                <a:latin typeface="Calibri"/>
                <a:ea typeface="Calibri"/>
                <a:cs typeface="Calibri"/>
              </a:rPr>
              <a:t>Reproducibility | Report data origin, preprocessing, configuration and commands</a:t>
            </a:r>
          </a:p>
        </p:txBody>
      </p:sp>
      <p:sp>
        <p:nvSpPr>
          <p:cNvPr id="5" name="TextBox 4">
            <a:extLst xmlns:a="http://schemas.openxmlformats.org/drawingml/2006/main">
              <a:ext uri="{FF2B5EF4-FFF2-40B4-BE49-F238E27FC236}">
                <a16:creationId xmlns:a16="http://schemas.microsoft.com/office/drawing/2014/main" id="{C2750AE8-986D-4228-BEB6-2B98A498FB1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9</a:t>
            </a:r>
          </a:p>
        </p:txBody>
      </p:sp>
    </p:spTree>
    <p:extLst>
      <p:ext uri="{BB962C8B-B14F-4D97-AF65-F5344CB8AC3E}">
        <p14:creationId xmlns:p14="http://schemas.microsoft.com/office/powerpoint/2010/main" val="148176781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D247762-17DD-48FD-9B40-1EF95A41B2EA}"/>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6. Agile, Scrum and Kanban</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How the methodology was implemented during construction</a:t>
            </a:r>
          </a:p>
        </p:txBody>
      </p:sp>
      <p:sp>
        <p:nvSpPr>
          <p:cNvPr id="3" name="Rectangle 2">
            <a:extLst xmlns:a="http://schemas.openxmlformats.org/drawingml/2006/main">
              <a:ext uri="{FF2B5EF4-FFF2-40B4-BE49-F238E27FC236}">
                <a16:creationId xmlns:a16="http://schemas.microsoft.com/office/drawing/2014/main" id="{63842E7D-4A5C-45EE-BFD9-38C16CFB029C}"/>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DA47988C-A877-43B8-84EB-5A7DCDD927EC}"/>
              </a:ext>
            </a:extLst>
          </p:cNvPr>
          <p:cNvSpPr>
            <a:spLocks xmlns:a="http://schemas.openxmlformats.org/drawingml/2006/main" noGrp="1"/>
          </p:cNvSpPr>
          <p:nvPr/>
        </p:nvSpPr>
        <p:spPr>
          <a:xfrm xmlns:a="http://schemas.openxmlformats.org/drawingml/2006/main">
            <a:off x="502920" y="132588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Agile | Incremental build-and-verify cycles</a:t>
            </a:r>
          </a:p>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Scrum | Backlog, review and adaptation without claiming a full team</a:t>
            </a:r>
          </a:p>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Kanban | Two coding cards and one testing card in progress</a:t>
            </a:r>
          </a:p>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Traceability | Each card linked module, requirement, test and evidence</a:t>
            </a:r>
          </a:p>
          <a:p xmlns:a="http://schemas.openxmlformats.org/drawingml/2006/main">
            <a:pPr algn="l">
              <a:spcAft>
                <a:spcPts val="8"/>
              </a:spcAft>
              <a:buNone/>
              <a:defRPr sz="1800">
                <a:solidFill>
                  <a:srgbClr val="202020"/>
                </a:solidFill>
                <a:latin typeface="Calibri"/>
                <a:ea typeface="Calibri"/>
                <a:cs typeface="Calibri"/>
              </a:defRPr>
            </a:pPr>
            <a:r>
              <a:rPr sz="1800">
                <a:solidFill>
                  <a:srgbClr val="202020"/>
                </a:solidFill>
                <a:latin typeface="Calibri"/>
                <a:ea typeface="Calibri"/>
                <a:cs typeface="Calibri"/>
              </a:rPr>
              <a:t>Feedback | Failed evaluation returned work to In Progress</a:t>
            </a:r>
          </a:p>
        </p:txBody>
      </p:sp>
      <p:sp>
        <p:nvSpPr>
          <p:cNvPr id="5" name="TextBox 4">
            <a:extLst xmlns:a="http://schemas.openxmlformats.org/drawingml/2006/main">
              <a:ext uri="{FF2B5EF4-FFF2-40B4-BE49-F238E27FC236}">
                <a16:creationId xmlns:a16="http://schemas.microsoft.com/office/drawing/2014/main" id="{C2750AE8-986D-4228-BEB6-2B98A498FB1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10</a:t>
            </a:r>
          </a:p>
        </p:txBody>
      </p:sp>
    </p:spTree>
    <p:extLst>
      <p:ext uri="{BB962C8B-B14F-4D97-AF65-F5344CB8AC3E}">
        <p14:creationId xmlns:p14="http://schemas.microsoft.com/office/powerpoint/2010/main" val="148176781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5EFCD93-BCFC-4C8E-8281-5EE662AD4845}"/>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7. Algorithm Definitions and Roles</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Each method targets a different observable threat pattern</a:t>
            </a:r>
          </a:p>
        </p:txBody>
      </p:sp>
      <p:sp>
        <p:nvSpPr>
          <p:cNvPr id="3" name="Rectangle 2">
            <a:extLst xmlns:a="http://schemas.openxmlformats.org/drawingml/2006/main">
              <a:ext uri="{FF2B5EF4-FFF2-40B4-BE49-F238E27FC236}">
                <a16:creationId xmlns:a16="http://schemas.microsoft.com/office/drawing/2014/main" id="{D2EE920D-29B6-4A2C-92F0-6ABCDE90EA71}"/>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10" name="Table 3"/>
          <p:cNvGraphicFramePr/>
          <p:nvPr/>
        </p:nvGraphicFramePr>
        <p:xfrm>
          <a:off xmlns:a="http://schemas.openxmlformats.org/drawingml/2006/main" x="502920" y="1371600"/>
          <a:ext xmlns:a="http://schemas.openxmlformats.org/drawingml/2006/main" cx="11155680" cy="4206240"/>
        </p:xfrm>
        <a:graphic xmlns:a="http://schemas.openxmlformats.org/drawingml/2006/main">
          <a:graphicData uri="http://schemas.openxmlformats.org/drawingml/2006/table">
            <a:tbl>
              <a:tblPr firstRow="1" bandRow="1">
                <a:tableStyleId>{5C22544A-7EE6-4342-B048-85BDC9FD1C3A}</a:tableStyleId>
              </a:tblPr>
              <a:tblGrid>
                <a:gridCol w="1737360"/>
                <a:gridCol w="1920240"/>
                <a:gridCol w="2377440"/>
                <a:gridCol w="5120640"/>
              </a:tblGrid>
              <a:tr h="701040">
                <a:tc>
                  <a:txBody>
                    <a:bodyPr/>
                    <a:lstStyle/>
                    <a:p>
                      <a:r>
                        <a:rPr sz="1500" b="1">
                          <a:latin typeface="Calibri"/>
                          <a:ea typeface="Calibri"/>
                          <a:cs typeface="Calibri"/>
                        </a:rPr>
                        <a:t>Engine</a:t>
                      </a:r>
                    </a:p>
                  </a:txBody>
                  <a:tcPr marL="91440" marR="91440" marT="45720" marB="45720"/>
                </a:tc>
                <a:tc>
                  <a:txBody>
                    <a:bodyPr/>
                    <a:lstStyle/>
                    <a:p>
                      <a:r>
                        <a:rPr sz="1500" b="1">
                          <a:latin typeface="Calibri"/>
                          <a:ea typeface="Calibri"/>
                          <a:cs typeface="Calibri"/>
                        </a:rPr>
                        <a:t>Definition</a:t>
                      </a:r>
                    </a:p>
                  </a:txBody>
                  <a:tcPr marL="91440" marR="91440" marT="45720" marB="45720"/>
                </a:tc>
                <a:tc>
                  <a:txBody>
                    <a:bodyPr/>
                    <a:lstStyle/>
                    <a:p>
                      <a:r>
                        <a:rPr sz="1500" b="1">
                          <a:latin typeface="Calibri"/>
                          <a:ea typeface="Calibri"/>
                          <a:cs typeface="Calibri"/>
                        </a:rPr>
                        <a:t>Used for</a:t>
                      </a:r>
                    </a:p>
                  </a:txBody>
                  <a:tcPr marL="91440" marR="91440" marT="45720" marB="45720"/>
                </a:tc>
                <a:tc>
                  <a:txBody>
                    <a:bodyPr/>
                    <a:lstStyle/>
                    <a:p>
                      <a:r>
                        <a:rPr sz="1500" b="1">
                          <a:latin typeface="Calibri"/>
                          <a:ea typeface="Calibri"/>
                          <a:cs typeface="Calibri"/>
                        </a:rPr>
                        <a:t>MANTIS input</a:t>
                      </a:r>
                    </a:p>
                  </a:txBody>
                  <a:tcPr marL="91440" marR="91440" marT="45720" marB="45720"/>
                </a:tc>
              </a:tr>
              <a:tr h="701040">
                <a:tc>
                  <a:txBody>
                    <a:bodyPr/>
                    <a:lstStyle/>
                    <a:p>
                      <a:r>
                        <a:rPr sz="1400" b="0">
                          <a:latin typeface="Calibri"/>
                          <a:ea typeface="Calibri"/>
                          <a:cs typeface="Calibri"/>
                        </a:rPr>
                        <a:t>Z-Score</a:t>
                      </a:r>
                    </a:p>
                  </a:txBody>
                  <a:tcPr marL="91440" marR="91440" marT="45720" marB="45720"/>
                </a:tc>
                <a:tc>
                  <a:txBody>
                    <a:bodyPr/>
                    <a:lstStyle/>
                    <a:p>
                      <a:r>
                        <a:rPr sz="1400" b="0">
                          <a:latin typeface="Calibri"/>
                          <a:ea typeface="Calibri"/>
                          <a:cs typeface="Calibri"/>
                        </a:rPr>
                        <a:t>Deviation from an online mean</a:t>
                      </a:r>
                    </a:p>
                  </a:txBody>
                  <a:tcPr marL="91440" marR="91440" marT="45720" marB="45720"/>
                </a:tc>
                <a:tc>
                  <a:txBody>
                    <a:bodyPr/>
                    <a:lstStyle/>
                    <a:p>
                      <a:r>
                        <a:rPr sz="1400" b="0">
                          <a:latin typeface="Calibri"/>
                          <a:ea typeface="Calibri"/>
                          <a:cs typeface="Calibri"/>
                        </a:rPr>
                        <a:t>Volumetric flood anomaly</a:t>
                      </a:r>
                    </a:p>
                  </a:txBody>
                  <a:tcPr marL="91440" marR="91440" marT="45720" marB="45720"/>
                </a:tc>
                <a:tc>
                  <a:txBody>
                    <a:bodyPr/>
                    <a:lstStyle/>
                    <a:p>
                      <a:r>
                        <a:rPr sz="1400" b="0">
                          <a:latin typeface="Calibri"/>
                          <a:ea typeface="Calibri"/>
                          <a:cs typeface="Calibri"/>
                        </a:rPr>
                        <a:t>Packets per second</a:t>
                      </a:r>
                    </a:p>
                  </a:txBody>
                  <a:tcPr marL="91440" marR="91440" marT="45720" marB="45720"/>
                </a:tc>
              </a:tr>
              <a:tr h="701040">
                <a:tc>
                  <a:txBody>
                    <a:bodyPr/>
                    <a:lstStyle/>
                    <a:p>
                      <a:r>
                        <a:rPr sz="1400" b="0">
                          <a:latin typeface="Calibri"/>
                          <a:ea typeface="Calibri"/>
                          <a:cs typeface="Calibri"/>
                        </a:rPr>
                        <a:t>KNN</a:t>
                      </a:r>
                    </a:p>
                  </a:txBody>
                  <a:tcPr marL="91440" marR="91440" marT="45720" marB="45720"/>
                </a:tc>
                <a:tc>
                  <a:txBody>
                    <a:bodyPr/>
                    <a:lstStyle/>
                    <a:p>
                      <a:r>
                        <a:rPr sz="1400" b="0">
                          <a:latin typeface="Calibri"/>
                          <a:ea typeface="Calibri"/>
                          <a:cs typeface="Calibri"/>
                        </a:rPr>
                        <a:t>Vote of nearest labelled vectors</a:t>
                      </a:r>
                    </a:p>
                  </a:txBody>
                  <a:tcPr marL="91440" marR="91440" marT="45720" marB="45720"/>
                </a:tc>
                <a:tc>
                  <a:txBody>
                    <a:bodyPr/>
                    <a:lstStyle/>
                    <a:p>
                      <a:r>
                        <a:rPr sz="1400" b="0">
                          <a:latin typeface="Calibri"/>
                          <a:ea typeface="Calibri"/>
                          <a:cs typeface="Calibri"/>
                        </a:rPr>
                        <a:t>Port-scan behaviour</a:t>
                      </a:r>
                    </a:p>
                  </a:txBody>
                  <a:tcPr marL="91440" marR="91440" marT="45720" marB="45720"/>
                </a:tc>
                <a:tc>
                  <a:txBody>
                    <a:bodyPr/>
                    <a:lstStyle/>
                    <a:p>
                      <a:r>
                        <a:rPr sz="1400" b="0">
                          <a:latin typeface="Calibri"/>
                          <a:ea typeface="Calibri"/>
                          <a:cs typeface="Calibri"/>
                        </a:rPr>
                        <a:t>Packet count and unique ports</a:t>
                      </a:r>
                    </a:p>
                  </a:txBody>
                  <a:tcPr marL="91440" marR="91440" marT="45720" marB="45720"/>
                </a:tc>
              </a:tr>
              <a:tr h="701040">
                <a:tc>
                  <a:txBody>
                    <a:bodyPr/>
                    <a:lstStyle/>
                    <a:p>
                      <a:r>
                        <a:rPr sz="1400" b="0">
                          <a:latin typeface="Calibri"/>
                          <a:ea typeface="Calibri"/>
                          <a:cs typeface="Calibri"/>
                        </a:rPr>
                        <a:t>Naive Bayes</a:t>
                      </a:r>
                    </a:p>
                  </a:txBody>
                  <a:tcPr marL="91440" marR="91440" marT="45720" marB="45720"/>
                </a:tc>
                <a:tc>
                  <a:txBody>
                    <a:bodyPr/>
                    <a:lstStyle/>
                    <a:p>
                      <a:r>
                        <a:rPr sz="1400" b="0">
                          <a:latin typeface="Calibri"/>
                          <a:ea typeface="Calibri"/>
                          <a:cs typeface="Calibri"/>
                        </a:rPr>
                        <a:t>Token class probability</a:t>
                      </a:r>
                    </a:p>
                  </a:txBody>
                  <a:tcPr marL="91440" marR="91440" marT="45720" marB="45720"/>
                </a:tc>
                <a:tc>
                  <a:txBody>
                    <a:bodyPr/>
                    <a:lstStyle/>
                    <a:p>
                      <a:r>
                        <a:rPr sz="1400" b="0">
                          <a:latin typeface="Calibri"/>
                          <a:ea typeface="Calibri"/>
                          <a:cs typeface="Calibri"/>
                        </a:rPr>
                        <a:t>Malicious plaintext payload</a:t>
                      </a:r>
                    </a:p>
                  </a:txBody>
                  <a:tcPr marL="91440" marR="91440" marT="45720" marB="45720"/>
                </a:tc>
                <a:tc>
                  <a:txBody>
                    <a:bodyPr/>
                    <a:lstStyle/>
                    <a:p>
                      <a:r>
                        <a:rPr sz="1400" b="0">
                          <a:latin typeface="Calibri"/>
                          <a:ea typeface="Calibri"/>
                          <a:cs typeface="Calibri"/>
                        </a:rPr>
                        <a:t>Privacy-limited tokens</a:t>
                      </a:r>
                    </a:p>
                  </a:txBody>
                  <a:tcPr marL="91440" marR="91440" marT="45720" marB="45720"/>
                </a:tc>
              </a:tr>
              <a:tr h="701040">
                <a:tc>
                  <a:txBody>
                    <a:bodyPr/>
                    <a:lstStyle/>
                    <a:p>
                      <a:r>
                        <a:rPr sz="1400" b="0">
                          <a:latin typeface="Calibri"/>
                          <a:ea typeface="Calibri"/>
                          <a:cs typeface="Calibri"/>
                        </a:rPr>
                        <a:t>K-Means</a:t>
                      </a:r>
                    </a:p>
                  </a:txBody>
                  <a:tcPr marL="91440" marR="91440" marT="45720" marB="45720"/>
                </a:tc>
                <a:tc>
                  <a:txBody>
                    <a:bodyPr/>
                    <a:lstStyle/>
                    <a:p>
                      <a:r>
                        <a:rPr sz="1400" b="0">
                          <a:latin typeface="Calibri"/>
                          <a:ea typeface="Calibri"/>
                          <a:cs typeface="Calibri"/>
                        </a:rPr>
                        <a:t>Distance from learned centroids</a:t>
                      </a:r>
                    </a:p>
                  </a:txBody>
                  <a:tcPr marL="91440" marR="91440" marT="45720" marB="45720"/>
                </a:tc>
                <a:tc>
                  <a:txBody>
                    <a:bodyPr/>
                    <a:lstStyle/>
                    <a:p>
                      <a:r>
                        <a:rPr sz="1400" b="0">
                          <a:latin typeface="Calibri"/>
                          <a:ea typeface="Calibri"/>
                          <a:cs typeface="Calibri"/>
                        </a:rPr>
                        <a:t>Behavioural novelty</a:t>
                      </a:r>
                    </a:p>
                  </a:txBody>
                  <a:tcPr marL="91440" marR="91440" marT="45720" marB="45720"/>
                </a:tc>
                <a:tc>
                  <a:txBody>
                    <a:bodyPr/>
                    <a:lstStyle/>
                    <a:p>
                      <a:r>
                        <a:rPr sz="1400" b="0">
                          <a:latin typeface="Calibri"/>
                          <a:ea typeface="Calibri"/>
                          <a:cs typeface="Calibri"/>
                        </a:rPr>
                        <a:t>PPS and unique ports</a:t>
                      </a:r>
                    </a:p>
                  </a:txBody>
                  <a:tcPr marL="91440" marR="91440" marT="45720" marB="45720"/>
                </a:tc>
              </a:tr>
              <a:tr h="701040">
                <a:tc>
                  <a:txBody>
                    <a:bodyPr/>
                    <a:lstStyle/>
                    <a:p>
                      <a:r>
                        <a:rPr sz="1400" b="0">
                          <a:latin typeface="Calibri"/>
                          <a:ea typeface="Calibri"/>
                          <a:cs typeface="Calibri"/>
                        </a:rPr>
                        <a:t>Bloom Filter</a:t>
                      </a:r>
                    </a:p>
                  </a:txBody>
                  <a:tcPr marL="91440" marR="91440" marT="45720" marB="45720"/>
                </a:tc>
                <a:tc>
                  <a:txBody>
                    <a:bodyPr/>
                    <a:lstStyle/>
                    <a:p>
                      <a:r>
                        <a:rPr sz="1400" b="0">
                          <a:latin typeface="Calibri"/>
                          <a:ea typeface="Calibri"/>
                          <a:cs typeface="Calibri"/>
                        </a:rPr>
                        <a:t>Probabilistic set membership</a:t>
                      </a:r>
                    </a:p>
                  </a:txBody>
                  <a:tcPr marL="91440" marR="91440" marT="45720" marB="45720"/>
                </a:tc>
                <a:tc>
                  <a:txBody>
                    <a:bodyPr/>
                    <a:lstStyle/>
                    <a:p>
                      <a:r>
                        <a:rPr sz="1400" b="0">
                          <a:latin typeface="Calibri"/>
                          <a:ea typeface="Calibri"/>
                          <a:cs typeface="Calibri"/>
                        </a:rPr>
                        <a:t>Known-bad source reputation</a:t>
                      </a:r>
                    </a:p>
                  </a:txBody>
                  <a:tcPr marL="91440" marR="91440" marT="45720" marB="45720"/>
                </a:tc>
                <a:tc>
                  <a:txBody>
                    <a:bodyPr/>
                    <a:lstStyle/>
                    <a:p>
                      <a:r>
                        <a:rPr sz="1400" b="0">
                          <a:latin typeface="Calibri"/>
                          <a:ea typeface="Calibri"/>
                          <a:cs typeface="Calibri"/>
                        </a:rPr>
                        <a:t>Source IP</a:t>
                      </a:r>
                    </a:p>
                  </a:txBody>
                  <a:tcPr marL="91440" marR="91440" marT="45720" marB="45720"/>
                </a:tc>
              </a:tr>
            </a:tbl>
          </a:graphicData>
        </a:graphic>
      </p:graphicFrame>
      <p:sp>
        <p:nvSpPr>
          <p:cNvPr id="5" name="TextBox 4">
            <a:extLst xmlns:a="http://schemas.openxmlformats.org/drawingml/2006/main">
              <a:ext uri="{FF2B5EF4-FFF2-40B4-BE49-F238E27FC236}">
                <a16:creationId xmlns:a16="http://schemas.microsoft.com/office/drawing/2014/main" id="{5290914A-4925-46BE-B09E-8587F7E2C961}"/>
              </a:ext>
            </a:extLst>
          </p:cNvPr>
          <p:cNvSpPr>
            <a:spLocks xmlns:a="http://schemas.openxmlformats.org/drawingml/2006/main" noGrp="1"/>
          </p:cNvSpPr>
          <p:nvPr/>
        </p:nvSpPr>
        <p:spPr>
          <a:xfrm xmlns:a="http://schemas.openxmlformats.org/drawingml/2006/main">
            <a:off x="502920" y="580644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538">
                <a:solidFill>
                  <a:srgbClr val="202020"/>
                </a:solidFill>
                <a:latin typeface="Calibri"/>
                <a:ea typeface="Calibri"/>
                <a:cs typeface="Calibri"/>
              </a:defRPr>
            </a:pPr>
            <a:r>
              <a:rPr sz="1538">
                <a:solidFill>
                  <a:srgbClr val="202020"/>
                </a:solidFill>
                <a:latin typeface="Calibri"/>
                <a:ea typeface="Calibri"/>
                <a:cs typeface="Calibri"/>
              </a:rPr>
              <a:t>•  Five distinct decision methods feed one common Verdict contract.</a:t>
            </a:r>
          </a:p>
        </p:txBody>
      </p:sp>
      <p:sp>
        <p:nvSpPr>
          <p:cNvPr id="6" name="TextBox 5">
            <a:extLst xmlns:a="http://schemas.openxmlformats.org/drawingml/2006/main">
              <a:ext uri="{FF2B5EF4-FFF2-40B4-BE49-F238E27FC236}">
                <a16:creationId xmlns:a16="http://schemas.microsoft.com/office/drawing/2014/main" id="{DB7A99F7-2FE4-4CB4-86FB-B1AFCDB677C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11</a:t>
            </a:r>
          </a:p>
        </p:txBody>
      </p:sp>
    </p:spTree>
    <p:extLst>
      <p:ext uri="{BB962C8B-B14F-4D97-AF65-F5344CB8AC3E}">
        <p14:creationId xmlns:p14="http://schemas.microsoft.com/office/powerpoint/2010/main" val="119111101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5EFCD93-BCFC-4C8E-8281-5EE662AD4845}"/>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  8. Engine Implementation</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Definitions become explicit state, calculations and decision rules in the system</a:t>
            </a:r>
          </a:p>
        </p:txBody>
      </p:sp>
      <p:sp>
        <p:nvSpPr>
          <p:cNvPr id="3" name="Rectangle 2">
            <a:extLst xmlns:a="http://schemas.openxmlformats.org/drawingml/2006/main">
              <a:ext uri="{FF2B5EF4-FFF2-40B4-BE49-F238E27FC236}">
                <a16:creationId xmlns:a16="http://schemas.microsoft.com/office/drawing/2014/main" id="{D2EE920D-29B6-4A2C-92F0-6ABCDE90EA71}"/>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10" name="Table 3"/>
          <p:cNvGraphicFramePr/>
          <p:nvPr/>
        </p:nvGraphicFramePr>
        <p:xfrm>
          <a:off xmlns:a="http://schemas.openxmlformats.org/drawingml/2006/main" x="502920" y="1371600"/>
          <a:ext xmlns:a="http://schemas.openxmlformats.org/drawingml/2006/main" cx="11155680" cy="4206240"/>
        </p:xfrm>
        <a:graphic xmlns:a="http://schemas.openxmlformats.org/drawingml/2006/main">
          <a:graphicData uri="http://schemas.openxmlformats.org/drawingml/2006/table">
            <a:tbl>
              <a:tblPr firstRow="1" bandRow="1">
                <a:tableStyleId>{5C22544A-7EE6-4342-B048-85BDC9FD1C3A}</a:tableStyleId>
              </a:tblPr>
              <a:tblGrid>
                <a:gridCol w="1737360"/>
                <a:gridCol w="1920240"/>
                <a:gridCol w="2377440"/>
                <a:gridCol w="5120640"/>
              </a:tblGrid>
              <a:tr h="701040">
                <a:tc>
                  <a:txBody>
                    <a:bodyPr/>
                    <a:lstStyle/>
                    <a:p>
                      <a:r>
                        <a:rPr sz="1500" b="1">
                          <a:latin typeface="Calibri"/>
                          <a:ea typeface="Calibri"/>
                          <a:cs typeface="Calibri"/>
                        </a:rPr>
                        <a:t>Engine</a:t>
                      </a:r>
                    </a:p>
                  </a:txBody>
                  <a:tcPr marL="91440" marR="91440" marT="45720" marB="45720"/>
                </a:tc>
                <a:tc>
                  <a:txBody>
                    <a:bodyPr/>
                    <a:lstStyle/>
                    <a:p>
                      <a:r>
                        <a:rPr sz="1500" b="1">
                          <a:latin typeface="Calibri"/>
                          <a:ea typeface="Calibri"/>
                          <a:cs typeface="Calibri"/>
                        </a:rPr>
                        <a:t>Implementation</a:t>
                      </a:r>
                    </a:p>
                  </a:txBody>
                  <a:tcPr marL="91440" marR="91440" marT="45720" marB="45720"/>
                </a:tc>
                <a:tc>
                  <a:txBody>
                    <a:bodyPr/>
                    <a:lstStyle/>
                    <a:p>
                      <a:r>
                        <a:rPr sz="1500" b="1">
                          <a:latin typeface="Calibri"/>
                          <a:ea typeface="Calibri"/>
                          <a:cs typeface="Calibri"/>
                        </a:rPr>
                        <a:t>Stored state</a:t>
                      </a:r>
                    </a:p>
                  </a:txBody>
                  <a:tcPr marL="91440" marR="91440" marT="45720" marB="45720"/>
                </a:tc>
                <a:tc>
                  <a:txBody>
                    <a:bodyPr/>
                    <a:lstStyle/>
                    <a:p>
                      <a:r>
                        <a:rPr sz="1500" b="1">
                          <a:latin typeface="Calibri"/>
                          <a:ea typeface="Calibri"/>
                          <a:cs typeface="Calibri"/>
                        </a:rPr>
                        <a:t>Decision rule</a:t>
                      </a:r>
                    </a:p>
                  </a:txBody>
                  <a:tcPr marL="91440" marR="91440" marT="45720" marB="45720"/>
                </a:tc>
              </a:tr>
              <a:tr h="701040">
                <a:tc>
                  <a:txBody>
                    <a:bodyPr/>
                    <a:lstStyle/>
                    <a:p>
                      <a:r>
                        <a:rPr sz="1400" b="0">
                          <a:latin typeface="Calibri"/>
                          <a:ea typeface="Calibri"/>
                          <a:cs typeface="Calibri"/>
                        </a:rPr>
                        <a:t>Z-Score</a:t>
                      </a:r>
                    </a:p>
                  </a:txBody>
                  <a:tcPr marL="91440" marR="91440" marT="45720" marB="45720"/>
                </a:tc>
                <a:tc>
                  <a:txBody>
                    <a:bodyPr/>
                    <a:lstStyle/>
                    <a:p>
                      <a:r>
                        <a:rPr sz="1400" b="0">
                          <a:latin typeface="Calibri"/>
                          <a:ea typeface="Calibri"/>
                          <a:cs typeface="Calibri"/>
                        </a:rPr>
                        <a:t>Welford online mean and variance</a:t>
                      </a:r>
                    </a:p>
                  </a:txBody>
                  <a:tcPr marL="91440" marR="91440" marT="45720" marB="45720"/>
                </a:tc>
                <a:tc>
                  <a:txBody>
                    <a:bodyPr/>
                    <a:lstStyle/>
                    <a:p>
                      <a:r>
                        <a:rPr sz="1400" b="0">
                          <a:latin typeface="Calibri"/>
                          <a:ea typeface="Calibri"/>
                          <a:cs typeface="Calibri"/>
                        </a:rPr>
                        <a:t>Count, mean and M2</a:t>
                      </a:r>
                    </a:p>
                  </a:txBody>
                  <a:tcPr marL="91440" marR="91440" marT="45720" marB="45720"/>
                </a:tc>
                <a:tc>
                  <a:txBody>
                    <a:bodyPr/>
                    <a:lstStyle/>
                    <a:p>
                      <a:r>
                        <a:rPr sz="1400" b="0">
                          <a:latin typeface="Calibri"/>
                          <a:ea typeface="Calibri"/>
                          <a:cs typeface="Calibri"/>
                        </a:rPr>
                        <a:t>Alert when |z| &gt; 3 after warm-up</a:t>
                      </a:r>
                    </a:p>
                  </a:txBody>
                  <a:tcPr marL="91440" marR="91440" marT="45720" marB="45720"/>
                </a:tc>
              </a:tr>
              <a:tr h="701040">
                <a:tc>
                  <a:txBody>
                    <a:bodyPr/>
                    <a:lstStyle/>
                    <a:p>
                      <a:r>
                        <a:rPr sz="1400" b="0">
                          <a:latin typeface="Calibri"/>
                          <a:ea typeface="Calibri"/>
                          <a:cs typeface="Calibri"/>
                        </a:rPr>
                        <a:t>KNN</a:t>
                      </a:r>
                    </a:p>
                  </a:txBody>
                  <a:tcPr marL="91440" marR="91440" marT="45720" marB="45720"/>
                </a:tc>
                <a:tc>
                  <a:txBody>
                    <a:bodyPr/>
                    <a:lstStyle/>
                    <a:p>
                      <a:r>
                        <a:rPr sz="1400" b="0">
                          <a:latin typeface="Calibri"/>
                          <a:ea typeface="Calibri"/>
                          <a:cs typeface="Calibri"/>
                        </a:rPr>
                        <a:t>Scaled Euclidean distance and k=3 vote</a:t>
                      </a:r>
                    </a:p>
                  </a:txBody>
                  <a:tcPr marL="91440" marR="91440" marT="45720" marB="45720"/>
                </a:tc>
                <a:tc>
                  <a:txBody>
                    <a:bodyPr/>
                    <a:lstStyle/>
                    <a:p>
                      <a:r>
                        <a:rPr sz="1400" b="0">
                          <a:latin typeface="Calibri"/>
                          <a:ea typeface="Calibri"/>
                          <a:cs typeface="Calibri"/>
                        </a:rPr>
                        <a:t>Labelled vectors</a:t>
                      </a:r>
                    </a:p>
                  </a:txBody>
                  <a:tcPr marL="91440" marR="91440" marT="45720" marB="45720"/>
                </a:tc>
                <a:tc>
                  <a:txBody>
                    <a:bodyPr/>
                    <a:lstStyle/>
                    <a:p>
                      <a:r>
                        <a:rPr sz="1400" b="0">
                          <a:latin typeface="Calibri"/>
                          <a:ea typeface="Calibri"/>
                          <a:cs typeface="Calibri"/>
                        </a:rPr>
                        <a:t>Majority label plus vote confidence</a:t>
                      </a:r>
                    </a:p>
                  </a:txBody>
                  <a:tcPr marL="91440" marR="91440" marT="45720" marB="45720"/>
                </a:tc>
              </a:tr>
              <a:tr h="701040">
                <a:tc>
                  <a:txBody>
                    <a:bodyPr/>
                    <a:lstStyle/>
                    <a:p>
                      <a:r>
                        <a:rPr sz="1400" b="0">
                          <a:latin typeface="Calibri"/>
                          <a:ea typeface="Calibri"/>
                          <a:cs typeface="Calibri"/>
                        </a:rPr>
                        <a:t>Naive Bayes</a:t>
                      </a:r>
                    </a:p>
                  </a:txBody>
                  <a:tcPr marL="91440" marR="91440" marT="45720" marB="45720"/>
                </a:tc>
                <a:tc>
                  <a:txBody>
                    <a:bodyPr/>
                    <a:lstStyle/>
                    <a:p>
                      <a:r>
                        <a:rPr sz="1400" b="0">
                          <a:latin typeface="Calibri"/>
                          <a:ea typeface="Calibri"/>
                          <a:cs typeface="Calibri"/>
                        </a:rPr>
                        <a:t>Token priors and smoothed likelihoods</a:t>
                      </a:r>
                    </a:p>
                  </a:txBody>
                  <a:tcPr marL="91440" marR="91440" marT="45720" marB="45720"/>
                </a:tc>
                <a:tc>
                  <a:txBody>
                    <a:bodyPr/>
                    <a:lstStyle/>
                    <a:p>
                      <a:r>
                        <a:rPr sz="1400" b="0">
                          <a:latin typeface="Calibri"/>
                          <a:ea typeface="Calibri"/>
                          <a:cs typeface="Calibri"/>
                        </a:rPr>
                        <a:t>Class and token counts</a:t>
                      </a:r>
                    </a:p>
                  </a:txBody>
                  <a:tcPr marL="91440" marR="91440" marT="45720" marB="45720"/>
                </a:tc>
                <a:tc>
                  <a:txBody>
                    <a:bodyPr/>
                    <a:lstStyle/>
                    <a:p>
                      <a:r>
                        <a:rPr sz="1400" b="0">
                          <a:latin typeface="Calibri"/>
                          <a:ea typeface="Calibri"/>
                          <a:cs typeface="Calibri"/>
                        </a:rPr>
                        <a:t>Malicious class above threshold</a:t>
                      </a:r>
                    </a:p>
                  </a:txBody>
                  <a:tcPr marL="91440" marR="91440" marT="45720" marB="45720"/>
                </a:tc>
              </a:tr>
              <a:tr h="701040">
                <a:tc>
                  <a:txBody>
                    <a:bodyPr/>
                    <a:lstStyle/>
                    <a:p>
                      <a:r>
                        <a:rPr sz="1400" b="0">
                          <a:latin typeface="Calibri"/>
                          <a:ea typeface="Calibri"/>
                          <a:cs typeface="Calibri"/>
                        </a:rPr>
                        <a:t>K-Means</a:t>
                      </a:r>
                    </a:p>
                  </a:txBody>
                  <a:tcPr marL="91440" marR="91440" marT="45720" marB="45720"/>
                </a:tc>
                <a:tc>
                  <a:txBody>
                    <a:bodyPr/>
                    <a:lstStyle/>
                    <a:p>
                      <a:r>
                        <a:rPr sz="1400" b="0">
                          <a:latin typeface="Calibri"/>
                          <a:ea typeface="Calibri"/>
                          <a:cs typeface="Calibri"/>
                        </a:rPr>
                        <a:t>Online mini-batch centroid update</a:t>
                      </a:r>
                    </a:p>
                  </a:txBody>
                  <a:tcPr marL="91440" marR="91440" marT="45720" marB="45720"/>
                </a:tc>
                <a:tc>
                  <a:txBody>
                    <a:bodyPr/>
                    <a:lstStyle/>
                    <a:p>
                      <a:r>
                        <a:rPr sz="1400" b="0">
                          <a:latin typeface="Calibri"/>
                          <a:ea typeface="Calibri"/>
                          <a:cs typeface="Calibri"/>
                        </a:rPr>
                        <a:t>Centroids and counts</a:t>
                      </a:r>
                    </a:p>
                  </a:txBody>
                  <a:tcPr marL="91440" marR="91440" marT="45720" marB="45720"/>
                </a:tc>
                <a:tc>
                  <a:txBody>
                    <a:bodyPr/>
                    <a:lstStyle/>
                    <a:p>
                      <a:r>
                        <a:rPr sz="1400" b="0">
                          <a:latin typeface="Calibri"/>
                          <a:ea typeface="Calibri"/>
                          <a:cs typeface="Calibri"/>
                        </a:rPr>
                        <a:t>Distance threshold; anomalies withheld</a:t>
                      </a:r>
                    </a:p>
                  </a:txBody>
                  <a:tcPr marL="91440" marR="91440" marT="45720" marB="45720"/>
                </a:tc>
              </a:tr>
              <a:tr h="701040">
                <a:tc>
                  <a:txBody>
                    <a:bodyPr/>
                    <a:lstStyle/>
                    <a:p>
                      <a:r>
                        <a:rPr sz="1400" b="0">
                          <a:latin typeface="Calibri"/>
                          <a:ea typeface="Calibri"/>
                          <a:cs typeface="Calibri"/>
                        </a:rPr>
                        <a:t>Bloom Filter</a:t>
                      </a:r>
                    </a:p>
                  </a:txBody>
                  <a:tcPr marL="91440" marR="91440" marT="45720" marB="45720"/>
                </a:tc>
                <a:tc>
                  <a:txBody>
                    <a:bodyPr/>
                    <a:lstStyle/>
                    <a:p>
                      <a:r>
                        <a:rPr sz="1400" b="0">
                          <a:latin typeface="Calibri"/>
                          <a:ea typeface="Calibri"/>
                          <a:cs typeface="Calibri"/>
                        </a:rPr>
                        <a:t>Fixed bit array with multiple hashes</a:t>
                      </a:r>
                    </a:p>
                  </a:txBody>
                  <a:tcPr marL="91440" marR="91440" marT="45720" marB="45720"/>
                </a:tc>
                <a:tc>
                  <a:txBody>
                    <a:bodyPr/>
                    <a:lstStyle/>
                    <a:p>
                      <a:r>
                        <a:rPr sz="1400" b="0">
                          <a:latin typeface="Calibri"/>
                          <a:ea typeface="Calibri"/>
                          <a:cs typeface="Calibri"/>
                        </a:rPr>
                        <a:t>Bits and feed metadata</a:t>
                      </a:r>
                    </a:p>
                  </a:txBody>
                  <a:tcPr marL="91440" marR="91440" marT="45720" marB="45720"/>
                </a:tc>
                <a:tc>
                  <a:txBody>
                    <a:bodyPr/>
                    <a:lstStyle/>
                    <a:p>
                      <a:r>
                        <a:rPr sz="1400" b="0">
                          <a:latin typeface="Calibri"/>
                          <a:ea typeface="Calibri"/>
                          <a:cs typeface="Calibri"/>
                        </a:rPr>
                        <a:t>Membership hit for source IP</a:t>
                      </a:r>
                    </a:p>
                  </a:txBody>
                  <a:tcPr marL="91440" marR="91440" marT="45720" marB="45720"/>
                </a:tc>
              </a:tr>
            </a:tbl>
          </a:graphicData>
        </a:graphic>
      </p:graphicFrame>
      <p:sp>
        <p:nvSpPr>
          <p:cNvPr id="5" name="TextBox 4">
            <a:extLst xmlns:a="http://schemas.openxmlformats.org/drawingml/2006/main">
              <a:ext uri="{FF2B5EF4-FFF2-40B4-BE49-F238E27FC236}">
                <a16:creationId xmlns:a16="http://schemas.microsoft.com/office/drawing/2014/main" id="{5290914A-4925-46BE-B09E-8587F7E2C961}"/>
              </a:ext>
            </a:extLst>
          </p:cNvPr>
          <p:cNvSpPr>
            <a:spLocks xmlns:a="http://schemas.openxmlformats.org/drawingml/2006/main" noGrp="1"/>
          </p:cNvSpPr>
          <p:nvPr/>
        </p:nvSpPr>
        <p:spPr>
          <a:xfrm xmlns:a="http://schemas.openxmlformats.org/drawingml/2006/main">
            <a:off x="502920" y="580644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538">
                <a:solidFill>
                  <a:srgbClr val="202020"/>
                </a:solidFill>
                <a:latin typeface="Calibri"/>
                <a:ea typeface="Calibri"/>
                <a:cs typeface="Calibri"/>
              </a:defRPr>
            </a:pPr>
            <a:r>
              <a:rPr sz="1538">
                <a:solidFill>
                  <a:srgbClr val="202020"/>
                </a:solidFill>
                <a:latin typeface="Calibri"/>
                <a:ea typeface="Calibri"/>
                <a:cs typeface="Calibri"/>
              </a:rPr>
              <a:t>Training and compatible state are exported to a readable JSON brain and restored at startup.</a:t>
            </a:r>
          </a:p>
        </p:txBody>
      </p:sp>
      <p:sp>
        <p:nvSpPr>
          <p:cNvPr id="6" name="TextBox 5">
            <a:extLst xmlns:a="http://schemas.openxmlformats.org/drawingml/2006/main">
              <a:ext uri="{FF2B5EF4-FFF2-40B4-BE49-F238E27FC236}">
                <a16:creationId xmlns:a16="http://schemas.microsoft.com/office/drawing/2014/main" id="{DB7A99F7-2FE4-4CB4-86FB-B1AFCDB677C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12</a:t>
            </a:r>
          </a:p>
        </p:txBody>
      </p:sp>
    </p:spTree>
    <p:extLst>
      <p:ext uri="{BB962C8B-B14F-4D97-AF65-F5344CB8AC3E}">
        <p14:creationId xmlns:p14="http://schemas.microsoft.com/office/powerpoint/2010/main" val="119111101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2A9147F-1BF3-4D2C-BDC5-7076C71952FF}"/>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9. System Analysis: Workflow</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Capture, detection, evidence and optional response operate as one bounded path</a:t>
            </a:r>
          </a:p>
        </p:txBody>
      </p:sp>
      <p:sp>
        <p:nvSpPr>
          <p:cNvPr id="3" name="Rectangle 2">
            <a:extLst xmlns:a="http://schemas.openxmlformats.org/drawingml/2006/main">
              <a:ext uri="{FF2B5EF4-FFF2-40B4-BE49-F238E27FC236}">
                <a16:creationId xmlns:a16="http://schemas.microsoft.com/office/drawing/2014/main" id="{1661CE38-5FAF-488A-953D-D989C14CB9A7}"/>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0" name="Picture 3"/>
          <p:cNvPicPr>
            <a:picLocks xmlns:a="http://schemas.openxmlformats.org/drawingml/2006/main" noChangeAspect="1"/>
          </p:cNvPicPr>
          <p:nvPr/>
        </p:nvPicPr>
        <p:blipFill>
          <a:blip xmlns:r="http://schemas.openxmlformats.org/officeDocument/2006/relationships" xmlns:a="http://schemas.openxmlformats.org/drawingml/2006/main" r:embed="R9c54f6715c7b4268"/>
          <a:stretch xmlns:a="http://schemas.openxmlformats.org/drawingml/2006/main"/>
        </p:blipFill>
        <p:spPr>
          <a:xfrm xmlns:a="http://schemas.openxmlformats.org/drawingml/2006/main">
            <a:off x="4232073" y="1143000"/>
            <a:ext cx="2906020" cy="5532119"/>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AA44E472-16A2-49CF-B20C-E2F1BC8B93F3}"/>
              </a:ext>
            </a:extLst>
          </p:cNvPr>
          <p:cNvSpPr>
            <a:spLocks xmlns:a="http://schemas.openxmlformats.org/drawingml/2006/main" noGrp="1"/>
          </p:cNvSpPr>
          <p:nvPr/>
        </p:nvSpPr>
        <p:spPr>
          <a:xfrm xmlns:a="http://schemas.openxmlformats.org/drawingml/2006/main">
            <a:off x="502920" y="1463040"/>
            <a:ext cx="329184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463">
                <a:solidFill>
                  <a:srgbClr val="202020"/>
                </a:solidFill>
                <a:latin typeface="Calibri"/>
                <a:ea typeface="Calibri"/>
                <a:cs typeface="Calibri"/>
              </a:defRPr>
            </a:pPr>
            <a:r>
              <a:rPr sz="1463">
                <a:solidFill>
                  <a:srgbClr val="202020"/>
                </a:solidFill>
                <a:latin typeface="Calibri"/>
                <a:ea typeface="Calibri"/>
                <a:cs typeface="Calibri"/>
              </a:rPr>
              <a:t>Train | Validate labelled records and export compatible brain state</a:t>
            </a:r>
          </a:p>
          <a:p xmlns:a="http://schemas.openxmlformats.org/drawingml/2006/main">
            <a:pPr algn="l">
              <a:spcAft>
                <a:spcPts val="8"/>
              </a:spcAft>
              <a:buNone/>
              <a:defRPr sz="1463">
                <a:solidFill>
                  <a:srgbClr val="202020"/>
                </a:solidFill>
                <a:latin typeface="Calibri"/>
                <a:ea typeface="Calibri"/>
                <a:cs typeface="Calibri"/>
              </a:defRPr>
            </a:pPr>
            <a:r>
              <a:rPr sz="1463">
                <a:solidFill>
                  <a:srgbClr val="202020"/>
                </a:solidFill>
                <a:latin typeface="Calibri"/>
                <a:ea typeface="Calibri"/>
                <a:cs typeface="Calibri"/>
              </a:rPr>
              <a:t>Capture | AF_PACKET live traffic or controlled PCAP replay</a:t>
            </a:r>
          </a:p>
          <a:p xmlns:a="http://schemas.openxmlformats.org/drawingml/2006/main">
            <a:pPr algn="l">
              <a:spcAft>
                <a:spcPts val="8"/>
              </a:spcAft>
              <a:buNone/>
              <a:defRPr sz="1463">
                <a:solidFill>
                  <a:srgbClr val="202020"/>
                </a:solidFill>
                <a:latin typeface="Calibri"/>
                <a:ea typeface="Calibri"/>
                <a:cs typeface="Calibri"/>
              </a:defRPr>
            </a:pPr>
            <a:r>
              <a:rPr sz="1463">
                <a:solidFill>
                  <a:srgbClr val="202020"/>
                </a:solidFill>
                <a:latin typeface="Calibri"/>
                <a:ea typeface="Calibri"/>
                <a:cs typeface="Calibri"/>
              </a:rPr>
              <a:t>Analyse | Parser validates; five engines return Verdict objects</a:t>
            </a:r>
          </a:p>
          <a:p xmlns:a="http://schemas.openxmlformats.org/drawingml/2006/main">
            <a:pPr algn="l">
              <a:spcAft>
                <a:spcPts val="8"/>
              </a:spcAft>
              <a:buNone/>
              <a:defRPr sz="1463">
                <a:solidFill>
                  <a:srgbClr val="202020"/>
                </a:solidFill>
                <a:latin typeface="Calibri"/>
                <a:ea typeface="Calibri"/>
                <a:cs typeface="Calibri"/>
              </a:defRPr>
            </a:pPr>
            <a:r>
              <a:rPr sz="1463">
                <a:solidFill>
                  <a:srgbClr val="202020"/>
                </a:solidFill>
                <a:latin typeface="Calibri"/>
                <a:ea typeface="Calibri"/>
                <a:cs typeface="Calibri"/>
              </a:rPr>
              <a:t>Respond | Dispatcher logs, SIEM, dashboard and optional policy-gated blocking</a:t>
            </a:r>
          </a:p>
          <a:p xmlns:a="http://schemas.openxmlformats.org/drawingml/2006/main">
            <a:pPr algn="l">
              <a:spcAft>
                <a:spcPts val="8"/>
              </a:spcAft>
              <a:buNone/>
              <a:defRPr sz="1463">
                <a:solidFill>
                  <a:srgbClr val="202020"/>
                </a:solidFill>
                <a:latin typeface="Calibri"/>
                <a:ea typeface="Calibri"/>
                <a:cs typeface="Calibri"/>
              </a:defRPr>
            </a:pPr>
            <a:r>
              <a:rPr sz="1463">
                <a:solidFill>
                  <a:srgbClr val="202020"/>
                </a:solidFill>
                <a:latin typeface="Calibri"/>
                <a:ea typeface="Calibri"/>
                <a:cs typeface="Calibri"/>
              </a:rPr>
              <a:t>Persist | Shutdown exports state and a forensic report</a:t>
            </a:r>
          </a:p>
        </p:txBody>
      </p:sp>
      <p:sp>
        <p:nvSpPr>
          <p:cNvPr id="6" name="TextBox 5">
            <a:extLst xmlns:a="http://schemas.openxmlformats.org/drawingml/2006/main">
              <a:ext uri="{FF2B5EF4-FFF2-40B4-BE49-F238E27FC236}">
                <a16:creationId xmlns:a16="http://schemas.microsoft.com/office/drawing/2014/main" id="{D82A2D62-6C9D-49C5-8953-290AC78EB47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13</a:t>
            </a:r>
          </a:p>
        </p:txBody>
      </p:sp>
    </p:spTree>
    <p:extLst>
      <p:ext uri="{BB962C8B-B14F-4D97-AF65-F5344CB8AC3E}">
        <p14:creationId xmlns:p14="http://schemas.microsoft.com/office/powerpoint/2010/main" val="194153891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E97E678-1992-463F-BC02-DAEC1A4AAB3E}"/>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10. System Design: Use Cases</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Key points: administrator | host OS | SIEM | mandatory monitoring | conditional defence</a:t>
            </a:r>
          </a:p>
        </p:txBody>
      </p:sp>
      <p:sp>
        <p:nvSpPr>
          <p:cNvPr id="3" name="Rectangle 2">
            <a:extLst xmlns:a="http://schemas.openxmlformats.org/drawingml/2006/main">
              <a:ext uri="{FF2B5EF4-FFF2-40B4-BE49-F238E27FC236}">
                <a16:creationId xmlns:a16="http://schemas.microsoft.com/office/drawing/2014/main" id="{CB64520F-B5DB-4424-B9AC-203F71390D1B}"/>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9" name="Picture 3"/>
          <p:cNvPicPr>
            <a:picLocks xmlns:a="http://schemas.openxmlformats.org/drawingml/2006/main" noChangeAspect="1"/>
          </p:cNvPicPr>
          <p:nvPr/>
        </p:nvPicPr>
        <p:blipFill>
          <a:blip xmlns:r="http://schemas.openxmlformats.org/officeDocument/2006/relationships" xmlns:a="http://schemas.openxmlformats.org/drawingml/2006/main" r:embed="R2aeb68921506443f"/>
          <a:stretch xmlns:a="http://schemas.openxmlformats.org/drawingml/2006/main"/>
        </p:blipFill>
        <p:spPr>
          <a:xfrm xmlns:a="http://schemas.openxmlformats.org/drawingml/2006/main">
            <a:off x="2460186" y="1188720"/>
            <a:ext cx="7274617" cy="5440680"/>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FFBD1D95-6307-4BA7-A79B-1A5EA6CDB457}"/>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14</a:t>
            </a:r>
          </a:p>
        </p:txBody>
      </p:sp>
    </p:spTree>
    <p:extLst>
      <p:ext uri="{BB962C8B-B14F-4D97-AF65-F5344CB8AC3E}">
        <p14:creationId xmlns:p14="http://schemas.microsoft.com/office/powerpoint/2010/main" val="135950988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10E111E-3A5D-49A9-A4AD-11D3DE260659}"/>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11. System Design: Class Model</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Key points: SensorNode ownership | common engine contract | optional response | exact multiplicities</a:t>
            </a:r>
          </a:p>
        </p:txBody>
      </p:sp>
      <p:sp>
        <p:nvSpPr>
          <p:cNvPr id="3" name="Rectangle 2">
            <a:extLst xmlns:a="http://schemas.openxmlformats.org/drawingml/2006/main">
              <a:ext uri="{FF2B5EF4-FFF2-40B4-BE49-F238E27FC236}">
                <a16:creationId xmlns:a16="http://schemas.microsoft.com/office/drawing/2014/main" id="{C789C077-51FA-496D-80FD-4DE9A510C719}"/>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9" name="Picture 3"/>
          <p:cNvPicPr>
            <a:picLocks xmlns:a="http://schemas.openxmlformats.org/drawingml/2006/main" noChangeAspect="1"/>
          </p:cNvPicPr>
          <p:nvPr/>
        </p:nvPicPr>
        <p:blipFill>
          <a:blip xmlns:r="http://schemas.openxmlformats.org/officeDocument/2006/relationships" xmlns:a="http://schemas.openxmlformats.org/drawingml/2006/main" r:embed="R1487fe62f91b4cf4"/>
          <a:stretch xmlns:a="http://schemas.openxmlformats.org/drawingml/2006/main"/>
        </p:blipFill>
        <p:spPr>
          <a:xfrm xmlns:a="http://schemas.openxmlformats.org/drawingml/2006/main">
            <a:off x="1709928" y="1631655"/>
            <a:ext cx="8762337" cy="4417651"/>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ECD95F9C-46A8-4785-B8AD-C9F43378F28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15</a:t>
            </a:r>
          </a:p>
        </p:txBody>
      </p:sp>
    </p:spTree>
    <p:extLst>
      <p:ext uri="{BB962C8B-B14F-4D97-AF65-F5344CB8AC3E}">
        <p14:creationId xmlns:p14="http://schemas.microsoft.com/office/powerpoint/2010/main" val="3322690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10E111E-3A5D-49A9-A4AD-11D3DE260659}"/>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Interface Design: Overview</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Demo anchors: CPU | memory | sensors online | threat events | engine activity</a:t>
            </a:r>
          </a:p>
        </p:txBody>
      </p:sp>
      <p:sp>
        <p:nvSpPr>
          <p:cNvPr id="3" name="Rectangle 2">
            <a:extLst xmlns:a="http://schemas.openxmlformats.org/drawingml/2006/main">
              <a:ext uri="{FF2B5EF4-FFF2-40B4-BE49-F238E27FC236}">
                <a16:creationId xmlns:a16="http://schemas.microsoft.com/office/drawing/2014/main" id="{C789C077-51FA-496D-80FD-4DE9A510C719}"/>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CD95F9C-46A8-4785-B8AD-C9F43378F28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16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09faaf0f5394628"/>
          <a:stretch xmlns:a="http://schemas.openxmlformats.org/drawingml/2006/main"/>
        </p:blipFill>
        <p:spPr>
          <a:xfrm xmlns:a="http://schemas.openxmlformats.org/drawingml/2006/main">
            <a:off x="609600" y="1860945"/>
            <a:ext cx="10972800" cy="3688559"/>
          </a:xfrm>
          <a:prstGeom xmlns:a="http://schemas.openxmlformats.org/drawingml/2006/main" prst="rect">
            <a:avLst/>
          </a:prstGeom>
        </p:spPr>
      </p:pic>
    </p:spTree>
    <p:extLst>
      <p:ext uri="{BB962C8B-B14F-4D97-AF65-F5344CB8AC3E}">
        <p14:creationId xmlns:p14="http://schemas.microsoft.com/office/powerpoint/2010/main" val="3322690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10E111E-3A5D-49A9-A4AD-11D3DE260659}"/>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Interface Design: Packets</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Demo anchors: filters | protocol counts | PPS and Z-Score | packet detail | PCAP or JSON export</a:t>
            </a:r>
          </a:p>
        </p:txBody>
      </p:sp>
      <p:sp>
        <p:nvSpPr>
          <p:cNvPr id="3" name="Rectangle 2">
            <a:extLst xmlns:a="http://schemas.openxmlformats.org/drawingml/2006/main">
              <a:ext uri="{FF2B5EF4-FFF2-40B4-BE49-F238E27FC236}">
                <a16:creationId xmlns:a16="http://schemas.microsoft.com/office/drawing/2014/main" id="{C789C077-51FA-496D-80FD-4DE9A510C719}"/>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CD95F9C-46A8-4785-B8AD-C9F43378F28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17</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5ecedf38c65481b"/>
          <a:stretch xmlns:a="http://schemas.openxmlformats.org/drawingml/2006/main"/>
        </p:blipFill>
        <p:spPr>
          <a:xfrm xmlns:a="http://schemas.openxmlformats.org/drawingml/2006/main">
            <a:off x="609600" y="1860945"/>
            <a:ext cx="10972800" cy="3688559"/>
          </a:xfrm>
          <a:prstGeom xmlns:a="http://schemas.openxmlformats.org/drawingml/2006/main" prst="rect">
            <a:avLst/>
          </a:prstGeom>
        </p:spPr>
      </p:pic>
    </p:spTree>
    <p:extLst>
      <p:ext uri="{BB962C8B-B14F-4D97-AF65-F5344CB8AC3E}">
        <p14:creationId xmlns:p14="http://schemas.microsoft.com/office/powerpoint/2010/main" val="33226906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10E111E-3A5D-49A9-A4AD-11D3DE260659}"/>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Interface Design: Alerts</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Demo anchors: severity | time | sensor and source | ATT&amp;CK | risk | decision message</a:t>
            </a:r>
          </a:p>
        </p:txBody>
      </p:sp>
      <p:sp>
        <p:nvSpPr>
          <p:cNvPr id="3" name="Rectangle 2">
            <a:extLst xmlns:a="http://schemas.openxmlformats.org/drawingml/2006/main">
              <a:ext uri="{FF2B5EF4-FFF2-40B4-BE49-F238E27FC236}">
                <a16:creationId xmlns:a16="http://schemas.microsoft.com/office/drawing/2014/main" id="{C789C077-51FA-496D-80FD-4DE9A510C719}"/>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CD95F9C-46A8-4785-B8AD-C9F43378F28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18</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0c0a18849974fe1"/>
          <a:stretch xmlns:a="http://schemas.openxmlformats.org/drawingml/2006/main"/>
        </p:blipFill>
        <p:spPr>
          <a:xfrm xmlns:a="http://schemas.openxmlformats.org/drawingml/2006/main">
            <a:off x="609600" y="1860945"/>
            <a:ext cx="10972800" cy="3688559"/>
          </a:xfrm>
          <a:prstGeom xmlns:a="http://schemas.openxmlformats.org/drawingml/2006/main" prst="rect">
            <a:avLst/>
          </a:prstGeom>
        </p:spPr>
      </p:pic>
    </p:spTree>
    <p:extLst>
      <p:ext uri="{BB962C8B-B14F-4D97-AF65-F5344CB8AC3E}">
        <p14:creationId xmlns:p14="http://schemas.microsoft.com/office/powerpoint/2010/main" val="33226906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10E111E-3A5D-49A9-A4AD-11D3DE260659}"/>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Architecture Interface</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Demo anchors: five engines | one Verdict | evidence path | policy-gated response</a:t>
            </a:r>
          </a:p>
        </p:txBody>
      </p:sp>
      <p:sp>
        <p:nvSpPr>
          <p:cNvPr id="3" name="Rectangle 2">
            <a:extLst xmlns:a="http://schemas.openxmlformats.org/drawingml/2006/main">
              <a:ext uri="{FF2B5EF4-FFF2-40B4-BE49-F238E27FC236}">
                <a16:creationId xmlns:a16="http://schemas.microsoft.com/office/drawing/2014/main" id="{C789C077-51FA-496D-80FD-4DE9A510C719}"/>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CD95F9C-46A8-4785-B8AD-C9F43378F28F}"/>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19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c046b36f6dc4231"/>
          <a:stretch xmlns:a="http://schemas.openxmlformats.org/drawingml/2006/main"/>
        </p:blipFill>
        <p:spPr>
          <a:xfrm xmlns:a="http://schemas.openxmlformats.org/drawingml/2006/main">
            <a:off x="609600" y="1860945"/>
            <a:ext cx="10972800" cy="3688559"/>
          </a:xfrm>
          <a:prstGeom xmlns:a="http://schemas.openxmlformats.org/drawingml/2006/main" prst="rect">
            <a:avLst/>
          </a:prstGeom>
        </p:spPr>
      </p:pic>
    </p:spTree>
    <p:extLst>
      <p:ext uri="{BB962C8B-B14F-4D97-AF65-F5344CB8AC3E}">
        <p14:creationId xmlns:p14="http://schemas.microsoft.com/office/powerpoint/2010/main" val="33226906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F32CF15-29C9-48BC-9D4B-63A76D7C3A99}"/>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Testing 1: Strategy and Unit Tests</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Testing verifies specified behaviour before evaluation interprets accuracy</a:t>
            </a:r>
          </a:p>
        </p:txBody>
      </p:sp>
      <p:sp>
        <p:nvSpPr>
          <p:cNvPr id="3" name="Rectangle 2">
            <a:extLst xmlns:a="http://schemas.openxmlformats.org/drawingml/2006/main">
              <a:ext uri="{FF2B5EF4-FFF2-40B4-BE49-F238E27FC236}">
                <a16:creationId xmlns:a16="http://schemas.microsoft.com/office/drawing/2014/main" id="{5A4ACE65-491E-4643-AE24-039F1DDE4258}"/>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E755B2D5-CB70-4334-B395-E9FC4386E06A}"/>
              </a:ext>
            </a:extLst>
          </p:cNvPr>
          <p:cNvSpPr>
            <a:spLocks xmlns:a="http://schemas.openxmlformats.org/drawingml/2006/main" noGrp="1"/>
          </p:cNvSpPr>
          <p:nvPr/>
        </p:nvSpPr>
        <p:spPr>
          <a:xfrm xmlns:a="http://schemas.openxmlformats.org/drawingml/2006/main">
            <a:off x="502920" y="132588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725">
                <a:solidFill>
                  <a:srgbClr val="202020"/>
                </a:solidFill>
                <a:latin typeface="Calibri"/>
                <a:ea typeface="Calibri"/>
                <a:cs typeface="Calibri"/>
              </a:defRPr>
            </a:pPr>
            <a:r>
              <a:rPr sz="1725">
                <a:solidFill>
                  <a:srgbClr val="202020"/>
                </a:solidFill>
                <a:latin typeface="Calibri"/>
                <a:ea typeface="Calibri"/>
                <a:cs typeface="Calibri"/>
              </a:rPr>
              <a:t>Strategy | Unit, integration, system, regression and training checks</a:t>
            </a:r>
          </a:p>
          <a:p xmlns:a="http://schemas.openxmlformats.org/drawingml/2006/main">
            <a:pPr algn="l">
              <a:spcAft>
                <a:spcPts val="8"/>
              </a:spcAft>
              <a:buNone/>
              <a:defRPr sz="1725">
                <a:solidFill>
                  <a:srgbClr val="202020"/>
                </a:solidFill>
                <a:latin typeface="Calibri"/>
                <a:ea typeface="Calibri"/>
                <a:cs typeface="Calibri"/>
              </a:defRPr>
            </a:pPr>
            <a:r>
              <a:rPr sz="1725">
                <a:solidFill>
                  <a:srgbClr val="202020"/>
                </a:solidFill>
                <a:latin typeface="Calibri"/>
                <a:ea typeface="Calibri"/>
                <a:cs typeface="Calibri"/>
              </a:rPr>
              <a:t>Final run | 116 tests passed in 4.642 seconds on 20 August 2026</a:t>
            </a:r>
          </a:p>
          <a:p xmlns:a="http://schemas.openxmlformats.org/drawingml/2006/main">
            <a:pPr algn="l">
              <a:spcAft>
                <a:spcPts val="8"/>
              </a:spcAft>
              <a:buNone/>
              <a:defRPr sz="1725">
                <a:solidFill>
                  <a:srgbClr val="202020"/>
                </a:solidFill>
                <a:latin typeface="Calibri"/>
                <a:ea typeface="Calibri"/>
                <a:cs typeface="Calibri"/>
              </a:defRPr>
            </a:pPr>
            <a:r>
              <a:rPr sz="1725">
                <a:solidFill>
                  <a:srgbClr val="202020"/>
                </a:solidFill>
                <a:latin typeface="Calibri"/>
                <a:ea typeface="Calibri"/>
                <a:cs typeface="Calibri"/>
              </a:rPr>
              <a:t>Unit focus | Engine mathematics, parser rules, configuration, privacy and persistence</a:t>
            </a:r>
          </a:p>
          <a:p xmlns:a="http://schemas.openxmlformats.org/drawingml/2006/main">
            <a:pPr algn="l">
              <a:spcAft>
                <a:spcPts val="8"/>
              </a:spcAft>
              <a:buNone/>
              <a:defRPr sz="1725">
                <a:solidFill>
                  <a:srgbClr val="202020"/>
                </a:solidFill>
                <a:latin typeface="Calibri"/>
                <a:ea typeface="Calibri"/>
                <a:cs typeface="Calibri"/>
              </a:defRPr>
            </a:pPr>
            <a:r>
              <a:rPr sz="1725">
                <a:solidFill>
                  <a:srgbClr val="202020"/>
                </a:solidFill>
                <a:latin typeface="Calibri"/>
                <a:ea typeface="Calibri"/>
                <a:cs typeface="Calibri"/>
              </a:rPr>
              <a:t>Cases | Positive, negative, boundary, malformed-input and safe-failure behaviour</a:t>
            </a:r>
          </a:p>
          <a:p xmlns:a="http://schemas.openxmlformats.org/drawingml/2006/main">
            <a:pPr algn="l">
              <a:spcAft>
                <a:spcPts val="8"/>
              </a:spcAft>
              <a:buNone/>
              <a:defRPr sz="1725">
                <a:solidFill>
                  <a:srgbClr val="202020"/>
                </a:solidFill>
                <a:latin typeface="Calibri"/>
                <a:ea typeface="Calibri"/>
                <a:cs typeface="Calibri"/>
              </a:defRPr>
            </a:pPr>
            <a:r>
              <a:rPr sz="1725">
                <a:solidFill>
                  <a:srgbClr val="202020"/>
                </a:solidFill>
                <a:latin typeface="Calibri"/>
                <a:ea typeface="Calibri"/>
                <a:cs typeface="Calibri"/>
              </a:rPr>
              <a:t>Repeatability | Generated frames and PCAPs avoid attacking external networks</a:t>
            </a:r>
          </a:p>
        </p:txBody>
      </p:sp>
      <p:sp>
        <p:nvSpPr>
          <p:cNvPr id="5" name="TextBox 4">
            <a:extLst xmlns:a="http://schemas.openxmlformats.org/drawingml/2006/main">
              <a:ext uri="{FF2B5EF4-FFF2-40B4-BE49-F238E27FC236}">
                <a16:creationId xmlns:a16="http://schemas.microsoft.com/office/drawing/2014/main" id="{D357501F-0ED5-4A3E-94B8-4B9229ACF2BD}"/>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20</a:t>
            </a:r>
          </a:p>
        </p:txBody>
      </p:sp>
    </p:spTree>
    <p:extLst>
      <p:ext uri="{BB962C8B-B14F-4D97-AF65-F5344CB8AC3E}">
        <p14:creationId xmlns:p14="http://schemas.microsoft.com/office/powerpoint/2010/main" val="92250954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F32CF15-29C9-48BC-9D4B-63A76D7C3A99}"/>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Testing 2: Integration Checks</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Internal white-box paths and external black-box behaviour</a:t>
            </a:r>
          </a:p>
        </p:txBody>
      </p:sp>
      <p:sp>
        <p:nvSpPr>
          <p:cNvPr id="3" name="Rectangle 2">
            <a:extLst xmlns:a="http://schemas.openxmlformats.org/drawingml/2006/main">
              <a:ext uri="{FF2B5EF4-FFF2-40B4-BE49-F238E27FC236}">
                <a16:creationId xmlns:a16="http://schemas.microsoft.com/office/drawing/2014/main" id="{5A4ACE65-491E-4643-AE24-039F1DDE4258}"/>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E755B2D5-CB70-4334-B395-E9FC4386E06A}"/>
              </a:ext>
            </a:extLst>
          </p:cNvPr>
          <p:cNvSpPr>
            <a:spLocks xmlns:a="http://schemas.openxmlformats.org/drawingml/2006/main" noGrp="1"/>
          </p:cNvSpPr>
          <p:nvPr/>
        </p:nvSpPr>
        <p:spPr>
          <a:xfrm xmlns:a="http://schemas.openxmlformats.org/drawingml/2006/main">
            <a:off x="502920" y="132588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Integration | Parser to engines to Verdict to dispatcher to outputs</a:t>
            </a:r>
          </a:p>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White-box | Scaling, deduplication, redaction and policy branches</a:t>
            </a:r>
          </a:p>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Black-box | CLI, UDP 9999, HTTP 8080, malformed datagrams and exports</a:t>
            </a:r>
          </a:p>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System | Real services bind to loopback during tests</a:t>
            </a:r>
          </a:p>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Safety | Recording defence verifies policy without changing the firewall</a:t>
            </a:r>
          </a:p>
        </p:txBody>
      </p:sp>
      <p:sp>
        <p:nvSpPr>
          <p:cNvPr id="5" name="TextBox 4">
            <a:extLst xmlns:a="http://schemas.openxmlformats.org/drawingml/2006/main">
              <a:ext uri="{FF2B5EF4-FFF2-40B4-BE49-F238E27FC236}">
                <a16:creationId xmlns:a16="http://schemas.microsoft.com/office/drawing/2014/main" id="{D357501F-0ED5-4A3E-94B8-4B9229ACF2BD}"/>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21</a:t>
            </a:r>
          </a:p>
        </p:txBody>
      </p:sp>
    </p:spTree>
    <p:extLst>
      <p:ext uri="{BB962C8B-B14F-4D97-AF65-F5344CB8AC3E}">
        <p14:creationId xmlns:p14="http://schemas.microsoft.com/office/powerpoint/2010/main" val="92250954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F32CF15-29C9-48BC-9D4B-63A76D7C3A99}"/>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Testing 3: Algorithm-Specific Checks</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Each engine is tested according to its own state and failure modes</a:t>
            </a:r>
          </a:p>
        </p:txBody>
      </p:sp>
      <p:sp>
        <p:nvSpPr>
          <p:cNvPr id="3" name="Rectangle 2">
            <a:extLst xmlns:a="http://schemas.openxmlformats.org/drawingml/2006/main">
              <a:ext uri="{FF2B5EF4-FFF2-40B4-BE49-F238E27FC236}">
                <a16:creationId xmlns:a16="http://schemas.microsoft.com/office/drawing/2014/main" id="{5A4ACE65-491E-4643-AE24-039F1DDE4258}"/>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E755B2D5-CB70-4334-B395-E9FC4386E06A}"/>
              </a:ext>
            </a:extLst>
          </p:cNvPr>
          <p:cNvSpPr>
            <a:spLocks xmlns:a="http://schemas.openxmlformats.org/drawingml/2006/main" noGrp="1"/>
          </p:cNvSpPr>
          <p:nvPr/>
        </p:nvSpPr>
        <p:spPr>
          <a:xfrm xmlns:a="http://schemas.openxmlformats.org/drawingml/2006/main">
            <a:off x="502920" y="132588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Z-Score | Warm-up, sustained flood and poisoning protection</a:t>
            </a:r>
          </a:p>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KNN | Scaling, normal traffic and flood-versus-scan separation</a:t>
            </a:r>
          </a:p>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K-Means | Familiar traffic, novelty distance and withheld anomaly updates</a:t>
            </a:r>
          </a:p>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Naive Bayes | Benign, malicious and ADMIN safeguard tokens</a:t>
            </a:r>
          </a:p>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Bloom Filter | Loading, saturation and no false negatives for inserted indicators</a:t>
            </a:r>
          </a:p>
        </p:txBody>
      </p:sp>
      <p:sp>
        <p:nvSpPr>
          <p:cNvPr id="5" name="TextBox 4">
            <a:extLst xmlns:a="http://schemas.openxmlformats.org/drawingml/2006/main">
              <a:ext uri="{FF2B5EF4-FFF2-40B4-BE49-F238E27FC236}">
                <a16:creationId xmlns:a16="http://schemas.microsoft.com/office/drawing/2014/main" id="{D357501F-0ED5-4A3E-94B8-4B9229ACF2BD}"/>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22</a:t>
            </a:r>
          </a:p>
        </p:txBody>
      </p:sp>
    </p:spTree>
    <p:extLst>
      <p:ext uri="{BB962C8B-B14F-4D97-AF65-F5344CB8AC3E}">
        <p14:creationId xmlns:p14="http://schemas.microsoft.com/office/powerpoint/2010/main" val="92250954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686DF9-7873-473F-96E5-D5F9A15AF7BA}"/>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Results: Algorithm Accuracy</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Small domain-matched sets verify implementation, not unrestricted field accuracy</a:t>
            </a:r>
          </a:p>
        </p:txBody>
      </p:sp>
      <p:sp>
        <p:nvSpPr>
          <p:cNvPr id="3" name="Rectangle 2">
            <a:extLst xmlns:a="http://schemas.openxmlformats.org/drawingml/2006/main">
              <a:ext uri="{FF2B5EF4-FFF2-40B4-BE49-F238E27FC236}">
                <a16:creationId xmlns:a16="http://schemas.microsoft.com/office/drawing/2014/main" id="{43B9DCDD-B76C-4ECA-A485-747530DB933B}"/>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10" name="Table 3"/>
          <p:cNvGraphicFramePr/>
          <p:nvPr/>
        </p:nvGraphicFramePr>
        <p:xfrm>
          <a:off xmlns:a="http://schemas.openxmlformats.org/drawingml/2006/main" x="731520" y="1371600"/>
          <a:ext xmlns:a="http://schemas.openxmlformats.org/drawingml/2006/main" cx="10698480" cy="3291840"/>
        </p:xfrm>
        <a:graphic xmlns:a="http://schemas.openxmlformats.org/drawingml/2006/main">
          <a:graphicData uri="http://schemas.openxmlformats.org/drawingml/2006/table">
            <a:tbl>
              <a:tblPr firstRow="1" bandRow="1">
                <a:tableStyleId>{5C22544A-7EE6-4342-B048-85BDC9FD1C3A}</a:tableStyleId>
              </a:tblPr>
              <a:tblGrid>
                <a:gridCol w="3383280"/>
                <a:gridCol w="1463040"/>
                <a:gridCol w="1463040"/>
                <a:gridCol w="1463040"/>
                <a:gridCol w="1463040"/>
                <a:gridCol w="1463040"/>
              </a:tblGrid>
              <a:tr h="548640">
                <a:tc>
                  <a:txBody>
                    <a:bodyPr/>
                    <a:lstStyle/>
                    <a:p>
                      <a:r>
                        <a:rPr sz="1500" b="1">
                          <a:latin typeface="Calibri"/>
                          <a:ea typeface="Calibri"/>
                          <a:cs typeface="Calibri"/>
                        </a:rPr>
                        <a:t>Engine</a:t>
                      </a:r>
                    </a:p>
                  </a:txBody>
                  <a:tcPr marL="91440" marR="91440" marT="45720" marB="45720"/>
                </a:tc>
                <a:tc>
                  <a:txBody>
                    <a:bodyPr/>
                    <a:lstStyle/>
                    <a:p>
                      <a:r>
                        <a:rPr sz="1500" b="1">
                          <a:latin typeface="Calibri"/>
                          <a:ea typeface="Calibri"/>
                          <a:cs typeface="Calibri"/>
                        </a:rPr>
                        <a:t>Samples</a:t>
                      </a:r>
                    </a:p>
                  </a:txBody>
                  <a:tcPr marL="91440" marR="91440" marT="45720" marB="45720"/>
                </a:tc>
                <a:tc>
                  <a:txBody>
                    <a:bodyPr/>
                    <a:lstStyle/>
                    <a:p>
                      <a:r>
                        <a:rPr sz="1500" b="1">
                          <a:latin typeface="Calibri"/>
                          <a:ea typeface="Calibri"/>
                          <a:cs typeface="Calibri"/>
                        </a:rPr>
                        <a:t>Precision</a:t>
                      </a:r>
                    </a:p>
                  </a:txBody>
                  <a:tcPr marL="91440" marR="91440" marT="45720" marB="45720"/>
                </a:tc>
                <a:tc>
                  <a:txBody>
                    <a:bodyPr/>
                    <a:lstStyle/>
                    <a:p>
                      <a:r>
                        <a:rPr sz="1500" b="1">
                          <a:latin typeface="Calibri"/>
                          <a:ea typeface="Calibri"/>
                          <a:cs typeface="Calibri"/>
                        </a:rPr>
                        <a:t>Recall</a:t>
                      </a:r>
                    </a:p>
                  </a:txBody>
                  <a:tcPr marL="91440" marR="91440" marT="45720" marB="45720"/>
                </a:tc>
                <a:tc>
                  <a:txBody>
                    <a:bodyPr/>
                    <a:lstStyle/>
                    <a:p>
                      <a:r>
                        <a:rPr sz="1500" b="1">
                          <a:latin typeface="Calibri"/>
                          <a:ea typeface="Calibri"/>
                          <a:cs typeface="Calibri"/>
                        </a:rPr>
                        <a:t>F1</a:t>
                      </a:r>
                    </a:p>
                  </a:txBody>
                  <a:tcPr marL="91440" marR="91440" marT="45720" marB="45720"/>
                </a:tc>
                <a:tc>
                  <a:txBody>
                    <a:bodyPr/>
                    <a:lstStyle/>
                    <a:p>
                      <a:r>
                        <a:rPr sz="1500" b="1">
                          <a:latin typeface="Calibri"/>
                          <a:ea typeface="Calibri"/>
                          <a:cs typeface="Calibri"/>
                        </a:rPr>
                        <a:t>MCC</a:t>
                      </a:r>
                    </a:p>
                  </a:txBody>
                  <a:tcPr marL="91440" marR="91440" marT="45720" marB="45720"/>
                </a:tc>
              </a:tr>
              <a:tr h="548640">
                <a:tc>
                  <a:txBody>
                    <a:bodyPr/>
                    <a:lstStyle/>
                    <a:p>
                      <a:r>
                        <a:rPr sz="1500" b="0">
                          <a:latin typeface="Calibri"/>
                          <a:ea typeface="Calibri"/>
                          <a:cs typeface="Calibri"/>
                        </a:rPr>
                        <a:t>KNN port scan</a:t>
                      </a:r>
                    </a:p>
                  </a:txBody>
                  <a:tcPr marL="91440" marR="91440" marT="45720" marB="45720"/>
                </a:tc>
                <a:tc>
                  <a:txBody>
                    <a:bodyPr/>
                    <a:lstStyle/>
                    <a:p>
                      <a:r>
                        <a:rPr sz="1500" b="0">
                          <a:latin typeface="Calibri"/>
                          <a:ea typeface="Calibri"/>
                          <a:cs typeface="Calibri"/>
                        </a:rPr>
                        <a:t>40</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1.0000</a:t>
                      </a:r>
                    </a:p>
                  </a:txBody>
                  <a:tcPr marL="91440" marR="91440" marT="45720" marB="45720"/>
                </a:tc>
              </a:tr>
              <a:tr h="548640">
                <a:tc>
                  <a:txBody>
                    <a:bodyPr/>
                    <a:lstStyle/>
                    <a:p>
                      <a:r>
                        <a:rPr sz="1500" b="0">
                          <a:latin typeface="Calibri"/>
                          <a:ea typeface="Calibri"/>
                          <a:cs typeface="Calibri"/>
                        </a:rPr>
                        <a:t>Naive Bayes payload</a:t>
                      </a:r>
                    </a:p>
                  </a:txBody>
                  <a:tcPr marL="91440" marR="91440" marT="45720" marB="45720"/>
                </a:tc>
                <a:tc>
                  <a:txBody>
                    <a:bodyPr/>
                    <a:lstStyle/>
                    <a:p>
                      <a:r>
                        <a:rPr sz="1500" b="0">
                          <a:latin typeface="Calibri"/>
                          <a:ea typeface="Calibri"/>
                          <a:cs typeface="Calibri"/>
                        </a:rPr>
                        <a:t>24</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0.9167</a:t>
                      </a:r>
                    </a:p>
                  </a:txBody>
                  <a:tcPr marL="91440" marR="91440" marT="45720" marB="45720"/>
                </a:tc>
                <a:tc>
                  <a:txBody>
                    <a:bodyPr/>
                    <a:lstStyle/>
                    <a:p>
                      <a:r>
                        <a:rPr sz="1500" b="0">
                          <a:latin typeface="Calibri"/>
                          <a:ea typeface="Calibri"/>
                          <a:cs typeface="Calibri"/>
                        </a:rPr>
                        <a:t>0.9565</a:t>
                      </a:r>
                    </a:p>
                  </a:txBody>
                  <a:tcPr marL="91440" marR="91440" marT="45720" marB="45720"/>
                </a:tc>
                <a:tc>
                  <a:txBody>
                    <a:bodyPr/>
                    <a:lstStyle/>
                    <a:p>
                      <a:r>
                        <a:rPr sz="1500" b="0">
                          <a:latin typeface="Calibri"/>
                          <a:ea typeface="Calibri"/>
                          <a:cs typeface="Calibri"/>
                        </a:rPr>
                        <a:t>0.9199</a:t>
                      </a:r>
                    </a:p>
                  </a:txBody>
                  <a:tcPr marL="91440" marR="91440" marT="45720" marB="45720"/>
                </a:tc>
              </a:tr>
              <a:tr h="548640">
                <a:tc>
                  <a:txBody>
                    <a:bodyPr/>
                    <a:lstStyle/>
                    <a:p>
                      <a:r>
                        <a:rPr sz="1500" b="0">
                          <a:latin typeface="Calibri"/>
                          <a:ea typeface="Calibri"/>
                          <a:cs typeface="Calibri"/>
                        </a:rPr>
                        <a:t>Z-Score flood</a:t>
                      </a:r>
                    </a:p>
                  </a:txBody>
                  <a:tcPr marL="91440" marR="91440" marT="45720" marB="45720"/>
                </a:tc>
                <a:tc>
                  <a:txBody>
                    <a:bodyPr/>
                    <a:lstStyle/>
                    <a:p>
                      <a:r>
                        <a:rPr sz="1500" b="0">
                          <a:latin typeface="Calibri"/>
                          <a:ea typeface="Calibri"/>
                          <a:cs typeface="Calibri"/>
                        </a:rPr>
                        <a:t>40</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1.0000</a:t>
                      </a:r>
                    </a:p>
                  </a:txBody>
                  <a:tcPr marL="91440" marR="91440" marT="45720" marB="45720"/>
                </a:tc>
              </a:tr>
              <a:tr h="548640">
                <a:tc>
                  <a:txBody>
                    <a:bodyPr/>
                    <a:lstStyle/>
                    <a:p>
                      <a:r>
                        <a:rPr sz="1500" b="0">
                          <a:latin typeface="Calibri"/>
                          <a:ea typeface="Calibri"/>
                          <a:cs typeface="Calibri"/>
                        </a:rPr>
                        <a:t>K-Means novelty</a:t>
                      </a:r>
                    </a:p>
                  </a:txBody>
                  <a:tcPr marL="91440" marR="91440" marT="45720" marB="45720"/>
                </a:tc>
                <a:tc>
                  <a:txBody>
                    <a:bodyPr/>
                    <a:lstStyle/>
                    <a:p>
                      <a:r>
                        <a:rPr sz="1500" b="0">
                          <a:latin typeface="Calibri"/>
                          <a:ea typeface="Calibri"/>
                          <a:cs typeface="Calibri"/>
                        </a:rPr>
                        <a:t>44</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1.0000</a:t>
                      </a:r>
                    </a:p>
                  </a:txBody>
                  <a:tcPr marL="91440" marR="91440" marT="45720" marB="45720"/>
                </a:tc>
              </a:tr>
              <a:tr h="548640">
                <a:tc>
                  <a:txBody>
                    <a:bodyPr/>
                    <a:lstStyle/>
                    <a:p>
                      <a:r>
                        <a:rPr sz="1500" b="0">
                          <a:latin typeface="Calibri"/>
                          <a:ea typeface="Calibri"/>
                          <a:cs typeface="Calibri"/>
                        </a:rPr>
                        <a:t>Bloom reputation</a:t>
                      </a:r>
                    </a:p>
                  </a:txBody>
                  <a:tcPr marL="91440" marR="91440" marT="45720" marB="45720"/>
                </a:tc>
                <a:tc>
                  <a:txBody>
                    <a:bodyPr/>
                    <a:lstStyle/>
                    <a:p>
                      <a:r>
                        <a:rPr sz="1500" b="0">
                          <a:latin typeface="Calibri"/>
                          <a:ea typeface="Calibri"/>
                          <a:cs typeface="Calibri"/>
                        </a:rPr>
                        <a:t>25</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1.0000</a:t>
                      </a:r>
                    </a:p>
                  </a:txBody>
                  <a:tcPr marL="91440" marR="91440" marT="45720" marB="45720"/>
                </a:tc>
                <a:tc>
                  <a:txBody>
                    <a:bodyPr/>
                    <a:lstStyle/>
                    <a:p>
                      <a:r>
                        <a:rPr sz="1500" b="0">
                          <a:latin typeface="Calibri"/>
                          <a:ea typeface="Calibri"/>
                          <a:cs typeface="Calibri"/>
                        </a:rPr>
                        <a:t>1.0000</a:t>
                      </a:r>
                    </a:p>
                  </a:txBody>
                  <a:tcPr marL="91440" marR="91440" marT="45720" marB="45720"/>
                </a:tc>
              </a:tr>
            </a:tbl>
          </a:graphicData>
        </a:graphic>
      </p:graphicFrame>
      <p:sp>
        <p:nvSpPr>
          <p:cNvPr id="5" name="TextBox 4">
            <a:extLst xmlns:a="http://schemas.openxmlformats.org/drawingml/2006/main">
              <a:ext uri="{FF2B5EF4-FFF2-40B4-BE49-F238E27FC236}">
                <a16:creationId xmlns:a16="http://schemas.microsoft.com/office/drawing/2014/main" id="{62619BC0-290F-4AD3-B405-F1ED68951BB8}"/>
              </a:ext>
            </a:extLst>
          </p:cNvPr>
          <p:cNvSpPr>
            <a:spLocks xmlns:a="http://schemas.openxmlformats.org/drawingml/2006/main" noGrp="1"/>
          </p:cNvSpPr>
          <p:nvPr/>
        </p:nvSpPr>
        <p:spPr>
          <a:xfrm xmlns:a="http://schemas.openxmlformats.org/drawingml/2006/main">
            <a:off x="502920" y="484632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463">
                <a:solidFill>
                  <a:srgbClr val="202020"/>
                </a:solidFill>
                <a:latin typeface="Calibri"/>
                <a:ea typeface="Calibri"/>
                <a:cs typeface="Calibri"/>
              </a:defRPr>
            </a:pPr>
            <a:r>
              <a:rPr sz="1463">
                <a:solidFill>
                  <a:srgbClr val="202020"/>
                </a:solidFill>
                <a:latin typeface="Calibri"/>
                <a:ea typeface="Calibri"/>
                <a:cs typeface="Calibri"/>
              </a:rPr>
              <a:t>Naive Bayes missed one of twelve malicious payloads; the other engines were perfect on their small matched samples.</a:t>
            </a:r>
          </a:p>
          <a:p xmlns:a="http://schemas.openxmlformats.org/drawingml/2006/main">
            <a:pPr algn="l">
              <a:spcAft>
                <a:spcPts val="8"/>
              </a:spcAft>
              <a:buNone/>
              <a:defRPr sz="1463">
                <a:solidFill>
                  <a:srgbClr val="202020"/>
                </a:solidFill>
                <a:latin typeface="Calibri"/>
                <a:ea typeface="Calibri"/>
                <a:cs typeface="Calibri"/>
              </a:defRPr>
            </a:pPr>
            <a:r>
              <a:rPr sz="1463">
                <a:solidFill>
                  <a:srgbClr val="202020"/>
                </a:solidFill>
                <a:latin typeface="Calibri"/>
                <a:ea typeface="Calibri"/>
                <a:cs typeface="Calibri"/>
              </a:rPr>
              <a:t>Scores are not directly comparable because each engine uses a separate dataset and decision problem.</a:t>
            </a:r>
          </a:p>
        </p:txBody>
      </p:sp>
      <p:sp>
        <p:nvSpPr>
          <p:cNvPr id="6" name="TextBox 5">
            <a:extLst xmlns:a="http://schemas.openxmlformats.org/drawingml/2006/main">
              <a:ext uri="{FF2B5EF4-FFF2-40B4-BE49-F238E27FC236}">
                <a16:creationId xmlns:a16="http://schemas.microsoft.com/office/drawing/2014/main" id="{D0359200-3E05-47E7-88CE-020ED8D24882}"/>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23</a:t>
            </a:r>
          </a:p>
        </p:txBody>
      </p:sp>
    </p:spTree>
    <p:extLst>
      <p:ext uri="{BB962C8B-B14F-4D97-AF65-F5344CB8AC3E}">
        <p14:creationId xmlns:p14="http://schemas.microsoft.com/office/powerpoint/2010/main" val="6927412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686DF9-7873-473F-96E5-D5F9A15AF7BA}"/>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Results: Dataset Findings</a:t>
            </a:r>
          </a:p>
          <a:p xmlns:a="http://schemas.openxmlformats.org/drawingml/2006/main">
            <a:pPr>
              <a:buNone/>
              <a:defRPr>
                <a:solidFill>
                  <a:srgbClr val="FFFFFF"/>
                </a:solidFill>
                <a:latin typeface="Calibri"/>
                <a:ea typeface="Calibri"/>
                <a:cs typeface="Calibri"/>
              </a:defRPr>
            </a:pPr>
            <a:r>
              <a:rPr sz="1400">
                <a:solidFill>
                  <a:srgbClr val="FFFFFF"/>
                </a:solidFill>
                <a:latin typeface="Calibri"/>
                <a:ea typeface="Calibri"/>
                <a:cs typeface="Calibri"/>
              </a:rPr>
              <a:t>Dataset scale and class balance change how accuracy evidence should be interpreted</a:t>
            </a:r>
          </a:p>
        </p:txBody>
      </p:sp>
      <p:sp>
        <p:nvSpPr>
          <p:cNvPr id="3" name="Rectangle 2">
            <a:extLst xmlns:a="http://schemas.openxmlformats.org/drawingml/2006/main">
              <a:ext uri="{FF2B5EF4-FFF2-40B4-BE49-F238E27FC236}">
                <a16:creationId xmlns:a16="http://schemas.microsoft.com/office/drawing/2014/main" id="{43B9DCDD-B76C-4ECA-A485-747530DB933B}"/>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10" name="Table 3"/>
          <p:cNvGraphicFramePr/>
          <p:nvPr/>
        </p:nvGraphicFramePr>
        <p:xfrm>
          <a:off xmlns:a="http://schemas.openxmlformats.org/drawingml/2006/main" x="731520" y="1371600"/>
          <a:ext xmlns:a="http://schemas.openxmlformats.org/drawingml/2006/main" cx="10698480" cy="3291840"/>
        </p:xfrm>
        <a:graphic xmlns:a="http://schemas.openxmlformats.org/drawingml/2006/main">
          <a:graphicData uri="http://schemas.openxmlformats.org/drawingml/2006/table">
            <a:tbl>
              <a:tblPr firstRow="1" bandRow="1">
                <a:tableStyleId>{5C22544A-7EE6-4342-B048-85BDC9FD1C3A}</a:tableStyleId>
              </a:tblPr>
              <a:tblGrid>
                <a:gridCol w="3383280"/>
                <a:gridCol w="1463040"/>
                <a:gridCol w="1463040"/>
                <a:gridCol w="1463040"/>
                <a:gridCol w="1463040"/>
                <a:gridCol w="1463040"/>
              </a:tblGrid>
              <a:tr h="548640">
                <a:tc>
                  <a:txBody>
                    <a:bodyPr/>
                    <a:lstStyle/>
                    <a:p>
                      <a:r>
                        <a:rPr sz="1500" b="1">
                          <a:latin typeface="Calibri"/>
                          <a:ea typeface="Calibri"/>
                          <a:cs typeface="Calibri"/>
                        </a:rPr>
                        <a:t>Evidence</a:t>
                      </a:r>
                    </a:p>
                  </a:txBody>
                  <a:tcPr marL="91440" marR="91440" marT="45720" marB="45720"/>
                </a:tc>
                <a:tc>
                  <a:txBody>
                    <a:bodyPr/>
                    <a:lstStyle/>
                    <a:p>
                      <a:r>
                        <a:rPr sz="1500" b="1">
                          <a:latin typeface="Calibri"/>
                          <a:ea typeface="Calibri"/>
                          <a:cs typeface="Calibri"/>
                        </a:rPr>
                        <a:t>Size</a:t>
                      </a:r>
                    </a:p>
                  </a:txBody>
                  <a:tcPr marL="91440" marR="91440" marT="45720" marB="45720"/>
                </a:tc>
                <a:tc>
                  <a:txBody>
                    <a:bodyPr/>
                    <a:lstStyle/>
                    <a:p>
                      <a:r>
                        <a:rPr sz="1500" b="1">
                          <a:latin typeface="Calibri"/>
                          <a:ea typeface="Calibri"/>
                          <a:cs typeface="Calibri"/>
                        </a:rPr>
                        <a:t>Key result</a:t>
                      </a:r>
                    </a:p>
                  </a:txBody>
                  <a:tcPr marL="91440" marR="91440" marT="45720" marB="45720"/>
                </a:tc>
                <a:tc>
                  <a:txBody>
                    <a:bodyPr/>
                    <a:lstStyle/>
                    <a:p>
                      <a:r>
                        <a:rPr sz="1500" b="1">
                          <a:latin typeface="Calibri"/>
                          <a:ea typeface="Calibri"/>
                          <a:cs typeface="Calibri"/>
                        </a:rPr>
                        <a:t>Meaning</a:t>
                      </a:r>
                    </a:p>
                  </a:txBody>
                  <a:tcPr marL="91440" marR="91440" marT="45720" marB="45720"/>
                </a:tc>
                <a:tc>
                  <a:txBody>
                    <a:bodyPr/>
                    <a:lstStyle/>
                    <a:p>
                      <a:r>
                        <a:rPr sz="1500" b="1">
                          <a:latin typeface="Calibri"/>
                          <a:ea typeface="Calibri"/>
                          <a:cs typeface="Calibri"/>
                        </a:rPr>
                        <a:t>Limit</a:t>
                      </a:r>
                    </a:p>
                  </a:txBody>
                  <a:tcPr marL="91440" marR="91440" marT="45720" marB="45720"/>
                </a:tc>
                <a:tc>
                  <a:txBody>
                    <a:bodyPr/>
                    <a:lstStyle/>
                    <a:p>
                      <a:r>
                        <a:rPr sz="1500" b="1">
                          <a:latin typeface="Calibri"/>
                          <a:ea typeface="Calibri"/>
                          <a:cs typeface="Calibri"/>
                        </a:rPr>
                        <a:t>Report source</a:t>
                      </a:r>
                    </a:p>
                  </a:txBody>
                  <a:tcPr marL="91440" marR="91440" marT="45720" marB="45720"/>
                </a:tc>
              </a:tr>
              <a:tr h="548640">
                <a:tc>
                  <a:txBody>
                    <a:bodyPr/>
                    <a:lstStyle/>
                    <a:p>
                      <a:r>
                        <a:rPr sz="1500" b="0">
                          <a:latin typeface="Calibri"/>
                          <a:ea typeface="Calibri"/>
                          <a:cs typeface="Calibri"/>
                        </a:rPr>
                        <a:t>Automated suite</a:t>
                      </a:r>
                    </a:p>
                  </a:txBody>
                  <a:tcPr marL="91440" marR="91440" marT="45720" marB="45720"/>
                </a:tc>
                <a:tc>
                  <a:txBody>
                    <a:bodyPr/>
                    <a:lstStyle/>
                    <a:p>
                      <a:r>
                        <a:rPr sz="1500" b="0">
                          <a:latin typeface="Calibri"/>
                          <a:ea typeface="Calibri"/>
                          <a:cs typeface="Calibri"/>
                        </a:rPr>
                        <a:t>116 tests</a:t>
                      </a:r>
                    </a:p>
                  </a:txBody>
                  <a:tcPr marL="91440" marR="91440" marT="45720" marB="45720"/>
                </a:tc>
                <a:tc>
                  <a:txBody>
                    <a:bodyPr/>
                    <a:lstStyle/>
                    <a:p>
                      <a:r>
                        <a:rPr sz="1500" b="0">
                          <a:latin typeface="Calibri"/>
                          <a:ea typeface="Calibri"/>
                          <a:cs typeface="Calibri"/>
                        </a:rPr>
                        <a:t>100% pass</a:t>
                      </a:r>
                    </a:p>
                  </a:txBody>
                  <a:tcPr marL="91440" marR="91440" marT="45720" marB="45720"/>
                </a:tc>
                <a:tc>
                  <a:txBody>
                    <a:bodyPr/>
                    <a:lstStyle/>
                    <a:p>
                      <a:r>
                        <a:rPr sz="1500" b="0">
                          <a:latin typeface="Calibri"/>
                          <a:ea typeface="Calibri"/>
                          <a:cs typeface="Calibri"/>
                        </a:rPr>
                        <a:t>Software behaviour</a:t>
                      </a:r>
                    </a:p>
                  </a:txBody>
                  <a:tcPr marL="91440" marR="91440" marT="45720" marB="45720"/>
                </a:tc>
                <a:tc>
                  <a:txBody>
                    <a:bodyPr/>
                    <a:lstStyle/>
                    <a:p>
                      <a:r>
                        <a:rPr sz="1500" b="0">
                          <a:latin typeface="Calibri"/>
                          <a:ea typeface="Calibri"/>
                          <a:cs typeface="Calibri"/>
                        </a:rPr>
                        <a:t>UDP socket warnings</a:t>
                      </a:r>
                    </a:p>
                  </a:txBody>
                  <a:tcPr marL="91440" marR="91440" marT="45720" marB="45720"/>
                </a:tc>
                <a:tc>
                  <a:txBody>
                    <a:bodyPr/>
                    <a:lstStyle/>
                    <a:p>
                      <a:r>
                        <a:rPr sz="1500" b="0">
                          <a:latin typeface="Calibri"/>
                          <a:ea typeface="Calibri"/>
                          <a:cs typeface="Calibri"/>
                        </a:rPr>
                        <a:t>Chapter 5</a:t>
                      </a:r>
                    </a:p>
                  </a:txBody>
                  <a:tcPr marL="91440" marR="91440" marT="45720" marB="45720"/>
                </a:tc>
              </a:tr>
              <a:tr h="548640">
                <a:tc>
                  <a:txBody>
                    <a:bodyPr/>
                    <a:lstStyle/>
                    <a:p>
                      <a:r>
                        <a:rPr sz="1500" b="0">
                          <a:latin typeface="Calibri"/>
                          <a:ea typeface="Calibri"/>
                          <a:cs typeface="Calibri"/>
                        </a:rPr>
                        <a:t>Matched engine sets</a:t>
                      </a:r>
                    </a:p>
                  </a:txBody>
                  <a:tcPr marL="91440" marR="91440" marT="45720" marB="45720"/>
                </a:tc>
                <a:tc>
                  <a:txBody>
                    <a:bodyPr/>
                    <a:lstStyle/>
                    <a:p>
                      <a:r>
                        <a:rPr sz="1500" b="0">
                          <a:latin typeface="Calibri"/>
                          <a:ea typeface="Calibri"/>
                          <a:cs typeface="Calibri"/>
                        </a:rPr>
                        <a:t>173 samples</a:t>
                      </a:r>
                    </a:p>
                  </a:txBody>
                  <a:tcPr marL="91440" marR="91440" marT="45720" marB="45720"/>
                </a:tc>
                <a:tc>
                  <a:txBody>
                    <a:bodyPr/>
                    <a:lstStyle/>
                    <a:p>
                      <a:r>
                        <a:rPr sz="1500" b="0">
                          <a:latin typeface="Calibri"/>
                          <a:ea typeface="Calibri"/>
                          <a:cs typeface="Calibri"/>
                        </a:rPr>
                        <a:t>F1 0.9565 to 1.0000</a:t>
                      </a:r>
                    </a:p>
                  </a:txBody>
                  <a:tcPr marL="91440" marR="91440" marT="45720" marB="45720"/>
                </a:tc>
                <a:tc>
                  <a:txBody>
                    <a:bodyPr/>
                    <a:lstStyle/>
                    <a:p>
                      <a:r>
                        <a:rPr sz="1500" b="0">
                          <a:latin typeface="Calibri"/>
                          <a:ea typeface="Calibri"/>
                          <a:cs typeface="Calibri"/>
                        </a:rPr>
                        <a:t>Implementation checks</a:t>
                      </a:r>
                    </a:p>
                  </a:txBody>
                  <a:tcPr marL="91440" marR="91440" marT="45720" marB="45720"/>
                </a:tc>
                <a:tc>
                  <a:txBody>
                    <a:bodyPr/>
                    <a:lstStyle/>
                    <a:p>
                      <a:r>
                        <a:rPr sz="1500" b="0">
                          <a:latin typeface="Calibri"/>
                          <a:ea typeface="Calibri"/>
                          <a:cs typeface="Calibri"/>
                        </a:rPr>
                        <a:t>Small separate sets</a:t>
                      </a:r>
                    </a:p>
                  </a:txBody>
                  <a:tcPr marL="91440" marR="91440" marT="45720" marB="45720"/>
                </a:tc>
                <a:tc>
                  <a:txBody>
                    <a:bodyPr/>
                    <a:lstStyle/>
                    <a:p>
                      <a:r>
                        <a:rPr sz="1500" b="0">
                          <a:latin typeface="Calibri"/>
                          <a:ea typeface="Calibri"/>
                          <a:cs typeface="Calibri"/>
                        </a:rPr>
                        <a:t>Table 5.2</a:t>
                      </a:r>
                    </a:p>
                  </a:txBody>
                  <a:tcPr marL="91440" marR="91440" marT="45720" marB="45720"/>
                </a:tc>
              </a:tr>
              <a:tr h="548640">
                <a:tc>
                  <a:txBody>
                    <a:bodyPr/>
                    <a:lstStyle/>
                    <a:p>
                      <a:r>
                        <a:rPr sz="1500" b="0">
                          <a:latin typeface="Calibri"/>
                          <a:ea typeface="Calibri"/>
                          <a:cs typeface="Calibri"/>
                        </a:rPr>
                        <a:t>PCAP scenario</a:t>
                      </a:r>
                    </a:p>
                  </a:txBody>
                  <a:tcPr marL="91440" marR="91440" marT="45720" marB="45720"/>
                </a:tc>
                <a:tc>
                  <a:txBody>
                    <a:bodyPr/>
                    <a:lstStyle/>
                    <a:p>
                      <a:r>
                        <a:rPr sz="1500" b="0">
                          <a:latin typeface="Calibri"/>
                          <a:ea typeface="Calibri"/>
                          <a:cs typeface="Calibri"/>
                        </a:rPr>
                        <a:t>13,159 frames</a:t>
                      </a:r>
                    </a:p>
                  </a:txBody>
                  <a:tcPr marL="91440" marR="91440" marT="45720" marB="45720"/>
                </a:tc>
                <a:tc>
                  <a:txBody>
                    <a:bodyPr/>
                    <a:lstStyle/>
                    <a:p>
                      <a:r>
                        <a:rPr sz="1500" b="0">
                          <a:latin typeface="Calibri"/>
                          <a:ea typeface="Calibri"/>
                          <a:cs typeface="Calibri"/>
                        </a:rPr>
                        <a:t>All engines fire</a:t>
                      </a:r>
                    </a:p>
                  </a:txBody>
                  <a:tcPr marL="91440" marR="91440" marT="45720" marB="45720"/>
                </a:tc>
                <a:tc>
                  <a:txBody>
                    <a:bodyPr/>
                    <a:lstStyle/>
                    <a:p>
                      <a:r>
                        <a:rPr sz="1500" b="0">
                          <a:latin typeface="Calibri"/>
                          <a:ea typeface="Calibri"/>
                          <a:cs typeface="Calibri"/>
                        </a:rPr>
                        <a:t>End-to-end replay</a:t>
                      </a:r>
                    </a:p>
                  </a:txBody>
                  <a:tcPr marL="91440" marR="91440" marT="45720" marB="45720"/>
                </a:tc>
                <a:tc>
                  <a:txBody>
                    <a:bodyPr/>
                    <a:lstStyle/>
                    <a:p>
                      <a:r>
                        <a:rPr sz="1500" b="0">
                          <a:latin typeface="Calibri"/>
                          <a:ea typeface="Calibri"/>
                          <a:cs typeface="Calibri"/>
                        </a:rPr>
                        <a:t>Controlled scenario</a:t>
                      </a:r>
                    </a:p>
                  </a:txBody>
                  <a:tcPr marL="91440" marR="91440" marT="45720" marB="45720"/>
                </a:tc>
                <a:tc>
                  <a:txBody>
                    <a:bodyPr/>
                    <a:lstStyle/>
                    <a:p>
                      <a:r>
                        <a:rPr sz="1500" b="0">
                          <a:latin typeface="Calibri"/>
                          <a:ea typeface="Calibri"/>
                          <a:cs typeface="Calibri"/>
                        </a:rPr>
                        <a:t>Abstract</a:t>
                      </a:r>
                    </a:p>
                  </a:txBody>
                  <a:tcPr marL="91440" marR="91440" marT="45720" marB="45720"/>
                </a:tc>
              </a:tr>
              <a:tr h="548640">
                <a:tc>
                  <a:txBody>
                    <a:bodyPr/>
                    <a:lstStyle/>
                    <a:p>
                      <a:r>
                        <a:rPr sz="1500" b="0">
                          <a:latin typeface="Calibri"/>
                          <a:ea typeface="Calibri"/>
                          <a:cs typeface="Calibri"/>
                        </a:rPr>
                        <a:t>CIC-IoT2023 review</a:t>
                      </a:r>
                    </a:p>
                  </a:txBody>
                  <a:tcPr marL="91440" marR="91440" marT="45720" marB="45720"/>
                </a:tc>
                <a:tc>
                  <a:txBody>
                    <a:bodyPr/>
                    <a:lstStyle/>
                    <a:p>
                      <a:r>
                        <a:rPr sz="1500" b="0">
                          <a:latin typeface="Calibri"/>
                          <a:ea typeface="Calibri"/>
                          <a:cs typeface="Calibri"/>
                        </a:rPr>
                        <a:t>299,994 rows</a:t>
                      </a:r>
                    </a:p>
                  </a:txBody>
                  <a:tcPr marL="91440" marR="91440" marT="45720" marB="45720"/>
                </a:tc>
                <a:tc>
                  <a:txBody>
                    <a:bodyPr/>
                    <a:lstStyle/>
                    <a:p>
                      <a:r>
                        <a:t>Prevalence 0.9761</a:t>
                      </a:r>
                      <a:endParaRPr/>
                    </a:p>
                  </a:txBody>
                  <a:tcPr marL="91440" marR="91440" marT="45720" marB="45720"/>
                </a:tc>
                <a:tc>
                  <a:txBody>
                    <a:bodyPr/>
                    <a:lstStyle/>
                    <a:p>
                      <a:r>
                        <a:rPr sz="1500" b="0">
                          <a:latin typeface="Calibri"/>
                          <a:ea typeface="Calibri"/>
                          <a:cs typeface="Calibri"/>
                        </a:rPr>
                        <a:t>Severe imbalance</a:t>
                      </a:r>
                    </a:p>
                  </a:txBody>
                  <a:tcPr marL="91440" marR="91440" marT="45720" marB="45720"/>
                </a:tc>
                <a:tc>
                  <a:txBody>
                    <a:bodyPr/>
                    <a:lstStyle/>
                    <a:p>
                      <a:r>
                        <a:t>Not raw packet features</a:t>
                      </a:r>
                      <a:endParaRPr/>
                    </a:p>
                  </a:txBody>
                  <a:tcPr marL="91440" marR="91440" marT="45720" marB="45720"/>
                </a:tc>
                <a:tc>
                  <a:txBody>
                    <a:bodyPr/>
                    <a:lstStyle/>
                    <a:p>
                      <a:r>
                        <a:t>Abstract</a:t>
                      </a:r>
                      <a:endParaRPr/>
                    </a:p>
                  </a:txBody>
                  <a:tcPr marL="91440" marR="91440" marT="45720" marB="45720"/>
                </a:tc>
              </a:tr>
              <a:tr h="548640">
                <a:tc>
                  <a:txBody>
                    <a:bodyPr/>
                    <a:lstStyle/>
                    <a:p>
                      <a:r>
                        <a:rPr sz="1500" b="0">
                          <a:latin typeface="Calibri"/>
                          <a:ea typeface="Calibri"/>
                          <a:cs typeface="Calibri"/>
                        </a:rPr>
                        <a:t>Always-positive</a:t>
                      </a:r>
                    </a:p>
                  </a:txBody>
                  <a:tcPr marL="91440" marR="91440" marT="45720" marB="45720"/>
                </a:tc>
                <a:tc>
                  <a:txBody>
                    <a:bodyPr/>
                    <a:lstStyle/>
                    <a:p>
                      <a:r>
                        <a:rPr sz="1500" b="0">
                          <a:latin typeface="Calibri"/>
                          <a:ea typeface="Calibri"/>
                          <a:cs typeface="Calibri"/>
                        </a:rPr>
                        <a:t>Same rows</a:t>
                      </a:r>
                    </a:p>
                  </a:txBody>
                  <a:tcPr marL="91440" marR="91440" marT="45720" marB="45720"/>
                </a:tc>
                <a:tc>
                  <a:txBody>
                    <a:bodyPr/>
                    <a:lstStyle/>
                    <a:p>
                      <a:r>
                        <a:t>F1 0.9879</a:t>
                      </a:r>
                      <a:endParaRPr/>
                    </a:p>
                  </a:txBody>
                  <a:tcPr marL="91440" marR="91440" marT="45720" marB="45720"/>
                </a:tc>
                <a:tc>
                  <a:txBody>
                    <a:bodyPr/>
                    <a:lstStyle/>
                    <a:p>
                      <a:r>
                        <a:t>Headline F1 misleads</a:t>
                      </a:r>
                      <a:endParaRPr/>
                    </a:p>
                  </a:txBody>
                  <a:tcPr marL="91440" marR="91440" marT="45720" marB="45720"/>
                </a:tc>
                <a:tc>
                  <a:txBody>
                    <a:bodyPr/>
                    <a:lstStyle/>
                    <a:p>
                      <a:r>
                        <a:t>Trivial baseline</a:t>
                      </a:r>
                      <a:endParaRPr/>
                    </a:p>
                  </a:txBody>
                  <a:tcPr marL="91440" marR="91440" marT="45720" marB="45720"/>
                </a:tc>
                <a:tc>
                  <a:txBody>
                    <a:bodyPr/>
                    <a:lstStyle/>
                    <a:p>
                      <a:r>
                        <a:t>Abstract</a:t>
                      </a:r>
                      <a:endParaRPr/>
                    </a:p>
                  </a:txBody>
                  <a:tcPr marL="91440" marR="91440" marT="45720" marB="45720"/>
                </a:tc>
              </a:tr>
            </a:tbl>
          </a:graphicData>
        </a:graphic>
      </p:graphicFrame>
      <p:sp>
        <p:nvSpPr>
          <p:cNvPr id="5" name="TextBox 4">
            <a:extLst xmlns:a="http://schemas.openxmlformats.org/drawingml/2006/main">
              <a:ext uri="{FF2B5EF4-FFF2-40B4-BE49-F238E27FC236}">
                <a16:creationId xmlns:a16="http://schemas.microsoft.com/office/drawing/2014/main" id="{62619BC0-290F-4AD3-B405-F1ED68951BB8}"/>
              </a:ext>
            </a:extLst>
          </p:cNvPr>
          <p:cNvSpPr>
            <a:spLocks xmlns:a="http://schemas.openxmlformats.org/drawingml/2006/main" noGrp="1"/>
          </p:cNvSpPr>
          <p:nvPr/>
        </p:nvSpPr>
        <p:spPr>
          <a:xfrm xmlns:a="http://schemas.openxmlformats.org/drawingml/2006/main">
            <a:off x="609600" y="5619750"/>
            <a:ext cx="10953750" cy="66675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388">
                <a:solidFill>
                  <a:srgbClr val="202020"/>
                </a:solidFill>
                <a:latin typeface="Calibri"/>
                <a:ea typeface="Calibri"/>
                <a:cs typeface="Calibri"/>
              </a:defRPr>
            </a:pPr>
            <a:r>
              <a:rPr sz="1388">
                <a:solidFill>
                  <a:srgbClr val="202020"/>
                </a:solidFill>
                <a:latin typeface="Calibri"/>
                <a:ea typeface="Calibri"/>
                <a:cs typeface="Calibri"/>
              </a:rPr>
              <a:t>•  Heavy-tailed rates violate a fixed three-sigma assumption; the report separates verified implementation from production-accuracy claims.</a:t>
            </a:r>
          </a:p>
        </p:txBody>
      </p:sp>
      <p:sp>
        <p:nvSpPr>
          <p:cNvPr id="6" name="TextBox 5">
            <a:extLst xmlns:a="http://schemas.openxmlformats.org/drawingml/2006/main">
              <a:ext uri="{FF2B5EF4-FFF2-40B4-BE49-F238E27FC236}">
                <a16:creationId xmlns:a16="http://schemas.microsoft.com/office/drawing/2014/main" id="{D0359200-3E05-47E7-88CE-020ED8D24882}"/>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24</a:t>
            </a:r>
          </a:p>
        </p:txBody>
      </p:sp>
    </p:spTree>
    <p:extLst>
      <p:ext uri="{BB962C8B-B14F-4D97-AF65-F5344CB8AC3E}">
        <p14:creationId xmlns:p14="http://schemas.microsoft.com/office/powerpoint/2010/main" val="6927412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93733AD-8F30-4B7C-8FB7-78793C8A110F}"/>
              </a:ext>
            </a:extLst>
          </p:cNvPr>
          <p:cNvSpPr>
            <a:spLocks xmlns:a="http://schemas.openxmlformats.org/drawingml/2006/main" noGrp="1"/>
          </p:cNvSpPr>
          <p:nvPr/>
        </p:nvSpPr>
        <p:spPr>
          <a:xfrm xmlns:a="http://schemas.openxmlformats.org/drawingml/2006/main">
            <a:off x="0" y="0"/>
            <a:ext cx="12191695" cy="960120"/>
          </a:xfrm>
          <a:prstGeom xmlns:a="http://schemas.openxmlformats.org/drawingml/2006/main" prst="rect">
            <a:avLst/>
          </a:prstGeom>
          <a:solidFill xmlns:a="http://schemas.openxmlformats.org/drawingml/2006/main">
            <a:srgbClr val="1F386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411480" tIns="109728" rIns="91440" bIns="45720" anchor="ctr"/>
          <a:lstStyle xmlns:a="http://schemas.openxmlformats.org/drawingml/2006/main"/>
          <a:p xmlns:a="http://schemas.openxmlformats.org/drawingml/2006/main">
            <a:pPr>
              <a:buNone/>
              <a:defRPr>
                <a:solidFill>
                  <a:srgbClr val="FFFFFF"/>
                </a:solidFill>
                <a:latin typeface="Calibri"/>
                <a:ea typeface="Calibri"/>
                <a:cs typeface="Calibri"/>
              </a:defRPr>
            </a:pPr>
            <a:r>
              <a:rPr sz="3000" b="1">
                <a:solidFill>
                  <a:srgbClr val="FFFFFF"/>
                </a:solidFill>
                <a:latin typeface="Calibri"/>
                <a:ea typeface="Calibri"/>
                <a:cs typeface="Calibri"/>
              </a:rPr>
              <a:t>Conclusion</a:t>
            </a:r>
          </a:p>
        </p:txBody>
      </p:sp>
      <p:sp>
        <p:nvSpPr>
          <p:cNvPr id="3" name="Rectangle 2">
            <a:extLst xmlns:a="http://schemas.openxmlformats.org/drawingml/2006/main">
              <a:ext uri="{FF2B5EF4-FFF2-40B4-BE49-F238E27FC236}">
                <a16:creationId xmlns:a16="http://schemas.microsoft.com/office/drawing/2014/main" id="{5CA25F2F-4B69-447D-97CB-456752B46DF4}"/>
              </a:ext>
            </a:extLst>
          </p:cNvPr>
          <p:cNvSpPr>
            <a:spLocks xmlns:a="http://schemas.openxmlformats.org/drawingml/2006/main" noGrp="1"/>
          </p:cNvSpPr>
          <p:nvPr/>
        </p:nvSpPr>
        <p:spPr>
          <a:xfrm xmlns:a="http://schemas.openxmlformats.org/drawingml/2006/main">
            <a:off x="0" y="960120"/>
            <a:ext cx="12191695" cy="50800"/>
          </a:xfrm>
          <a:prstGeom xmlns:a="http://schemas.openxmlformats.org/drawingml/2006/main" prst="rect">
            <a:avLst/>
          </a:prstGeom>
          <a:solidFill xmlns:a="http://schemas.openxmlformats.org/drawingml/2006/main">
            <a:srgbClr val="2E758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79180D2-2966-4594-A5D9-DFBEE1B66959}"/>
              </a:ext>
            </a:extLst>
          </p:cNvPr>
          <p:cNvSpPr>
            <a:spLocks xmlns:a="http://schemas.openxmlformats.org/drawingml/2006/main" noGrp="1"/>
          </p:cNvSpPr>
          <p:nvPr/>
        </p:nvSpPr>
        <p:spPr>
          <a:xfrm xmlns:a="http://schemas.openxmlformats.org/drawingml/2006/main">
            <a:off x="502920" y="1325880"/>
            <a:ext cx="11155680" cy="512064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Contribution | Five transparent engines in one inspectable workflow</a:t>
            </a:r>
          </a:p>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Evidence | 116 tests, matched metrics, controlled replay and external-data critique</a:t>
            </a:r>
          </a:p>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Safety | Bounded storage, privacy controls and policy-gated response</a:t>
            </a:r>
          </a:p>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Limitation | Laboratory evidence does not prove unrestricted field accuracy</a:t>
            </a:r>
          </a:p>
          <a:p xmlns:a="http://schemas.openxmlformats.org/drawingml/2006/main">
            <a:pPr algn="l">
              <a:spcAft>
                <a:spcPts val="8"/>
              </a:spcAft>
              <a:buNone/>
              <a:defRPr sz="1763">
                <a:solidFill>
                  <a:srgbClr val="202020"/>
                </a:solidFill>
                <a:latin typeface="Calibri"/>
                <a:ea typeface="Calibri"/>
                <a:cs typeface="Calibri"/>
              </a:defRPr>
            </a:pPr>
            <a:r>
              <a:rPr sz="1763">
                <a:solidFill>
                  <a:srgbClr val="202020"/>
                </a:solidFill>
                <a:latin typeface="Calibri"/>
                <a:ea typeface="Calibri"/>
                <a:cs typeface="Calibri"/>
              </a:rPr>
              <a:t>Future work | Independent balanced evaluation, authenticated telemetry and IPv6</a:t>
            </a:r>
          </a:p>
        </p:txBody>
      </p:sp>
      <p:sp>
        <p:nvSpPr>
          <p:cNvPr id="5" name="TextBox 4">
            <a:extLst xmlns:a="http://schemas.openxmlformats.org/drawingml/2006/main">
              <a:ext uri="{FF2B5EF4-FFF2-40B4-BE49-F238E27FC236}">
                <a16:creationId xmlns:a16="http://schemas.microsoft.com/office/drawing/2014/main" id="{00F4F65C-140D-438B-B37B-8BF04EE8AF15}"/>
              </a:ext>
            </a:extLst>
          </p:cNvPr>
          <p:cNvSpPr>
            <a:spLocks xmlns:a="http://schemas.openxmlformats.org/drawingml/2006/main" noGrp="1"/>
          </p:cNvSpPr>
          <p:nvPr/>
        </p:nvSpPr>
        <p:spPr>
          <a:xfrm xmlns:a="http://schemas.openxmlformats.org/drawingml/2006/main">
            <a:off x="502920" y="5623560"/>
            <a:ext cx="11155680" cy="82296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2250" b="1">
                <a:solidFill>
                  <a:srgbClr val="1F3864"/>
                </a:solidFill>
                <a:latin typeface="Calibri"/>
                <a:ea typeface="Calibri"/>
                <a:cs typeface="Calibri"/>
              </a:rPr>
              <a:t>Transparent implementation, traceable testing, honest evidence</a:t>
            </a:r>
          </a:p>
        </p:txBody>
      </p:sp>
      <p:sp>
        <p:nvSpPr>
          <p:cNvPr id="6" name="TextBox 5">
            <a:extLst xmlns:a="http://schemas.openxmlformats.org/drawingml/2006/main">
              <a:ext uri="{FF2B5EF4-FFF2-40B4-BE49-F238E27FC236}">
                <a16:creationId xmlns:a16="http://schemas.microsoft.com/office/drawing/2014/main" id="{9883640F-0F45-4387-A704-63B6572B53F2}"/>
              </a:ext>
            </a:extLst>
          </p:cNvPr>
          <p:cNvSpPr>
            <a:spLocks xmlns:a="http://schemas.openxmlformats.org/drawingml/2006/main" noGrp="1"/>
          </p:cNvSpPr>
          <p:nvPr/>
        </p:nvSpPr>
        <p:spPr>
          <a:xfrm xmlns:a="http://schemas.openxmlformats.org/drawingml/2006/main">
            <a:off x="11185855" y="6446520"/>
            <a:ext cx="82296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r">
              <a:buNone/>
              <a:defRPr sz="1200">
                <a:solidFill>
                  <a:srgbClr val="404040"/>
                </a:solidFill>
                <a:latin typeface="Calibri"/>
                <a:ea typeface="Calibri"/>
                <a:cs typeface="Calibri"/>
              </a:defRPr>
            </a:pPr>
            <a:r>
              <a:rPr sz="1200">
                <a:solidFill>
                  <a:srgbClr val="404040"/>
                </a:solidFill>
                <a:latin typeface="Calibri"/>
                <a:ea typeface="Calibri"/>
                <a:cs typeface="Calibri"/>
              </a:rPr>
              <a:t>25</a:t>
            </a:r>
          </a:p>
        </p:txBody>
      </p:sp>
    </p:spTree>
    <p:extLst>
      <p:ext uri="{BB962C8B-B14F-4D97-AF65-F5344CB8AC3E}">
        <p14:creationId xmlns:p14="http://schemas.microsoft.com/office/powerpoint/2010/main" val="31797613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2026-08-26T09:01:20.5780000Z</dcterms:created>
  <dcterms:modified xsi:type="dcterms:W3CDTF">2026-08-26T09:01:20.5780000Z</dcterms:modified>
</coreProperties>
</file>