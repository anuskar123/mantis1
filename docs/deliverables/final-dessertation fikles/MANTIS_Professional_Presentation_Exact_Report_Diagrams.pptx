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0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MANTIS_Final_Dissertation_FINAL_BACKUP_CURRENT_SAVED_STATE_2026-08-22_160017.docx, cover page and Chapter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MANTIS_Final_Dissertation_FINAL_BACKUP_CURRENT_SAVED_STATE_2026-08-22_160017.docx, Sections 1.1, 1.2 and 2.8.1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MANTIS_Final_Dissertation_FINAL_BACKUP_CURRENT_SAVED_STATE_2026-08-22_160017.docx, Section 1.3 and Table 1.1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MANTIS_Final_Dissertation_FINAL_BACKUP_CURRENT_SAVED_STATE_2026-08-22_160017.docx, Chapter 2 literature review and comparable-system synthesis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MANTIS_Final_Dissertation_FINAL_BACKUP_CURRENT_SAVED_STATE_2026-08-22_160017.docx, Section 2.2 and Table 2.5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MANTIS_Final_Dissertation_FINAL_BACKUP_CURRENT_SAVED_STATE_2026-08-22_160017.docx, Sections 1.4 and 2.3 to 2.7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MANTIS_Final_Dissertation_FINAL_BACKUP_CURRENT_SAVED_STATE_2026-08-22_160017.docx, Section 2.8 and Table 2.6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MANTIS_Final_Dissertation_FINAL_BACKUP_CURRENT_SAVED_STATE_2026-08-22_160017.docx, Figure 2.8, embedded image extracted directly from the report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MANTIS_Final_Dissertation_FINAL_BACKUP_CURRENT_SAVED_STATE_2026-08-22_160017.docx, Figure 3.1b, embedded image extracted directly from the report; Tables 3.1 to 3.2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MANTIS_Final_Dissertation_FINAL_BACKUP_CURRENT_SAVED_STATE_2026-08-22_160017.docx, Figure 3.3, embedded image extracted directly from the report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MANTIS_Final_Dissertation_FINAL_BACKUP_CURRENT_SAVED_STATE_2026-08-22_160017.docx, Sections 2.9 and 3.6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MANTIS_Final_Dissertation_FINAL_BACKUP_CURRENT_SAVED_STATE_2026-08-22_160017.docx, Chapter 4 and Table 4.1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MANTIS_Final_Dissertation_FINAL_BACKUP_CURRENT_SAVED_STATE_2026-08-22_160017.docx, Chapter 5 and Tables 5.1, 5.3 and 5.4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MANTIS_Final_Dissertation_FINAL_BACKUP_CURRENT_SAVED_STATE_2026-08-22_160017.docx, controlled engine checks in Chapter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MANTIS_Final_Dissertation_FINAL_BACKUP_CURRENT_SAVED_STATE_2026-08-22_160017.docx, Table 5.2 and the external CIC-IoT2023 evaluation discussion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MANTIS_Final_Dissertation_FINAL_BACKUP_CURRENT_SAVED_STATE_2026-08-22_160017.docx, Chapters 6 and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655FF-DD96-4A7A-AD19-6DE55273F3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F6608A-96EA-4877-AF8D-4F6C580F74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C7F86-388B-4EE2-9D57-78F37914D0D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8/25/2026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C0929-1A61-45AD-A523-71FA64313F6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3F982-885F-44B5-B4B4-3DEB3C34B2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E6FE4-73AA-4131-BC50-98D8AA85E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2E083-7397-4A05-A945-0CD8B658E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B0893-69E5-42BA-B37C-F60FE5EB9CA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8/25/2026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4CB6D-2055-4BF1-9E86-5272C612CEF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CE348-E737-42ED-A518-2D0CE3CE4F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752D3-92F2-42CB-9833-44F9D6CB7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01398E-E0E7-4880-A62D-06B245C37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B78146-BF43-42DE-B3EF-D9FFDF91D44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8/25/2026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C6037-37B9-45B4-A2B7-71590D80656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D44C2-303F-44C8-A713-0C5C36F322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B6CA1-7C0D-48A8-A3C6-F428A3AE7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7DA48-2684-4ADA-807B-43894B642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129E44-9CCF-4C59-A520-F9C5CAB2555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F673A8-8993-47C0-A03A-BBFF060F50D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8/25/2026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0D5894-A50E-4269-BE14-D94F409B9FA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5434B0-655F-4BB9-9B82-08C716FB5D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05A9F-9754-4C9C-81FF-785922B52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632722-021A-4880-9383-ADD410A539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17F386-8791-41E4-BA20-41D630B8DB0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2DA92C-76E4-409E-BFE4-AB5A072BC8B8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F933D9-ED8C-4BCC-B8D5-F4EF17F9A4DC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7DCD60-F530-49EA-9BEC-DC1895D4F22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8/25/2026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FFFAC6-C501-43ED-B13A-1665BF972CE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C011E5-D5FC-452F-8F69-1D698949FE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07ABA-584F-4584-8633-83424A4DC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0F327B-D612-41F5-9002-E5105203358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8/25/2026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C77C5D-2E9A-4E9B-9F44-74E0C26001F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BB2DEB-E585-49C3-9AD8-1BFE30FB8F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EA657B-B50E-4F18-9C55-87ACF212308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8/25/2026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DA61C8-392F-4A31-AFE4-4C4724D956A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E08675-7EBA-4A73-96BD-5CB828BEA1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426CC-7D81-4F23-810C-9F02F2E69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8903A-BF64-4886-888A-80939291D2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3C4F33-7909-4EE0-8603-9B9D9D70B9E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79ACF0-8CEA-4B89-B33B-16C641CE56A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8/25/2026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CA4E1F-E2C3-43D3-8A24-ED9F9331887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00A2A2-6542-497B-9877-3A4E366ADF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BDD6-0E17-451C-85E2-F8533050D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F54DBB-F978-42BA-A451-467B18F0E4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F65CCB-B5D6-41D8-9B76-96539D81B8C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40A631-1660-4678-BC40-1156911FCA1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8/25/2026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D88E99-0F4E-48D5-A32C-35114658E63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9982A8-145B-43BF-9566-E1ADF39D770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0251-1C4F-4048-8F56-20B48BC5E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CA3262-DE46-4723-9137-3721516D08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13240-0AEE-4704-A1E9-B27B3561FF3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8/25/2026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9D468-44A2-4D79-AC65-AFE9AB3CA98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EA359-452D-41D7-86AC-5750B296A67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B77726-3B3D-4214-B523-95096C07D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8C211B-0D26-4524-9502-6C58DAA555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96FC1-666E-4B69-A46C-33833492A6C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8/25/2026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26160-AFA4-40A3-B763-FA0BEE07C14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06B8E-9F73-4A7F-A26B-543D483EC3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965B3A-1CE1-4F61-B7F0-E44A226E9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DC76CD-AD5D-45CC-86B3-080BDDFDA3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815AA-94B4-4E21-A5C9-E11681DACAFA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8/25/2026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9748B-6FE3-4FE0-8C5B-0A098FF26560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5761C-5435-48A5-977C-60A1905D3BF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72C369-2D94-4A79-8CB2-1A674BD60F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916B9A-A1C2-45E0-9D47-D93D56AF6A2C}"/>
              </a:ext>
            </a:extLst>
          </p:cNvPr>
          <p:cNvSpPr>
            <a:spLocks noGrp="1"/>
          </p:cNvSpPr>
          <p:nvPr/>
        </p:nvSpPr>
        <p:spPr>
          <a:xfrm>
            <a:off x="822960" y="1554480"/>
            <a:ext cx="105156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latin typeface="Calibri"/>
                <a:ea typeface="Calibri"/>
                <a:cs typeface="Calibri"/>
              </a:defRPr>
            </a:pPr>
            <a:r>
              <a:rPr sz="6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MANTIS</a:t>
            </a:r>
          </a:p>
          <a:p>
            <a:pPr algn="l">
              <a:defRPr>
                <a:latin typeface="Calibri"/>
                <a:ea typeface="Calibri"/>
                <a:cs typeface="Calibri"/>
              </a:defRPr>
            </a:pPr>
            <a:r>
              <a:rPr sz="2800">
                <a:solidFill>
                  <a:srgbClr val="BFD5E8"/>
                </a:solidFill>
                <a:latin typeface="Calibri"/>
                <a:ea typeface="Calibri"/>
                <a:cs typeface="Calibri"/>
              </a:rPr>
              <a:t>Minimalist Alert Network for Threat Intelligence System</a:t>
            </a:r>
          </a:p>
          <a:p>
            <a:pPr algn="l">
              <a:defRPr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9FB8D0"/>
                </a:solidFill>
                <a:latin typeface="Calibri"/>
                <a:ea typeface="Calibri"/>
                <a:cs typeface="Calibri"/>
              </a:rPr>
              <a:t>Final Dissertation Presentation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D65B99-3D41-4862-A162-8B913EA31796}"/>
              </a:ext>
            </a:extLst>
          </p:cNvPr>
          <p:cNvSpPr>
            <a:spLocks noGrp="1"/>
          </p:cNvSpPr>
          <p:nvPr/>
        </p:nvSpPr>
        <p:spPr>
          <a:xfrm>
            <a:off x="822960" y="4846320"/>
            <a:ext cx="10515600" cy="1554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>
              <a:defRPr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Dissertation  |  CSY4022</a:t>
            </a:r>
          </a:p>
          <a:p>
            <a:pPr algn="l">
              <a:defRPr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Anuskar Sigdel  |  24812606</a:t>
            </a:r>
          </a:p>
          <a:p>
            <a:pPr algn="l">
              <a:defRPr>
                <a:latin typeface="Calibri"/>
                <a:ea typeface="Calibri"/>
                <a:cs typeface="Calibri"/>
              </a:defRPr>
            </a:pPr>
            <a:r>
              <a:rPr sz="1600">
                <a:solidFill>
                  <a:srgbClr val="BFD5E8"/>
                </a:solidFill>
                <a:latin typeface="Calibri"/>
                <a:ea typeface="Calibri"/>
                <a:cs typeface="Calibri"/>
              </a:rPr>
              <a:t>Supervisor: Nischal Khadka  |  University of Northampton  |  August 2026</a:t>
            </a:r>
          </a:p>
        </p:txBody>
      </p:sp>
    </p:spTree>
    <p:extLst>
      <p:ext uri="{BB962C8B-B14F-4D97-AF65-F5344CB8AC3E}">
        <p14:creationId xmlns:p14="http://schemas.microsoft.com/office/powerpoint/2010/main" val="1696421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487DD7-EB12-4F2E-A871-173C1A5035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109728" rIns="91440" bIns="45720" anchor="ctr"/>
          <a:lstStyle/>
          <a:p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1. The Problem MANTIS Addresses</a:t>
            </a:r>
          </a:p>
          <a:p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Transparent intrusion detection for constrained Linux hosts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CAF4BA-E444-4976-85CD-68FB09D7DBEE}"/>
              </a:ext>
            </a:extLst>
          </p:cNvPr>
          <p:cNvSpPr>
            <a:spLocks noGrp="1"/>
          </p:cNvSpPr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2E7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64DD81-9B9D-4FC8-AE1B-611B45A9A1BF}"/>
              </a:ext>
            </a:extLst>
          </p:cNvPr>
          <p:cNvSpPr>
            <a:spLocks noGrp="1"/>
          </p:cNvSpPr>
          <p:nvPr/>
        </p:nvSpPr>
        <p:spPr>
          <a:xfrm>
            <a:off x="502920" y="1325880"/>
            <a:ext cx="11155680" cy="51206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Small networks still face scans, floods, malicious payloads and known-bad sources.</a:t>
            </a:r>
          </a:p>
          <a:p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Enterprise IDS platforms can require heavyweight packages, extensive rule management and several supporting services.</a:t>
            </a:r>
          </a:p>
          <a:p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Opaque detection paths make results difficult to explain, reproduce and audit in a student research setting.</a:t>
            </a:r>
          </a:p>
          <a:p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MANTIS responds with a dependency-free Python prototype whose capture, detection, evidence and optional response paths remain inspectable.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5834F4-F528-482C-9A71-4C4ED90E3A63}"/>
              </a:ext>
            </a:extLst>
          </p:cNvPr>
          <p:cNvSpPr>
            <a:spLocks noGrp="1"/>
          </p:cNvSpPr>
          <p:nvPr/>
        </p:nvSpPr>
        <p:spPr>
          <a:xfrm>
            <a:off x="11185855" y="6446520"/>
            <a:ext cx="822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51626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0B3F9E-7E3F-4E79-971E-B4BB54DB79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109728" rIns="91440" bIns="45720" anchor="ctr"/>
          <a:lstStyle/>
          <a:p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Aim and Measurable Objectives</a:t>
            </a:r>
          </a:p>
          <a:p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One research aim supported by six verifiable objectives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FBA89D-7AC8-4989-AFAE-B04D14FF7DF5}"/>
              </a:ext>
            </a:extLst>
          </p:cNvPr>
          <p:cNvSpPr>
            <a:spLocks noGrp="1"/>
          </p:cNvSpPr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2E7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8171E0-3C3B-4929-85CC-822D5B57C369}"/>
              </a:ext>
            </a:extLst>
          </p:cNvPr>
          <p:cNvSpPr>
            <a:spLocks noGrp="1"/>
          </p:cNvSpPr>
          <p:nvPr/>
        </p:nvSpPr>
        <p:spPr>
          <a:xfrm>
            <a:off x="502920" y="1325880"/>
            <a:ext cx="11155680" cy="51206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Aim: design, implement and evaluate a lightweight host-based NIDS using only the Python standard library.</a:t>
            </a:r>
          </a:p>
          <a:p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Capture live Ethernet frames and support reproducible offline PCAP replay.</a:t>
            </a:r>
          </a:p>
          <a:p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Implement five transparent engines for flood, scan, malicious payload, novelty and reputation detection.</a:t>
            </a:r>
          </a:p>
          <a:p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Train from labelled data, persist compatible state and expose CLI, dashboard, SIEM and forensic evidence.</a:t>
            </a:r>
          </a:p>
          <a:p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Evaluate the integrated system while keeping active defence explicitly controlled by policy.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EFCECC-6739-4693-8FE0-7F2AED0E7B95}"/>
              </a:ext>
            </a:extLst>
          </p:cNvPr>
          <p:cNvSpPr>
            <a:spLocks noGrp="1"/>
          </p:cNvSpPr>
          <p:nvPr/>
        </p:nvSpPr>
        <p:spPr>
          <a:xfrm>
            <a:off x="11185855" y="6446520"/>
            <a:ext cx="822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99258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DC4901-7C67-4BAF-81A5-4B5E6EA4145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109728" rIns="91440" bIns="45720" anchor="ctr"/>
          <a:lstStyle/>
          <a:p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3. Literature Review and Design Gap</a:t>
            </a:r>
          </a:p>
          <a:p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evidence shaped both the architecture and the evaluation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D3F5D6-024D-4C77-93BA-185D041E5B2B}"/>
              </a:ext>
            </a:extLst>
          </p:cNvPr>
          <p:cNvSpPr>
            <a:spLocks noGrp="1"/>
          </p:cNvSpPr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2E7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96EA04-D86D-41D3-B470-2A27E212CB32}"/>
              </a:ext>
            </a:extLst>
          </p:cNvPr>
          <p:cNvSpPr>
            <a:spLocks noGrp="1"/>
          </p:cNvSpPr>
          <p:nvPr/>
        </p:nvSpPr>
        <p:spPr>
          <a:xfrm>
            <a:off x="502920" y="1325880"/>
            <a:ext cx="11155680" cy="51206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Aft>
                <a:spcPts val="800"/>
              </a:spcAft>
              <a:buNone/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Recent studies show strong IDS results, but also warn about leakage, unrealistic base rates and weak transfer across datasets.</a:t>
            </a:r>
          </a:p>
          <a:p>
            <a:pPr lvl="1" algn="l">
              <a:spcAft>
                <a:spcPts val="800"/>
              </a:spcAft>
              <a:buNone/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CIC-IoT2023 provides large-scale attack data, yet its flow features do not directly match raw-packet engine inputs.</a:t>
            </a:r>
          </a:p>
          <a:p>
            <a:pPr algn="l">
              <a:spcAft>
                <a:spcPts val="800"/>
              </a:spcAft>
              <a:buNone/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Comparable systems are mature, but none combines dependency freedom, readable detection mathematics and SIEM interoperability at small-host scale.</a:t>
            </a:r>
          </a:p>
          <a:p>
            <a:pPr lvl="1" algn="l">
              <a:spcAft>
                <a:spcPts val="800"/>
              </a:spcAft>
              <a:buNone/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Design implication: keep every detection rule inspectable and report implementation evidence separately from field-accuracy claims.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671029-02EE-44F1-8BD2-5827822105E6}"/>
              </a:ext>
            </a:extLst>
          </p:cNvPr>
          <p:cNvSpPr>
            <a:spLocks noGrp="1"/>
          </p:cNvSpPr>
          <p:nvPr/>
        </p:nvSpPr>
        <p:spPr>
          <a:xfrm>
            <a:off x="11185855" y="6446520"/>
            <a:ext cx="822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95576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89DEC2-D6BA-47A8-A786-AC7F5D2D57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109728" rIns="91440" bIns="45720" anchor="ctr"/>
          <a:lstStyle/>
          <a:p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4. Comparable Systems</a:t>
            </a:r>
          </a:p>
          <a:p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MANTIS occupies a narrow research and teaching niche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94B85C-6C23-4153-BD2D-5AF1F9EBADE3}"/>
              </a:ext>
            </a:extLst>
          </p:cNvPr>
          <p:cNvSpPr>
            <a:spLocks noGrp="1"/>
          </p:cNvSpPr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2E7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graphicFrame>
        <p:nvGraphicFramePr>
          <p:cNvPr id="10" name="Table 3"/>
          <p:cNvGraphicFramePr/>
          <p:nvPr/>
        </p:nvGraphicFramePr>
        <p:xfrm>
          <a:off x="502920" y="1325880"/>
          <a:ext cx="111556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sz="1600" b="1">
                          <a:latin typeface="Calibri"/>
                          <a:ea typeface="Calibri"/>
                          <a:cs typeface="Calibri"/>
                        </a:rPr>
                        <a:t>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Calibri"/>
                          <a:ea typeface="Calibri"/>
                          <a:cs typeface="Calibri"/>
                        </a:rPr>
                        <a:t>Strength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Calibri"/>
                          <a:ea typeface="Calibri"/>
                          <a:cs typeface="Calibri"/>
                        </a:rPr>
                        <a:t>Cost for a small host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Snort 3.x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Mature signature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Rule-pack management and tuning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Suricata 7.x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Multithreaded throughput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Large configuration surface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Zeek 8.x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Rich protocol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Scripting and deployment learning curve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Wazuh 4.x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Full SIEM 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Multiple components and infrastructure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MANTIS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Transparent five-engine prototype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Prototype scope and HTTP-only payload visibility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1CF611F-D43C-42D6-81D0-62208FEF6E0C}"/>
              </a:ext>
            </a:extLst>
          </p:cNvPr>
          <p:cNvSpPr>
            <a:spLocks noGrp="1"/>
          </p:cNvSpPr>
          <p:nvPr/>
        </p:nvSpPr>
        <p:spPr>
          <a:xfrm>
            <a:off x="502920" y="5486400"/>
            <a:ext cx="11155680" cy="51206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Aft>
                <a:spcPts val="8"/>
              </a:spcAft>
              <a:defRPr sz="16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6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The contribution is inspectability and low dependency, not feature parity with enterprise platforms.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598432-BCC7-4EC7-9E9D-FAC9FEA8A33F}"/>
              </a:ext>
            </a:extLst>
          </p:cNvPr>
          <p:cNvSpPr>
            <a:spLocks noGrp="1"/>
          </p:cNvSpPr>
          <p:nvPr/>
        </p:nvSpPr>
        <p:spPr>
          <a:xfrm>
            <a:off x="11185855" y="6446520"/>
            <a:ext cx="822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98800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D247762-17DD-48FD-9B40-1EF95A41B2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109728" rIns="91440" bIns="45720" anchor="ctr"/>
          <a:lstStyle/>
          <a:p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5. Methodology</a:t>
            </a:r>
          </a:p>
          <a:p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Constructive research: build, evaluate, critique and refine the artefact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842E7D-4A5C-45EE-BFD9-38C16CFB029C}"/>
              </a:ext>
            </a:extLst>
          </p:cNvPr>
          <p:cNvSpPr>
            <a:spLocks noGrp="1"/>
          </p:cNvSpPr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2E7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47988C-A877-43B8-84EB-5A7DCDD927EC}"/>
              </a:ext>
            </a:extLst>
          </p:cNvPr>
          <p:cNvSpPr>
            <a:spLocks noGrp="1"/>
          </p:cNvSpPr>
          <p:nvPr/>
        </p:nvSpPr>
        <p:spPr>
          <a:xfrm>
            <a:off x="502920" y="1325880"/>
            <a:ext cx="11155680" cy="51206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Constructive research defined the problem, built MANTIS, evaluated it and critiqued its limitations.</a:t>
            </a:r>
          </a:p>
          <a:p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Agile and Scrum principles supported short cycles, a prioritised backlog, review and adaptation.</a:t>
            </a:r>
          </a:p>
          <a:p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Kanban made progress visible across requirements, design, construction, testing and documentation.</a:t>
            </a:r>
          </a:p>
          <a:p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V-model traceability linked requirements to unit, integration, system and evaluation evidence.</a:t>
            </a:r>
          </a:p>
          <a:p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Safety controls used offline datasets, loopback services, privacy redaction and policy-gated response.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750AE8-986D-4228-BEB6-2B98A498FB1F}"/>
              </a:ext>
            </a:extLst>
          </p:cNvPr>
          <p:cNvSpPr>
            <a:spLocks noGrp="1"/>
          </p:cNvSpPr>
          <p:nvPr/>
        </p:nvSpPr>
        <p:spPr>
          <a:xfrm>
            <a:off x="11185855" y="6446520"/>
            <a:ext cx="822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81767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32DA523-7BE0-4728-9DE8-D50A6A08F0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109728" rIns="91440" bIns="45720" anchor="ctr"/>
          <a:lstStyle/>
          <a:p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6. Requirements and Scope</a:t>
            </a:r>
          </a:p>
          <a:p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Implemented behaviours are traceable to components and tests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6F0959-239B-4081-A8BB-E5F6C5D54D7C}"/>
              </a:ext>
            </a:extLst>
          </p:cNvPr>
          <p:cNvSpPr>
            <a:spLocks noGrp="1"/>
          </p:cNvSpPr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2E7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BEB495-BBD3-45BE-A3BF-DB426AF49C78}"/>
              </a:ext>
            </a:extLst>
          </p:cNvPr>
          <p:cNvSpPr>
            <a:spLocks noGrp="1"/>
          </p:cNvSpPr>
          <p:nvPr/>
        </p:nvSpPr>
        <p:spPr>
          <a:xfrm>
            <a:off x="502920" y="1325880"/>
            <a:ext cx="11155680" cy="51206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Capture, parse and replay Ethernet, VLAN, IPv4, TCP, UDP and ICMP traffic.</a:t>
            </a:r>
          </a:p>
          <a:p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Run five detection engines, aggregate verdicts, dispatch alerts and export evidence.</a:t>
            </a:r>
          </a:p>
          <a:p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Train from labelled data and persist compatible engine state in portable JSON.</a:t>
            </a:r>
          </a:p>
          <a:p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Publish dashboard and SIEM data, with optional iptables response disabled unless policy enables it.</a:t>
            </a:r>
          </a:p>
          <a:p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Non-functional priorities are transparency, portability, privacy redaction, bounded storage and safe defaults.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642FA4-88A1-449D-ACB1-C2CB8647689B}"/>
              </a:ext>
            </a:extLst>
          </p:cNvPr>
          <p:cNvSpPr>
            <a:spLocks noGrp="1"/>
          </p:cNvSpPr>
          <p:nvPr/>
        </p:nvSpPr>
        <p:spPr>
          <a:xfrm>
            <a:off x="11185855" y="6446520"/>
            <a:ext cx="822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715057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A9147F-1BF3-4D2C-BDC5-7076C71952F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109728" rIns="91440" bIns="45720" anchor="ctr"/>
          <a:lstStyle/>
          <a:p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7. MANTIS End-to-End Workflow</a:t>
            </a:r>
          </a:p>
          <a:p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Figure 2.8 links training, capture, detection, evidence and response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61CE38-5FAF-488A-953D-D989C14CB9A7}"/>
              </a:ext>
            </a:extLst>
          </p:cNvPr>
          <p:cNvSpPr>
            <a:spLocks noGrp="1"/>
          </p:cNvSpPr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2E7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0" name="Picture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232073" y="1143000"/>
            <a:ext cx="2906020" cy="55321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44E472-16A2-49CF-B20C-E2F1BC8B93F3}"/>
              </a:ext>
            </a:extLst>
          </p:cNvPr>
          <p:cNvSpPr>
            <a:spLocks noGrp="1"/>
          </p:cNvSpPr>
          <p:nvPr/>
        </p:nvSpPr>
        <p:spPr>
          <a:xfrm>
            <a:off x="502920" y="1463040"/>
            <a:ext cx="3291840" cy="51206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Aft>
                <a:spcPts val="8"/>
              </a:spcAft>
              <a:defRPr sz="16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6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Labelled data trains supported engines and creates portable brain state.</a:t>
            </a:r>
          </a:p>
          <a:p>
            <a:pPr algn="l">
              <a:spcAft>
                <a:spcPts val="8"/>
              </a:spcAft>
              <a:defRPr sz="16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6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Live frames or PCAP replay pass through one validated parser and five engines.</a:t>
            </a:r>
          </a:p>
          <a:p>
            <a:pPr algn="l">
              <a:spcAft>
                <a:spcPts val="8"/>
              </a:spcAft>
              <a:defRPr sz="16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6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Verdicts feed one dispatcher for evidence, dashboard and SIEM delivery.</a:t>
            </a:r>
          </a:p>
          <a:p>
            <a:pPr algn="l">
              <a:spcAft>
                <a:spcPts val="8"/>
              </a:spcAft>
              <a:defRPr sz="16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6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Blocking remains optional and policy-gated; shutdown exports state and the forensic report.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2A2D62-6C9D-49C5-8953-290AC78EB47F}"/>
              </a:ext>
            </a:extLst>
          </p:cNvPr>
          <p:cNvSpPr>
            <a:spLocks noGrp="1"/>
          </p:cNvSpPr>
          <p:nvPr/>
        </p:nvSpPr>
        <p:spPr>
          <a:xfrm>
            <a:off x="11185855" y="6446520"/>
            <a:ext cx="822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941538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97E678-1992-463F-BC02-DAEC1A4AAB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109728" rIns="91440" bIns="45720" anchor="ctr"/>
          <a:lstStyle/>
          <a:p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8. Use Case and Response Boundary</a:t>
            </a:r>
          </a:p>
          <a:p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Figure 3.1b separates mandatory analysis from optional active defence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64520F-B5DB-4424-B9AC-203F71390D1B}"/>
              </a:ext>
            </a:extLst>
          </p:cNvPr>
          <p:cNvSpPr>
            <a:spLocks noGrp="1"/>
          </p:cNvSpPr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2E7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9" name="Picture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60186" y="1188720"/>
            <a:ext cx="7274617" cy="54406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BD1D95-6307-4BA7-A79B-1A5EA6CDB457}"/>
              </a:ext>
            </a:extLst>
          </p:cNvPr>
          <p:cNvSpPr>
            <a:spLocks noGrp="1"/>
          </p:cNvSpPr>
          <p:nvPr/>
        </p:nvSpPr>
        <p:spPr>
          <a:xfrm>
            <a:off x="11185855" y="6446520"/>
            <a:ext cx="822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359509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0E111E-3A5D-49A9-A4AD-11D3DE2606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109728" rIns="91440" bIns="45720" anchor="ctr"/>
          <a:lstStyle/>
          <a:p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9. Class Model and Component Ownership</a:t>
            </a:r>
          </a:p>
          <a:p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    Figure 3.3 shows inheritance, composition and explicit multiplicities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89C077-51FA-496D-80FD-4DE9A510C719}"/>
              </a:ext>
            </a:extLst>
          </p:cNvPr>
          <p:cNvSpPr>
            <a:spLocks noGrp="1"/>
          </p:cNvSpPr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2E7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9" name="Picture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09928" y="1631655"/>
            <a:ext cx="8762337" cy="44176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CD95F9C-46A8-4785-B8AD-C9F43378F28F}"/>
              </a:ext>
            </a:extLst>
          </p:cNvPr>
          <p:cNvSpPr>
            <a:spLocks noGrp="1"/>
          </p:cNvSpPr>
          <p:nvPr/>
        </p:nvSpPr>
        <p:spPr>
          <a:xfrm>
            <a:off x="11185855" y="6446520"/>
            <a:ext cx="822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32269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EFCD93-BCFC-4C8E-8281-5EE662AD484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109728" rIns="91440" bIns="45720" anchor="ctr"/>
          <a:lstStyle/>
          <a:p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10. Five Detection Engines</a:t>
            </a:r>
          </a:p>
          <a:p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Each engine targets a distinct behaviour and emits one Verdict contract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EE920D-29B6-4A2C-92F0-6ABCDE90EA71}"/>
              </a:ext>
            </a:extLst>
          </p:cNvPr>
          <p:cNvSpPr>
            <a:spLocks noGrp="1"/>
          </p:cNvSpPr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2E7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graphicFrame>
        <p:nvGraphicFramePr>
          <p:cNvPr id="10" name="Table 3"/>
          <p:cNvGraphicFramePr/>
          <p:nvPr/>
        </p:nvGraphicFramePr>
        <p:xfrm>
          <a:off x="502920" y="1371600"/>
          <a:ext cx="111556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Detects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System implementation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Z-Score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Deviation from running 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Flood anomaly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Welford statistics, warm-up, z &gt;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Nearest-neighbour vote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Port scan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Scaled port diversity and packet-count features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Naive Bayes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Token class probability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Malicious payload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Tokenisation with smoothed likelihoods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K-Means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Distance from centroids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Novel behaviour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Online centroids; anomalies do not update the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Bloom filter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Probabilistic membership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Known-bad 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Fixed bit array and multiple hashes from a feed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290914A-4925-46BE-B09E-8587F7E2C961}"/>
              </a:ext>
            </a:extLst>
          </p:cNvPr>
          <p:cNvSpPr>
            <a:spLocks noGrp="1"/>
          </p:cNvSpPr>
          <p:nvPr/>
        </p:nvSpPr>
        <p:spPr>
          <a:xfrm>
            <a:off x="502920" y="5806440"/>
            <a:ext cx="11155680" cy="51206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Aft>
                <a:spcPts val="8"/>
              </a:spcAft>
              <a:defRPr sz="16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6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Detection remains separate from alerting and firewall policy.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7A99F7-2FE4-4CB4-86FB-B1AFCDB677CF}"/>
              </a:ext>
            </a:extLst>
          </p:cNvPr>
          <p:cNvSpPr>
            <a:spLocks noGrp="1"/>
          </p:cNvSpPr>
          <p:nvPr/>
        </p:nvSpPr>
        <p:spPr>
          <a:xfrm>
            <a:off x="11185855" y="6446520"/>
            <a:ext cx="822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91111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2C997B-1F07-422A-A45E-5D390C9F2D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109728" rIns="91440" bIns="45720" anchor="ctr"/>
          <a:lstStyle/>
          <a:p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11. System Build</a:t>
            </a:r>
          </a:p>
          <a:p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dependency-free implementation with explicit technical and safety boundaries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42D098-E73B-4FE6-AB50-456E035700CE}"/>
              </a:ext>
            </a:extLst>
          </p:cNvPr>
          <p:cNvSpPr>
            <a:spLocks noGrp="1"/>
          </p:cNvSpPr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2E7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3261A1-26A2-459D-AAC5-8991D375CD95}"/>
              </a:ext>
            </a:extLst>
          </p:cNvPr>
          <p:cNvSpPr>
            <a:spLocks noGrp="1"/>
          </p:cNvSpPr>
          <p:nvPr/>
        </p:nvSpPr>
        <p:spPr>
          <a:xfrm>
            <a:off x="502920" y="1325880"/>
            <a:ext cx="11155680" cy="51206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Python 3 standard library only, including socket, struct, threading, JSON, HTTP server and unittest.</a:t>
            </a:r>
          </a:p>
          <a:p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Packet capture uses AF_PACKET raw sockets, so Linux and suitable capability or privilege are required.</a:t>
            </a:r>
          </a:p>
          <a:p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Parser checks Ethernet, tagged VLAN, IPv4, TCP, UDP and ICMP bounds before engine use.</a:t>
            </a:r>
          </a:p>
          <a:p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SIEM delivery uses UDP JSON; the browser dashboard is served locally on port 8080.</a:t>
            </a:r>
          </a:p>
          <a:p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Engine state is versioned JSON and shutdown reports preserve evidence for review.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E64826-CE8A-477B-8DC6-D34F4BD30CA8}"/>
              </a:ext>
            </a:extLst>
          </p:cNvPr>
          <p:cNvSpPr>
            <a:spLocks noGrp="1"/>
          </p:cNvSpPr>
          <p:nvPr/>
        </p:nvSpPr>
        <p:spPr>
          <a:xfrm>
            <a:off x="11185855" y="6446520"/>
            <a:ext cx="822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118985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F32CF15-29C9-48BC-9D4B-63A76D7C3A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109728" rIns="91440" bIns="45720" anchor="ctr"/>
          <a:lstStyle/>
          <a:p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12. Testing Strategy</a:t>
            </a:r>
          </a:p>
          <a:p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Verify software behaviour first, then evaluate detection transfer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4ACE65-491E-4643-AE24-039F1DDE4258}"/>
              </a:ext>
            </a:extLst>
          </p:cNvPr>
          <p:cNvSpPr>
            <a:spLocks noGrp="1"/>
          </p:cNvSpPr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2E7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55B2D5-CB70-4334-B395-E9FC4386E06A}"/>
              </a:ext>
            </a:extLst>
          </p:cNvPr>
          <p:cNvSpPr>
            <a:spLocks noGrp="1"/>
          </p:cNvSpPr>
          <p:nvPr/>
        </p:nvSpPr>
        <p:spPr>
          <a:xfrm>
            <a:off x="502920" y="1325880"/>
            <a:ext cx="11155680" cy="51206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White-box tests checked engine mathematics, parser bounds, risk mapping, redaction and persistence.</a:t>
            </a:r>
          </a:p>
          <a:p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Integration tests covered parser-to-engine flow, dispatcher fan-out, state round trips and duplicate suppression.</a:t>
            </a:r>
          </a:p>
          <a:p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Black-box tests exercised CLI, UDP and HTTP endpoints, filtering, malformed datagrams and PCAP export.</a:t>
            </a:r>
          </a:p>
          <a:p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All 116 automated tests passed on 20 August 2026 in 4.642 seconds.</a:t>
            </a:r>
          </a:p>
          <a:p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Twenty-eight representative cases record expected and actual outcomes with terminal evidence.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7501F-0ED5-4A3E-94B8-4B9229ACF2BD}"/>
              </a:ext>
            </a:extLst>
          </p:cNvPr>
          <p:cNvSpPr>
            <a:spLocks noGrp="1"/>
          </p:cNvSpPr>
          <p:nvPr/>
        </p:nvSpPr>
        <p:spPr>
          <a:xfrm>
            <a:off x="11185855" y="6446520"/>
            <a:ext cx="822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22509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686DF9-7873-473F-96E5-D5F9A15AF7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109728" rIns="91440" bIns="45720" anchor="ctr"/>
          <a:lstStyle/>
          <a:p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13. Controlled Checks</a:t>
            </a:r>
          </a:p>
          <a:p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Small engine-specific samples verify code paths, not deployment accuracy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B9DCDD-B76C-4ECA-A485-747530DB933B}"/>
              </a:ext>
            </a:extLst>
          </p:cNvPr>
          <p:cNvSpPr>
            <a:spLocks noGrp="1"/>
          </p:cNvSpPr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2E7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graphicFrame>
        <p:nvGraphicFramePr>
          <p:cNvPr id="10" name="Table 3"/>
          <p:cNvGraphicFramePr/>
          <p:nvPr/>
        </p:nvGraphicFramePr>
        <p:xfrm>
          <a:off x="731520" y="137160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Port scan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Matched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Small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Path check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Naive Bayes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Payload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Recall .9167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1 miss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Metric check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Z-Score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Flood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Matched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Constructed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Path check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K-Means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Novelty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Matched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Small vectors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Path check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Bloom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Bad 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Inserted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Property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Set check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2619BC0-290F-4AD3-B405-F1ED68951BB8}"/>
              </a:ext>
            </a:extLst>
          </p:cNvPr>
          <p:cNvSpPr>
            <a:spLocks noGrp="1"/>
          </p:cNvSpPr>
          <p:nvPr/>
        </p:nvSpPr>
        <p:spPr>
          <a:xfrm>
            <a:off x="502920" y="4846320"/>
            <a:ext cx="11155680" cy="51206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Aft>
                <a:spcPts val="8"/>
              </a:spcAft>
              <a:defRPr sz="16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6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Perfect values on matched constructed sets are implementation evidence, not generalisation evidence.</a:t>
            </a:r>
          </a:p>
          <a:p>
            <a:pPr algn="l">
              <a:spcAft>
                <a:spcPts val="8"/>
              </a:spcAft>
              <a:defRPr sz="16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6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The obfuscated Naive Bayes miss is retained and reported rather than tuned away.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359200-3E05-47E7-88CE-020ED8D24882}"/>
              </a:ext>
            </a:extLst>
          </p:cNvPr>
          <p:cNvSpPr>
            <a:spLocks noGrp="1"/>
          </p:cNvSpPr>
          <p:nvPr/>
        </p:nvSpPr>
        <p:spPr>
          <a:xfrm>
            <a:off x="11185855" y="6446520"/>
            <a:ext cx="822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9274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686DF9-7873-473F-96E5-D5F9A15AF7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109728" rIns="91440" bIns="45720" anchor="ctr"/>
          <a:lstStyle/>
          <a:p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14. External Dataset Evaluation</a:t>
            </a:r>
          </a:p>
          <a:p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CIC-IoT2023: 63 files, 45,018,252 rows and 9.30 GB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B9DCDD-B76C-4ECA-A485-747530DB933B}"/>
              </a:ext>
            </a:extLst>
          </p:cNvPr>
          <p:cNvSpPr>
            <a:spLocks noGrp="1"/>
          </p:cNvSpPr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2E7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graphicFrame>
        <p:nvGraphicFramePr>
          <p:cNvPr id="10" name="Table 3"/>
          <p:cNvGraphicFramePr/>
          <p:nvPr>
            <p:extLst>
              <p:ext uri="{D42A27DB-BD31-4B8C-83A1-F6EECF244321}">
                <p14:modId xmlns:p14="http://schemas.microsoft.com/office/powerpoint/2010/main" val="1352556936"/>
              </p:ext>
            </p:extLst>
          </p:nvPr>
        </p:nvGraphicFramePr>
        <p:xfrm>
          <a:off x="731520" y="137160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Evaluation 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MCC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All merged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45,018,252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b="0" dirty="0"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r>
                        <a:rPr sz="1500" b="0" dirty="0">
                          <a:latin typeface="Calibri"/>
                          <a:ea typeface="Calibri"/>
                          <a:cs typeface="Calibri"/>
                        </a:rPr>
                        <a:t>.997417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b="0" dirty="0"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r>
                        <a:rPr sz="1500" b="0" dirty="0">
                          <a:latin typeface="Calibri"/>
                          <a:ea typeface="Calibri"/>
                          <a:cs typeface="Calibri"/>
                        </a:rPr>
                        <a:t>.043619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b="0" dirty="0"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r>
                        <a:rPr sz="1500" b="0" dirty="0">
                          <a:latin typeface="Calibri"/>
                          <a:ea typeface="Calibri"/>
                          <a:cs typeface="Calibri"/>
                        </a:rPr>
                        <a:t>.083582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b="0" dirty="0"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r>
                        <a:rPr sz="1500" b="0" dirty="0">
                          <a:latin typeface="Calibri"/>
                          <a:ea typeface="Calibri"/>
                          <a:cs typeface="Calibri"/>
                        </a:rPr>
                        <a:t>.029049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Benign + DoS/DDoS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41,333,350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b="0" dirty="0"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r>
                        <a:rPr sz="1500" b="0" dirty="0">
                          <a:latin typeface="Calibri"/>
                          <a:ea typeface="Calibri"/>
                          <a:cs typeface="Calibri"/>
                        </a:rPr>
                        <a:t>.997302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b="0" dirty="0"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r>
                        <a:rPr sz="1500" b="0" dirty="0">
                          <a:latin typeface="Calibri"/>
                          <a:ea typeface="Calibri"/>
                          <a:cs typeface="Calibri"/>
                        </a:rPr>
                        <a:t>.045574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b="0" dirty="0"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r>
                        <a:rPr sz="1500" b="0" dirty="0">
                          <a:latin typeface="Calibri"/>
                          <a:ea typeface="Calibri"/>
                          <a:cs typeface="Calibri"/>
                        </a:rPr>
                        <a:t>.087165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b="0" dirty="0"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r>
                        <a:rPr sz="1500" b="0" dirty="0">
                          <a:latin typeface="Calibri"/>
                          <a:ea typeface="Calibri"/>
                          <a:cs typeface="Calibri"/>
                        </a:rPr>
                        <a:t>.031179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Always-positive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45,018,252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b="0" dirty="0"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r>
                        <a:rPr sz="1500" b="0" dirty="0">
                          <a:latin typeface="Calibri"/>
                          <a:ea typeface="Calibri"/>
                          <a:cs typeface="Calibri"/>
                        </a:rPr>
                        <a:t>.976647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1.000000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b="0" dirty="0">
                          <a:latin typeface="Calibri"/>
                          <a:ea typeface="Calibri"/>
                          <a:cs typeface="Calibri"/>
                        </a:rPr>
                        <a:t>0</a:t>
                      </a:r>
                      <a:r>
                        <a:rPr sz="1500" b="0" dirty="0">
                          <a:latin typeface="Calibri"/>
                          <a:ea typeface="Calibri"/>
                          <a:cs typeface="Calibri"/>
                        </a:rPr>
                        <a:t>.988186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0.000000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Missed attack 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42,049,152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95.64% missed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Compatible 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Rate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2619BC0-290F-4AD3-B405-F1ED68951BB8}"/>
              </a:ext>
            </a:extLst>
          </p:cNvPr>
          <p:cNvSpPr>
            <a:spLocks noGrp="1"/>
          </p:cNvSpPr>
          <p:nvPr/>
        </p:nvSpPr>
        <p:spPr>
          <a:xfrm>
            <a:off x="502920" y="4846320"/>
            <a:ext cx="11155680" cy="51206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Aft>
                <a:spcPts val="8"/>
              </a:spcAft>
              <a:defRPr sz="16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6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Only Rate matched the external files, so this is a Z-Score transfer stress test, not a five-engine benchmark.</a:t>
            </a:r>
          </a:p>
          <a:p>
            <a:pPr algn="l">
              <a:spcAft>
                <a:spcPts val="8"/>
              </a:spcAft>
              <a:defRPr sz="16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6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High precision concealed very low recall; the fixed three-sigma rule did not transfer to heavy-tailed flow data.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359200-3E05-47E7-88CE-020ED8D24882}"/>
              </a:ext>
            </a:extLst>
          </p:cNvPr>
          <p:cNvSpPr>
            <a:spLocks noGrp="1"/>
          </p:cNvSpPr>
          <p:nvPr/>
        </p:nvSpPr>
        <p:spPr>
          <a:xfrm>
            <a:off x="11185855" y="6446520"/>
            <a:ext cx="822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92741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93733AD-8F30-4B7C-8FB7-78793C8A110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109728" rIns="91440" bIns="45720" anchor="ctr"/>
          <a:lstStyle/>
          <a:p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15. Conclusion and Next Steps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A25F2F-4B69-447D-97CB-456752B46DF4}"/>
              </a:ext>
            </a:extLst>
          </p:cNvPr>
          <p:cNvSpPr>
            <a:spLocks noGrp="1"/>
          </p:cNvSpPr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2E7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9180D2-2966-4594-A5D9-DFBEE1B66959}"/>
              </a:ext>
            </a:extLst>
          </p:cNvPr>
          <p:cNvSpPr>
            <a:spLocks noGrp="1"/>
          </p:cNvSpPr>
          <p:nvPr/>
        </p:nvSpPr>
        <p:spPr>
          <a:xfrm>
            <a:off x="502920" y="1325880"/>
            <a:ext cx="11155680" cy="51206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MANTIS meets its aim as an inspectable lightweight research prototype with five integrated detection engines.</a:t>
            </a:r>
          </a:p>
          <a:p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Evidence includes 116 passing tests, 28 traced cases and a 45-million-row external stress test.</a:t>
            </a:r>
          </a:p>
          <a:p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Correct software behaviour does not guarantee field accuracy without calibration and domain-matched temporal data.</a:t>
            </a:r>
          </a:p>
          <a:p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Next steps are encrypted-traffic feature sources, authenticated SIEM delivery, longer-window evaluation and model lifecycle controls.</a:t>
            </a:r>
          </a:p>
          <a:p>
            <a:pPr algn="l">
              <a:spcAft>
                <a:spcPts val="8"/>
              </a:spcAft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MANTIS is a transparent baseline for constrained hosts and teaching, not an enterprise IDS replacement.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F4F65C-140D-438B-B37B-8BF04EE8AF15}"/>
              </a:ext>
            </a:extLst>
          </p:cNvPr>
          <p:cNvSpPr>
            <a:spLocks noGrp="1"/>
          </p:cNvSpPr>
          <p:nvPr/>
        </p:nvSpPr>
        <p:spPr>
          <a:xfrm>
            <a:off x="502920" y="5623560"/>
            <a:ext cx="111556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50" b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Transparent implementation, honest evidence, clear next steps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83640F-0F45-4387-A704-63B6572B53F2}"/>
              </a:ext>
            </a:extLst>
          </p:cNvPr>
          <p:cNvSpPr>
            <a:spLocks noGrp="1"/>
          </p:cNvSpPr>
          <p:nvPr/>
        </p:nvSpPr>
        <p:spPr>
          <a:xfrm>
            <a:off x="11185855" y="6446520"/>
            <a:ext cx="822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17976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1807</Words>
  <Application>Microsoft Office PowerPoint</Application>
  <DocSecurity>0</DocSecurity>
  <PresentationFormat>Widescreen</PresentationFormat>
  <Paragraphs>238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Sigdel ANUSKAR</cp:lastModifiedBy>
  <cp:revision>1</cp:revision>
  <dcterms:created xsi:type="dcterms:W3CDTF">2026-08-25T08:34:06Z</dcterms:created>
  <dcterms:modified xsi:type="dcterms:W3CDTF">2026-08-25T08:51:22Z</dcterms:modified>
</cp:coreProperties>
</file>